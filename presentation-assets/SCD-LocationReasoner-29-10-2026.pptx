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 id="2147483680" r:id="rId2"/>
  </p:sldMasterIdLst>
  <p:notesMasterIdLst>
    <p:notesMasterId r:id="rId34"/>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19"/>
    <p:sldId id="271" r:id="rId18"/>
    <p:sldId id="272" r:id="rId17"/>
    <p:sldId id="273" r:id="rId16"/>
    <p:sldId id="274" r:id="rId15"/>
    <p:sldId id="275" r:id="rId14"/>
  </p:sldIdLst>
  <p:sldSz cx="18288000" cy="10287000"/>
  <p:notesSz cx="6858000" cy="9144000"/>
  <p:embeddedFontLst>
    <p:embeddedFont>
      <p:font typeface="Instrument Sans" panose="020B0604020202020204" charset="0"/>
      <p:regular r:id="rId35"/>
      <p:bold r:id="rId36"/>
      <p:italic r:id="rId37"/>
      <p:boldItalic r:id="rId38"/>
    </p:embeddedFont>
    <p:embeddedFont>
      <p:font typeface="Instrument Sans Medium" panose="020B0604020202020204" charset="0"/>
      <p:regular r:id="rId39"/>
      <p:bold r:id="rId40"/>
      <p:italic r:id="rId41"/>
      <p:boldItalic r:id="rId42"/>
    </p:embeddedFont>
    <p:embeddedFont>
      <p:font typeface="Instrument Sans SemiBold" panose="020B060402020202020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80">
          <p15:clr>
            <a:srgbClr val="747775"/>
          </p15:clr>
        </p15:guide>
        <p15:guide id="2" orient="horz" pos="5583">
          <p15:clr>
            <a:srgbClr val="747775"/>
          </p15:clr>
        </p15:guide>
        <p15:guide id="3" pos="57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94660"/>
  </p:normalViewPr>
  <p:slideViewPr>
    <p:cSldViewPr snapToGrid="0">
      <p:cViewPr varScale="1">
        <p:scale>
          <a:sx n="70" d="100"/>
          <a:sy n="70" d="100"/>
        </p:scale>
        <p:origin x="732" y="84"/>
      </p:cViewPr>
      <p:guideLst>
        <p:guide orient="horz" pos="1080"/>
        <p:guide orient="horz" pos="5583"/>
        <p:guide pos="57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14" Type="http://schemas.openxmlformats.org/officeDocument/2006/relationships/slide" Target="slides/slide20.xml"/><Relationship Id="rId15" Type="http://schemas.openxmlformats.org/officeDocument/2006/relationships/slide" Target="slides/slide19.xml"/><Relationship Id="rId16" Type="http://schemas.openxmlformats.org/officeDocument/2006/relationships/slide" Target="slides/slide18.xml"/><Relationship Id="rId17" Type="http://schemas.openxmlformats.org/officeDocument/2006/relationships/slide" Target="slides/slide17.xml"/><Relationship Id="rId18" Type="http://schemas.openxmlformats.org/officeDocument/2006/relationships/slide" Target="slides/slide16.xml"/><Relationship Id="rId19" Type="http://schemas.openxmlformats.org/officeDocument/2006/relationships/slide" Target="slides/slide15.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notesMaster" Target="notesMasters/notesMaster1.xml"/><Relationship Id="rId35" Type="http://schemas.openxmlformats.org/officeDocument/2006/relationships/font" Target="fonts/font1.fntdata"/><Relationship Id="rId36" Type="http://schemas.openxmlformats.org/officeDocument/2006/relationships/font" Target="fonts/font2.fntdata"/><Relationship Id="rId37" Type="http://schemas.openxmlformats.org/officeDocument/2006/relationships/font" Target="fonts/font3.fntdata"/><Relationship Id="rId38" Type="http://schemas.openxmlformats.org/officeDocument/2006/relationships/font" Target="fonts/font4.fntdata"/><Relationship Id="rId39" Type="http://schemas.openxmlformats.org/officeDocument/2006/relationships/font" Target="fonts/font5.fntdata"/><Relationship Id="rId40" Type="http://schemas.openxmlformats.org/officeDocument/2006/relationships/font" Target="fonts/font6.fntdata"/><Relationship Id="rId41" Type="http://schemas.openxmlformats.org/officeDocument/2006/relationships/font" Target="fonts/font7.fntdata"/><Relationship Id="rId42" Type="http://schemas.openxmlformats.org/officeDocument/2006/relationships/font" Target="fonts/font8.fntdata"/><Relationship Id="rId43" Type="http://schemas.openxmlformats.org/officeDocument/2006/relationships/font" Target="fonts/font9.fntdata"/><Relationship Id="rId44" Type="http://schemas.openxmlformats.org/officeDocument/2006/relationships/font" Target="fonts/font10.fntdata"/><Relationship Id="rId45" Type="http://schemas.openxmlformats.org/officeDocument/2006/relationships/font" Target="fonts/font11.fntdata"/><Relationship Id="rId46" Type="http://schemas.openxmlformats.org/officeDocument/2006/relationships/font" Target="fonts/font12.fntdata"/><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GPT-4o (non-reasoning)</c:v>
                </c:pt>
              </c:strCache>
            </c:strRef>
          </c:tx>
          <c:spPr>
            <a:solidFill>
              <a:srgbClr val="2B6DF3"/>
            </a:solidFill>
            <a:ln>
              <a:noFill/>
            </a:ln>
          </c:spPr>
          <c:cat>
            <c:strRef>
              <c:f>Sheet1!$A$2:$A$5</c:f>
              <c:strCache>
                <c:ptCount val="4"/>
                <c:pt idx="0">
                  <c:v>Easy (30)</c:v>
                </c:pt>
                <c:pt idx="1">
                  <c:v>Medium (30)</c:v>
                </c:pt>
                <c:pt idx="2">
                  <c:v>Hard (16)</c:v>
                </c:pt>
                <c:pt idx="3">
                  <c:v>All (76)</c:v>
                </c:pt>
              </c:strCache>
            </c:strRef>
          </c:cat>
          <c:val>
            <c:numRef>
              <c:f>Sheet1!$B$2:$B$5</c:f>
              <c:numCache>
                <c:formatCode>General</c:formatCode>
                <c:ptCount val="4"/>
                <c:pt idx="0">
                  <c:v>100.0</c:v>
                </c:pt>
                <c:pt idx="1">
                  <c:v>100.0</c:v>
                </c:pt>
                <c:pt idx="2">
                  <c:v>37.5</c:v>
                </c:pt>
                <c:pt idx="3">
                  <c:v>86.8</c:v>
                </c:pt>
              </c:numCache>
            </c:numRef>
          </c:val>
        </c:ser>
        <c:ser>
          <c:idx val="1"/>
          <c:order val="1"/>
          <c:tx>
            <c:strRef>
              <c:f>Sheet1!$C$1</c:f>
              <c:strCache>
                <c:ptCount val="1"/>
                <c:pt idx="0">
                  <c:v>o4-mini (reasoning)</c:v>
                </c:pt>
              </c:strCache>
            </c:strRef>
          </c:tx>
          <c:spPr>
            <a:solidFill>
              <a:srgbClr val="F4A259"/>
            </a:solidFill>
            <a:ln>
              <a:noFill/>
            </a:ln>
          </c:spPr>
          <c:cat>
            <c:strRef>
              <c:f>Sheet1!$A$2:$A$5</c:f>
              <c:strCache>
                <c:ptCount val="4"/>
                <c:pt idx="0">
                  <c:v>Easy (30)</c:v>
                </c:pt>
                <c:pt idx="1">
                  <c:v>Medium (30)</c:v>
                </c:pt>
                <c:pt idx="2">
                  <c:v>Hard (16)</c:v>
                </c:pt>
                <c:pt idx="3">
                  <c:v>All (76)</c:v>
                </c:pt>
              </c:strCache>
            </c:strRef>
          </c:cat>
          <c:val>
            <c:numRef>
              <c:f>Sheet1!$C$2:$C$5</c:f>
              <c:numCache>
                <c:formatCode>General</c:formatCode>
                <c:ptCount val="4"/>
                <c:pt idx="0">
                  <c:v>96.7</c:v>
                </c:pt>
                <c:pt idx="1">
                  <c:v>73.3</c:v>
                </c:pt>
                <c:pt idx="2">
                  <c:v>31.3</c:v>
                </c:pt>
                <c:pt idx="3">
                  <c:v>73.7</c:v>
                </c:pt>
              </c:numCache>
            </c:numRef>
          </c:val>
        </c:ser>
        <c:dLbls>
          <c:numFmt formatCode="0&quot;%&quot;" sourceLinked="0"/>
          <c:txPr>
            <a:bodyPr/>
            <a:lstStyle/>
            <a:p>
              <a:pPr>
                <a:defRPr sz="1600" b="1">
                  <a:solidFill>
                    <a:srgbClr val="0D1117"/>
                  </a:solidFill>
                </a:defRPr>
              </a:pPr>
            </a:p>
          </c:txPr>
          <c:dLblPos val="outEnd"/>
          <c:showLegendKey val="0"/>
          <c:showVal val="1"/>
          <c:showCatName val="0"/>
          <c:showSerName val="0"/>
          <c:showPercent val="0"/>
          <c:showBubbleSize val="0"/>
          <c:showLeaderLines val="1"/>
        </c:dLbls>
        <c:gapWidth val="70"/>
        <c:overlap val="-12"/>
        <c:axId val="-2068027336"/>
        <c:axId val="-2113994440"/>
      </c:barChart>
      <c:catAx>
        <c:axId val="-2068027336"/>
        <c:scaling>
          <c:orientation val="minMax"/>
        </c:scaling>
        <c:delete val="0"/>
        <c:axPos val="b"/>
        <c:majorTickMark val="out"/>
        <c:minorTickMark val="none"/>
        <c:tickLblPos val="nextTo"/>
        <c:spPr>
          <a:ln>
            <a:solidFill>
              <a:srgbClr val="D9DEE7"/>
            </a:solidFill>
          </a:ln>
        </c:spPr>
        <c:txPr>
          <a:bodyPr/>
          <a:lstStyle/>
          <a:p>
            <a:pPr>
              <a:defRPr sz="1800">
                <a:solidFill>
                  <a:srgbClr val="0D1117"/>
                </a:solidFill>
              </a:defRPr>
            </a:pPr>
          </a:p>
        </c:txPr>
        <c:crossAx val="-2113994440"/>
        <c:crosses val="autoZero"/>
        <c:auto val="1"/>
        <c:lblAlgn val="ctr"/>
        <c:lblOffset val="100"/>
        <c:noMultiLvlLbl val="0"/>
      </c:catAx>
      <c:valAx>
        <c:axId val="-2113994440"/>
        <c:scaling>
          <c:max val="110.0"/>
          <c:min val="0.0"/>
        </c:scaling>
        <c:delete val="0"/>
        <c:axPos val="l"/>
        <c:majorGridlines>
          <c:spPr>
            <a:ln w="9525">
              <a:solidFill>
                <a:srgbClr val="E6E9EF"/>
              </a:solidFill>
            </a:ln>
          </c:spPr>
        </c:majorGridlines>
        <c:numFmt formatCode="0&quot;%&quot;" sourceLinked="0"/>
        <c:majorTickMark val="out"/>
        <c:minorTickMark val="none"/>
        <c:tickLblPos val="nextTo"/>
        <c:spPr>
          <a:ln>
            <a:noFill/>
          </a:ln>
        </c:spPr>
        <c:txPr>
          <a:bodyPr/>
          <a:lstStyle/>
          <a:p>
            <a:pPr>
              <a:defRPr sz="1400">
                <a:solidFill>
                  <a:srgbClr val="5B6470"/>
                </a:solidFill>
              </a:defRPr>
            </a:pPr>
          </a:p>
        </c:txPr>
        <c:crossAx val="-2068027336"/>
        <c:crosses val="autoZero"/>
        <c:majorUnit val="25.0"/>
      </c:valAx>
    </c:plotArea>
    <c:legend>
      <c:legendPos val="t"/>
      <c:overlay val="0"/>
      <c:txPr>
        <a:bodyPr/>
        <a:lstStyle/>
        <a:p>
          <a:pPr>
            <a:defRPr sz="1600">
              <a:solidFill>
                <a:srgbClr val="0D1117"/>
              </a:solidFill>
            </a:defRPr>
          </a:pPr>
        </a:p>
      </c:txPr>
    </c:legend>
    <c:dispBlanksAs val="gap"/>
  </c:chart>
  <c:txPr>
    <a:bodyPr/>
    <a:lstStyle/>
    <a:p>
      <a:pPr>
        <a:defRPr sz="1600">
          <a:solidFill>
            <a:srgbClr val="5B6470"/>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Single-shot (direct)</c:v>
                </c:pt>
              </c:strCache>
            </c:strRef>
          </c:tx>
          <c:spPr>
            <a:solidFill>
              <a:srgbClr val="1D9A6C"/>
            </a:solidFill>
            <a:ln>
              <a:noFill/>
            </a:ln>
          </c:spPr>
          <c:cat>
            <c:strRef>
              <c:f>Sheet1!$A$2:$A$3</c:f>
              <c:strCache>
                <c:ptCount val="2"/>
                <c:pt idx="0">
                  <c:v>GPT-4o</c:v>
                </c:pt>
                <c:pt idx="1">
                  <c:v>GPT-4o-mini</c:v>
                </c:pt>
              </c:strCache>
            </c:strRef>
          </c:cat>
          <c:val>
            <c:numRef>
              <c:f>Sheet1!$B$2:$B$3</c:f>
              <c:numCache>
                <c:formatCode>General</c:formatCode>
                <c:ptCount val="2"/>
                <c:pt idx="0">
                  <c:v>1.0</c:v>
                </c:pt>
                <c:pt idx="1">
                  <c:v>1.0</c:v>
                </c:pt>
              </c:numCache>
            </c:numRef>
          </c:val>
        </c:ser>
        <c:ser>
          <c:idx val="1"/>
          <c:order val="1"/>
          <c:tx>
            <c:strRef>
              <c:f>Sheet1!$C$1</c:f>
              <c:strCache>
                <c:ptCount val="1"/>
                <c:pt idx="0">
                  <c:v>ReAct</c:v>
                </c:pt>
              </c:strCache>
            </c:strRef>
          </c:tx>
          <c:spPr>
            <a:solidFill>
              <a:srgbClr val="F4A259"/>
            </a:solidFill>
            <a:ln>
              <a:noFill/>
            </a:ln>
          </c:spPr>
          <c:cat>
            <c:strRef>
              <c:f>Sheet1!$A$2:$A$3</c:f>
              <c:strCache>
                <c:ptCount val="2"/>
                <c:pt idx="0">
                  <c:v>GPT-4o</c:v>
                </c:pt>
                <c:pt idx="1">
                  <c:v>GPT-4o-mini</c:v>
                </c:pt>
              </c:strCache>
            </c:strRef>
          </c:cat>
          <c:val>
            <c:numRef>
              <c:f>Sheet1!$C$2:$C$3</c:f>
              <c:numCache>
                <c:formatCode>General</c:formatCode>
                <c:ptCount val="2"/>
                <c:pt idx="0">
                  <c:v>0.67</c:v>
                </c:pt>
                <c:pt idx="1">
                  <c:v>0.44</c:v>
                </c:pt>
              </c:numCache>
            </c:numRef>
          </c:val>
        </c:ser>
        <c:ser>
          <c:idx val="2"/>
          <c:order val="2"/>
          <c:tx>
            <c:strRef>
              <c:f>Sheet1!$D$1</c:f>
              <c:strCache>
                <c:ptCount val="1"/>
                <c:pt idx="0">
                  <c:v>Reflexion</c:v>
                </c:pt>
              </c:strCache>
            </c:strRef>
          </c:tx>
          <c:spPr>
            <a:solidFill>
              <a:srgbClr val="7C5CFF"/>
            </a:solidFill>
            <a:ln>
              <a:noFill/>
            </a:ln>
          </c:spPr>
          <c:cat>
            <c:strRef>
              <c:f>Sheet1!$A$2:$A$3</c:f>
              <c:strCache>
                <c:ptCount val="2"/>
                <c:pt idx="0">
                  <c:v>GPT-4o</c:v>
                </c:pt>
                <c:pt idx="1">
                  <c:v>GPT-4o-mini</c:v>
                </c:pt>
              </c:strCache>
            </c:strRef>
          </c:cat>
          <c:val>
            <c:numRef>
              <c:f>Sheet1!$D$2:$D$3</c:f>
              <c:numCache>
                <c:formatCode>General</c:formatCode>
                <c:ptCount val="2"/>
                <c:pt idx="0">
                  <c:v>0.88</c:v>
                </c:pt>
                <c:pt idx="1">
                  <c:v>0.49</c:v>
                </c:pt>
              </c:numCache>
            </c:numRef>
          </c:val>
        </c:ser>
        <c:dLbls>
          <c:numFmt formatCode="0.00" sourceLinked="0"/>
          <c:txPr>
            <a:bodyPr/>
            <a:lstStyle/>
            <a:p>
              <a:pPr>
                <a:defRPr sz="1600" b="1">
                  <a:solidFill>
                    <a:srgbClr val="0D1117"/>
                  </a:solidFill>
                </a:defRPr>
              </a:pPr>
            </a:p>
          </c:txPr>
          <c:dLblPos val="outEnd"/>
          <c:showLegendKey val="0"/>
          <c:showVal val="1"/>
          <c:showCatName val="0"/>
          <c:showSerName val="0"/>
          <c:showPercent val="0"/>
          <c:showBubbleSize val="0"/>
          <c:showLeaderLines val="1"/>
        </c:dLbls>
        <c:gapWidth val="70"/>
        <c:overlap val="-12"/>
        <c:axId val="-2068027336"/>
        <c:axId val="-2113994440"/>
      </c:barChart>
      <c:catAx>
        <c:axId val="-2068027336"/>
        <c:scaling>
          <c:orientation val="minMax"/>
        </c:scaling>
        <c:delete val="0"/>
        <c:axPos val="b"/>
        <c:majorTickMark val="out"/>
        <c:minorTickMark val="none"/>
        <c:tickLblPos val="nextTo"/>
        <c:spPr>
          <a:ln>
            <a:solidFill>
              <a:srgbClr val="D9DEE7"/>
            </a:solidFill>
          </a:ln>
        </c:spPr>
        <c:txPr>
          <a:bodyPr/>
          <a:lstStyle/>
          <a:p>
            <a:pPr>
              <a:defRPr sz="1800">
                <a:solidFill>
                  <a:srgbClr val="0D1117"/>
                </a:solidFill>
              </a:defRPr>
            </a:pPr>
          </a:p>
        </c:txPr>
        <c:crossAx val="-2113994440"/>
        <c:crosses val="autoZero"/>
        <c:auto val="1"/>
        <c:lblAlgn val="ctr"/>
        <c:lblOffset val="100"/>
        <c:noMultiLvlLbl val="0"/>
      </c:catAx>
      <c:valAx>
        <c:axId val="-2113994440"/>
        <c:scaling>
          <c:max val="1.15"/>
          <c:min val="0.0"/>
        </c:scaling>
        <c:delete val="0"/>
        <c:axPos val="l"/>
        <c:majorGridlines>
          <c:spPr>
            <a:ln w="9525">
              <a:solidFill>
                <a:srgbClr val="E6E9EF"/>
              </a:solidFill>
            </a:ln>
          </c:spPr>
        </c:majorGridlines>
        <c:numFmt formatCode="0.00" sourceLinked="0"/>
        <c:majorTickMark val="out"/>
        <c:minorTickMark val="none"/>
        <c:tickLblPos val="nextTo"/>
        <c:spPr>
          <a:ln>
            <a:noFill/>
          </a:ln>
        </c:spPr>
        <c:txPr>
          <a:bodyPr/>
          <a:lstStyle/>
          <a:p>
            <a:pPr>
              <a:defRPr sz="1400">
                <a:solidFill>
                  <a:srgbClr val="5B6470"/>
                </a:solidFill>
              </a:defRPr>
            </a:pPr>
          </a:p>
        </c:txPr>
        <c:crossAx val="-2068027336"/>
        <c:crosses val="autoZero"/>
        <c:majorUnit val="0.25"/>
      </c:valAx>
    </c:plotArea>
    <c:legend>
      <c:legendPos val="t"/>
      <c:overlay val="0"/>
      <c:txPr>
        <a:bodyPr/>
        <a:lstStyle/>
        <a:p>
          <a:pPr>
            <a:defRPr sz="1600">
              <a:solidFill>
                <a:srgbClr val="0D1117"/>
              </a:solidFill>
            </a:defRPr>
          </a:pPr>
        </a:p>
      </c:txPr>
    </c:legend>
    <c:dispBlanksAs val="gap"/>
  </c:chart>
  <c:txPr>
    <a:bodyPr/>
    <a:lstStyle/>
    <a:p>
      <a:pPr>
        <a:defRPr sz="1600">
          <a:solidFill>
            <a:srgbClr val="5B6470"/>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Single-shot (direct)</c:v>
                </c:pt>
              </c:strCache>
            </c:strRef>
          </c:tx>
          <c:spPr>
            <a:solidFill>
              <a:srgbClr val="1D9A6C"/>
            </a:solidFill>
            <a:ln>
              <a:noFill/>
            </a:ln>
          </c:spPr>
          <c:cat>
            <c:strRef>
              <c:f>Sheet1!$A$2:$A$3</c:f>
              <c:strCache>
                <c:ptCount val="2"/>
                <c:pt idx="0">
                  <c:v>GPT-4o</c:v>
                </c:pt>
                <c:pt idx="1">
                  <c:v>GPT-4o-mini</c:v>
                </c:pt>
              </c:strCache>
            </c:strRef>
          </c:cat>
          <c:val>
            <c:numRef>
              <c:f>Sheet1!$B$2:$B$3</c:f>
              <c:numCache>
                <c:formatCode>General</c:formatCode>
                <c:ptCount val="2"/>
                <c:pt idx="0">
                  <c:v>1.6</c:v>
                </c:pt>
                <c:pt idx="1">
                  <c:v>2.3</c:v>
                </c:pt>
              </c:numCache>
            </c:numRef>
          </c:val>
        </c:ser>
        <c:ser>
          <c:idx val="1"/>
          <c:order val="1"/>
          <c:tx>
            <c:strRef>
              <c:f>Sheet1!$C$1</c:f>
              <c:strCache>
                <c:ptCount val="1"/>
                <c:pt idx="0">
                  <c:v>ReAct</c:v>
                </c:pt>
              </c:strCache>
            </c:strRef>
          </c:tx>
          <c:spPr>
            <a:solidFill>
              <a:srgbClr val="F4A259"/>
            </a:solidFill>
            <a:ln>
              <a:noFill/>
            </a:ln>
          </c:spPr>
          <c:cat>
            <c:strRef>
              <c:f>Sheet1!$A$2:$A$3</c:f>
              <c:strCache>
                <c:ptCount val="2"/>
                <c:pt idx="0">
                  <c:v>GPT-4o</c:v>
                </c:pt>
                <c:pt idx="1">
                  <c:v>GPT-4o-mini</c:v>
                </c:pt>
              </c:strCache>
            </c:strRef>
          </c:cat>
          <c:val>
            <c:numRef>
              <c:f>Sheet1!$C$2:$C$3</c:f>
              <c:numCache>
                <c:formatCode>General</c:formatCode>
                <c:ptCount val="2"/>
                <c:pt idx="0">
                  <c:v>34.6</c:v>
                </c:pt>
                <c:pt idx="1">
                  <c:v>92.0</c:v>
                </c:pt>
              </c:numCache>
            </c:numRef>
          </c:val>
        </c:ser>
        <c:ser>
          <c:idx val="2"/>
          <c:order val="2"/>
          <c:tx>
            <c:strRef>
              <c:f>Sheet1!$D$1</c:f>
              <c:strCache>
                <c:ptCount val="1"/>
                <c:pt idx="0">
                  <c:v>Reflexion</c:v>
                </c:pt>
              </c:strCache>
            </c:strRef>
          </c:tx>
          <c:spPr>
            <a:solidFill>
              <a:srgbClr val="7C5CFF"/>
            </a:solidFill>
            <a:ln>
              <a:noFill/>
            </a:ln>
          </c:spPr>
          <c:cat>
            <c:strRef>
              <c:f>Sheet1!$A$2:$A$3</c:f>
              <c:strCache>
                <c:ptCount val="2"/>
                <c:pt idx="0">
                  <c:v>GPT-4o</c:v>
                </c:pt>
                <c:pt idx="1">
                  <c:v>GPT-4o-mini</c:v>
                </c:pt>
              </c:strCache>
            </c:strRef>
          </c:cat>
          <c:val>
            <c:numRef>
              <c:f>Sheet1!$D$2:$D$3</c:f>
              <c:numCache>
                <c:formatCode>General</c:formatCode>
                <c:ptCount val="2"/>
                <c:pt idx="0">
                  <c:v>31.8</c:v>
                </c:pt>
                <c:pt idx="1">
                  <c:v>153.9</c:v>
                </c:pt>
              </c:numCache>
            </c:numRef>
          </c:val>
        </c:ser>
        <c:dLbls>
          <c:numFmt formatCode="0.0" sourceLinked="0"/>
          <c:txPr>
            <a:bodyPr/>
            <a:lstStyle/>
            <a:p>
              <a:pPr>
                <a:defRPr sz="1600" b="1">
                  <a:solidFill>
                    <a:srgbClr val="0D1117"/>
                  </a:solidFill>
                </a:defRPr>
              </a:pPr>
            </a:p>
          </c:txPr>
          <c:dLblPos val="outEnd"/>
          <c:showLegendKey val="0"/>
          <c:showVal val="1"/>
          <c:showCatName val="0"/>
          <c:showSerName val="0"/>
          <c:showPercent val="0"/>
          <c:showBubbleSize val="0"/>
          <c:showLeaderLines val="1"/>
        </c:dLbls>
        <c:gapWidth val="70"/>
        <c:overlap val="-12"/>
        <c:axId val="-2068027336"/>
        <c:axId val="-2113994440"/>
      </c:barChart>
      <c:catAx>
        <c:axId val="-2068027336"/>
        <c:scaling>
          <c:orientation val="minMax"/>
        </c:scaling>
        <c:delete val="0"/>
        <c:axPos val="b"/>
        <c:majorTickMark val="out"/>
        <c:minorTickMark val="none"/>
        <c:tickLblPos val="nextTo"/>
        <c:spPr>
          <a:ln>
            <a:solidFill>
              <a:srgbClr val="D9DEE7"/>
            </a:solidFill>
          </a:ln>
        </c:spPr>
        <c:txPr>
          <a:bodyPr/>
          <a:lstStyle/>
          <a:p>
            <a:pPr>
              <a:defRPr sz="1800">
                <a:solidFill>
                  <a:srgbClr val="0D1117"/>
                </a:solidFill>
              </a:defRPr>
            </a:pPr>
          </a:p>
        </c:txPr>
        <c:crossAx val="-2113994440"/>
        <c:crosses val="autoZero"/>
        <c:auto val="1"/>
        <c:lblAlgn val="ctr"/>
        <c:lblOffset val="100"/>
        <c:noMultiLvlLbl val="0"/>
      </c:catAx>
      <c:valAx>
        <c:axId val="-2113994440"/>
        <c:scaling>
          <c:max val="175.0"/>
          <c:min val="0.0"/>
        </c:scaling>
        <c:delete val="0"/>
        <c:axPos val="l"/>
        <c:majorGridlines>
          <c:spPr>
            <a:ln w="9525">
              <a:solidFill>
                <a:srgbClr val="E6E9EF"/>
              </a:solidFill>
            </a:ln>
          </c:spPr>
        </c:majorGridlines>
        <c:numFmt formatCode="0" sourceLinked="0"/>
        <c:majorTickMark val="out"/>
        <c:minorTickMark val="none"/>
        <c:tickLblPos val="nextTo"/>
        <c:spPr>
          <a:ln>
            <a:noFill/>
          </a:ln>
        </c:spPr>
        <c:txPr>
          <a:bodyPr/>
          <a:lstStyle/>
          <a:p>
            <a:pPr>
              <a:defRPr sz="1400">
                <a:solidFill>
                  <a:srgbClr val="5B6470"/>
                </a:solidFill>
              </a:defRPr>
            </a:pPr>
          </a:p>
        </c:txPr>
        <c:crossAx val="-2068027336"/>
        <c:crosses val="autoZero"/>
        <c:majorUnit val="50.0"/>
      </c:valAx>
    </c:plotArea>
    <c:legend>
      <c:legendPos val="t"/>
      <c:overlay val="0"/>
      <c:txPr>
        <a:bodyPr/>
        <a:lstStyle/>
        <a:p>
          <a:pPr>
            <a:defRPr sz="1600">
              <a:solidFill>
                <a:srgbClr val="0D1117"/>
              </a:solidFill>
            </a:defRPr>
          </a:pPr>
        </a:p>
      </c:txPr>
    </c:legend>
    <c:dispBlanksAs val="gap"/>
  </c:chart>
  <c:txPr>
    <a:bodyPr/>
    <a:lstStyle/>
    <a:p>
      <a:pPr>
        <a:defRPr sz="1600">
          <a:solidFill>
            <a:srgbClr val="5B6470"/>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LocationReasoner: where we started (a research benchmark), what we learned, and the decision-support platform we built from it.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halves to the story: (1) can LLMs reason about real locations at all, measured against ground truth; (2) how do we turn that into something a planner or business owner would actually use.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Headline numbers. 382 = 306 Boston prompts (original benchmark) + 76 scored Abu Dhabi prompts. 87% = 66/76 exact set matches for GPT-4o single-shot. Speed-up = 1.6 s vs 32-35 s (GPT-4o) and 2.3 s vs 92-154 s (GPT-4o-mini).</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End-to-end pipeline. The LLM is used for (a) understanding the request and (b) ranking/explaining. Correctness comes from the deterministic rules engine over a per-city feature table. The LLM solver (direct code generation, ReAct, or Reflexion) is what we benchmark: its zone set is compared with the rules engine's on every query (precision/recall/F1). Both cities use H3 resolution-8 hexagons.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First: the research question, measured.</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Boston numbers are the original LocationReasoner query bank (306 prompts across 51 query categories). Abu Dhabi has 80 prompts written for OSM data; 76 have scored results (16 of 20 hard). Each prompt is also stored as a JSON spec, which the rules engine evaluates to produce the ground truth.</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From the Abu Dhabi runs (gpt-4o vs o4-mini, same prompts, single-shot). GPT-4o either gets a query exactly right or returns nothing useful. o4-mini produces more 'partial' answers - it tends to over-include zones (micro precision 0.43, recall 0.92). Matches the original LocationReasoner finding in Boston: reasoning models offered limited gains over non-reasoning predecessors.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GPT-4o: direct F1 1.00 in 1.6 s; ReAct 0.67 in 34.6 s; Reflexion 0.88 in 31.8 s. GPT-4o-mini: direct 1.00 in 2.3 s; ReAct 0.44 in 92 s; Reflexion 0.49 in 154 s. Completion rates were 87-100%. Agent failures were mostly partial zone sets (low recall) - they stop early or filter on the wrong column before recovering.</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bridge between the research and the product. We don't need an agent's trace to be interpretable: we get explanations from a separate ranking/explanation step that runs after the fast, accurate solver, and we keep agent traces available in the ML view for technical users.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Second half: what we built on top of the benchmark.</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Prompt: 'I am an urban designer that cares for areas with greenery. Find me zones within 800 meters of a mall, with at least 2 pharmacies.' 21 zones satisfy the hard constraints; they are then re-ranked by greenery. Map style matches the Dubai route demo: dark basemap, 50%-opacity 3D buildings, translucent result columns.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Left: Abu Dhabi, ranked by accessibility for public-transport users. Right: Boston, 'I care about accessibility by public transit. Find zones with at least 3 restaurants and at least 1 grocery store' (64 matching zones, top zones cite bus stops and subway entrances). Same code, different city config.</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real runs with identical hard constraints and an identical camera. The rules engine returns the same 21 zones; the context-ranking step scores them 0-100 on the stated priority using the zones' amenity data (parks, landmarks, bus stops) plus general knowledge, and writes a reason per zone. Zone B is #2 for greenery, #1 for public transport. Top-5 lists overlap by only 3-4 zones. Reasons are the model's own text, lightly shortened to fit.</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Works on every zone, matched or not. Address and weather come from free, keyless public APIs and fail gracefully. The reason text is the same LLM explanation shown in the ranking list.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Prompt: 'Find zones with at least 5 malls within 200 meters, at least 5 parks, and no coffee shops.' Instead of an empty map, every zone gets a continuous score; the closest 30 are shown, coloured by score. Clicking one shows which clauses pass/fail and the LLM's trade-off explanation.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ML view is the same app with the internals switched on: data check, spec verification, step-by-step ground-truth filtering vs. the LLM's filtering, and P/R/F1. In 3D, true positives are green columns, false positives red, false negatives slate.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Today the app ships the two ends of this spectrum as a single toggle (Consumer / ML). The middle - an analytical experience for planners - is designed (UX exploration by Stefano Patiti) and is the next build: editable criteria, visible datasets, environmental layers, saved analyses and export.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Next steps carried over from the June update (relaxation, ranking benchmark) plus the design study's environmental layers. The regulatory example comes from the Abu Dhabi F&amp;B matrix: land-use rules, spatial buffers, parking generation and kitchen engineering requirements could become constraints in the same spec language.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Suggested prompts:</a:t>
            </a:r>
          </a:p>
          <a:p>
            <a:r>
              <a:t>1) Abu Dhabi: 'I am an urban designer that cares for areas with greenery. Find me zones within 800 meters of a mall, with at least 2 pharmacies.' -&gt; click the #1 zone.</a:t>
            </a:r>
          </a:p>
          <a:p>
            <a:r>
              <a:t>2) Abu Dhabi: 'Find zones with at least 5 malls within 200 meters, at least 5 parks, and no coffee shops.' -&gt; no exact match, click the top near-miss.</a:t>
            </a:r>
          </a:p>
          <a:p>
            <a:r>
              <a:t>3) Toggle ML view to show ground truth vs LLM and P/R/F1.</a:t>
            </a:r>
          </a:p>
          <a:p>
            <a:r>
              <a:t>4) Boston: 'I care about accessibility by public transit. Find zones with at least 3 restaurants and at least 1 grocery store.'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Page">
  <p:cSld name="TITLE_2_1">
    <p:bg>
      <p:bgPr>
        <a:solidFill>
          <a:schemeClr val="dk1"/>
        </a:solidFill>
        <a:effectLst/>
      </p:bgPr>
    </p:bg>
    <p:spTree>
      <p:nvGrpSpPr>
        <p:cNvPr id="1" name="Shape 10"/>
        <p:cNvGrpSpPr/>
        <p:nvPr/>
      </p:nvGrpSpPr>
      <p:grpSpPr>
        <a:xfrm>
          <a:off x="0" y="0"/>
          <a:ext cx="0" cy="0"/>
          <a:chOff x="0" y="0"/>
          <a:chExt cx="0" cy="0"/>
        </a:xfrm>
      </p:grpSpPr>
      <p:sp>
        <p:nvSpPr>
          <p:cNvPr id="11" name="Google Shape;11;p3"/>
          <p:cNvSpPr txBox="1">
            <a:spLocks noGrp="1"/>
          </p:cNvSpPr>
          <p:nvPr>
            <p:ph type="ctrTitle"/>
          </p:nvPr>
        </p:nvSpPr>
        <p:spPr>
          <a:xfrm>
            <a:off x="914400" y="4470475"/>
            <a:ext cx="7496100" cy="1692300"/>
          </a:xfrm>
          <a:prstGeom prst="rect">
            <a:avLst/>
          </a:prstGeom>
        </p:spPr>
        <p:txBody>
          <a:bodyPr spcFirstLastPara="1" wrap="square" lIns="0" tIns="0" rIns="0" bIns="0" anchor="t" anchorCtr="0">
            <a:spAutoFit/>
          </a:bodyPr>
          <a:lstStyle>
            <a:lvl1pPr lvl="0" rtl="0">
              <a:lnSpc>
                <a:spcPct val="90000"/>
              </a:lnSpc>
              <a:spcBef>
                <a:spcPts val="0"/>
              </a:spcBef>
              <a:spcAft>
                <a:spcPts val="0"/>
              </a:spcAft>
              <a:buClr>
                <a:schemeClr val="lt1"/>
              </a:buClr>
              <a:buSzPts val="6000"/>
              <a:buFont typeface="Instrument Sans SemiBold"/>
              <a:buNone/>
              <a:defRPr sz="6000" b="0">
                <a:solidFill>
                  <a:schemeClr val="lt1"/>
                </a:solidFill>
                <a:latin typeface="Instrument Sans SemiBold"/>
                <a:ea typeface="Instrument Sans SemiBold"/>
                <a:cs typeface="Instrument Sans SemiBold"/>
                <a:sym typeface="Instrument Sans SemiBold"/>
              </a:defRPr>
            </a:lvl1pPr>
            <a:lvl2pPr lvl="1" rtl="0">
              <a:lnSpc>
                <a:spcPct val="90000"/>
              </a:lnSpc>
              <a:spcBef>
                <a:spcPts val="0"/>
              </a:spcBef>
              <a:spcAft>
                <a:spcPts val="0"/>
              </a:spcAft>
              <a:buClr>
                <a:schemeClr val="lt1"/>
              </a:buClr>
              <a:buSzPts val="6000"/>
              <a:buFont typeface="Instrument Sans SemiBold"/>
              <a:buNone/>
              <a:defRPr sz="6000" b="0">
                <a:solidFill>
                  <a:schemeClr val="lt1"/>
                </a:solidFill>
                <a:latin typeface="Instrument Sans SemiBold"/>
                <a:ea typeface="Instrument Sans SemiBold"/>
                <a:cs typeface="Instrument Sans SemiBold"/>
                <a:sym typeface="Instrument Sans SemiBold"/>
              </a:defRPr>
            </a:lvl2pPr>
            <a:lvl3pPr lvl="2" rtl="0">
              <a:lnSpc>
                <a:spcPct val="90000"/>
              </a:lnSpc>
              <a:spcBef>
                <a:spcPts val="0"/>
              </a:spcBef>
              <a:spcAft>
                <a:spcPts val="0"/>
              </a:spcAft>
              <a:buClr>
                <a:schemeClr val="lt1"/>
              </a:buClr>
              <a:buSzPts val="6000"/>
              <a:buFont typeface="Instrument Sans SemiBold"/>
              <a:buNone/>
              <a:defRPr sz="6000" b="0">
                <a:solidFill>
                  <a:schemeClr val="lt1"/>
                </a:solidFill>
                <a:latin typeface="Instrument Sans SemiBold"/>
                <a:ea typeface="Instrument Sans SemiBold"/>
                <a:cs typeface="Instrument Sans SemiBold"/>
                <a:sym typeface="Instrument Sans SemiBold"/>
              </a:defRPr>
            </a:lvl3pPr>
            <a:lvl4pPr lvl="3" rtl="0">
              <a:lnSpc>
                <a:spcPct val="90000"/>
              </a:lnSpc>
              <a:spcBef>
                <a:spcPts val="0"/>
              </a:spcBef>
              <a:spcAft>
                <a:spcPts val="0"/>
              </a:spcAft>
              <a:buClr>
                <a:schemeClr val="lt1"/>
              </a:buClr>
              <a:buSzPts val="6000"/>
              <a:buFont typeface="Instrument Sans SemiBold"/>
              <a:buNone/>
              <a:defRPr sz="6000" b="0">
                <a:solidFill>
                  <a:schemeClr val="lt1"/>
                </a:solidFill>
                <a:latin typeface="Instrument Sans SemiBold"/>
                <a:ea typeface="Instrument Sans SemiBold"/>
                <a:cs typeface="Instrument Sans SemiBold"/>
                <a:sym typeface="Instrument Sans SemiBold"/>
              </a:defRPr>
            </a:lvl4pPr>
            <a:lvl5pPr lvl="4" rtl="0">
              <a:lnSpc>
                <a:spcPct val="90000"/>
              </a:lnSpc>
              <a:spcBef>
                <a:spcPts val="0"/>
              </a:spcBef>
              <a:spcAft>
                <a:spcPts val="0"/>
              </a:spcAft>
              <a:buClr>
                <a:schemeClr val="lt1"/>
              </a:buClr>
              <a:buSzPts val="6000"/>
              <a:buFont typeface="Instrument Sans SemiBold"/>
              <a:buNone/>
              <a:defRPr sz="6000" b="0">
                <a:solidFill>
                  <a:schemeClr val="lt1"/>
                </a:solidFill>
                <a:latin typeface="Instrument Sans SemiBold"/>
                <a:ea typeface="Instrument Sans SemiBold"/>
                <a:cs typeface="Instrument Sans SemiBold"/>
                <a:sym typeface="Instrument Sans SemiBold"/>
              </a:defRPr>
            </a:lvl5pPr>
            <a:lvl6pPr lvl="5" rtl="0">
              <a:lnSpc>
                <a:spcPct val="90000"/>
              </a:lnSpc>
              <a:spcBef>
                <a:spcPts val="0"/>
              </a:spcBef>
              <a:spcAft>
                <a:spcPts val="0"/>
              </a:spcAft>
              <a:buClr>
                <a:schemeClr val="lt1"/>
              </a:buClr>
              <a:buSzPts val="6000"/>
              <a:buFont typeface="Instrument Sans SemiBold"/>
              <a:buNone/>
              <a:defRPr sz="6000" b="0">
                <a:solidFill>
                  <a:schemeClr val="lt1"/>
                </a:solidFill>
                <a:latin typeface="Instrument Sans SemiBold"/>
                <a:ea typeface="Instrument Sans SemiBold"/>
                <a:cs typeface="Instrument Sans SemiBold"/>
                <a:sym typeface="Instrument Sans SemiBold"/>
              </a:defRPr>
            </a:lvl6pPr>
            <a:lvl7pPr lvl="6" rtl="0">
              <a:lnSpc>
                <a:spcPct val="90000"/>
              </a:lnSpc>
              <a:spcBef>
                <a:spcPts val="0"/>
              </a:spcBef>
              <a:spcAft>
                <a:spcPts val="0"/>
              </a:spcAft>
              <a:buClr>
                <a:schemeClr val="lt1"/>
              </a:buClr>
              <a:buSzPts val="6000"/>
              <a:buFont typeface="Instrument Sans SemiBold"/>
              <a:buNone/>
              <a:defRPr sz="6000" b="0">
                <a:solidFill>
                  <a:schemeClr val="lt1"/>
                </a:solidFill>
                <a:latin typeface="Instrument Sans SemiBold"/>
                <a:ea typeface="Instrument Sans SemiBold"/>
                <a:cs typeface="Instrument Sans SemiBold"/>
                <a:sym typeface="Instrument Sans SemiBold"/>
              </a:defRPr>
            </a:lvl7pPr>
            <a:lvl8pPr lvl="7" rtl="0">
              <a:lnSpc>
                <a:spcPct val="90000"/>
              </a:lnSpc>
              <a:spcBef>
                <a:spcPts val="0"/>
              </a:spcBef>
              <a:spcAft>
                <a:spcPts val="0"/>
              </a:spcAft>
              <a:buClr>
                <a:schemeClr val="lt1"/>
              </a:buClr>
              <a:buSzPts val="6000"/>
              <a:buFont typeface="Instrument Sans SemiBold"/>
              <a:buNone/>
              <a:defRPr sz="6000" b="0">
                <a:solidFill>
                  <a:schemeClr val="lt1"/>
                </a:solidFill>
                <a:latin typeface="Instrument Sans SemiBold"/>
                <a:ea typeface="Instrument Sans SemiBold"/>
                <a:cs typeface="Instrument Sans SemiBold"/>
                <a:sym typeface="Instrument Sans SemiBold"/>
              </a:defRPr>
            </a:lvl8pPr>
            <a:lvl9pPr lvl="8" rtl="0">
              <a:lnSpc>
                <a:spcPct val="90000"/>
              </a:lnSpc>
              <a:spcBef>
                <a:spcPts val="0"/>
              </a:spcBef>
              <a:spcAft>
                <a:spcPts val="0"/>
              </a:spcAft>
              <a:buClr>
                <a:schemeClr val="lt1"/>
              </a:buClr>
              <a:buSzPts val="6000"/>
              <a:buFont typeface="Instrument Sans SemiBold"/>
              <a:buNone/>
              <a:defRPr sz="6000" b="0">
                <a:solidFill>
                  <a:schemeClr val="lt1"/>
                </a:solidFill>
                <a:latin typeface="Instrument Sans SemiBold"/>
                <a:ea typeface="Instrument Sans SemiBold"/>
                <a:cs typeface="Instrument Sans SemiBold"/>
                <a:sym typeface="Instrument Sans SemiBold"/>
              </a:defRPr>
            </a:lvl9pPr>
          </a:lstStyle>
          <a:p>
            <a:endParaRPr/>
          </a:p>
        </p:txBody>
      </p:sp>
      <p:sp>
        <p:nvSpPr>
          <p:cNvPr id="12" name="Google Shape;12;p3"/>
          <p:cNvSpPr txBox="1">
            <a:spLocks noGrp="1"/>
          </p:cNvSpPr>
          <p:nvPr>
            <p:ph type="subTitle" idx="1"/>
          </p:nvPr>
        </p:nvSpPr>
        <p:spPr>
          <a:xfrm>
            <a:off x="914400" y="6420725"/>
            <a:ext cx="4348500" cy="303900"/>
          </a:xfrm>
          <a:prstGeom prst="rect">
            <a:avLst/>
          </a:prstGeom>
        </p:spPr>
        <p:txBody>
          <a:bodyPr spcFirstLastPara="1" wrap="square" lIns="0" tIns="0" rIns="0" bIns="0" anchor="t" anchorCtr="0">
            <a:spAutoFit/>
          </a:bodyPr>
          <a:lstStyle>
            <a:lvl1pPr lvl="0" rtl="0">
              <a:lnSpc>
                <a:spcPct val="100000"/>
              </a:lnSpc>
              <a:spcBef>
                <a:spcPts val="0"/>
              </a:spcBef>
              <a:spcAft>
                <a:spcPts val="0"/>
              </a:spcAft>
              <a:buClr>
                <a:schemeClr val="lt1"/>
              </a:buClr>
              <a:buSzPts val="2000"/>
              <a:buFont typeface="Instrument Sans SemiBold"/>
              <a:buNone/>
              <a:defRPr sz="2000">
                <a:solidFill>
                  <a:schemeClr val="lt1"/>
                </a:solidFill>
                <a:latin typeface="Instrument Sans SemiBold"/>
                <a:ea typeface="Instrument Sans SemiBold"/>
                <a:cs typeface="Instrument Sans SemiBold"/>
                <a:sym typeface="Instrument Sans SemiBold"/>
              </a:defRPr>
            </a:lvl1pPr>
            <a:lvl2pPr lvl="1" rtl="0">
              <a:lnSpc>
                <a:spcPct val="100000"/>
              </a:lnSpc>
              <a:spcBef>
                <a:spcPts val="0"/>
              </a:spcBef>
              <a:spcAft>
                <a:spcPts val="0"/>
              </a:spcAft>
              <a:buClr>
                <a:schemeClr val="lt1"/>
              </a:buClr>
              <a:buSzPts val="2000"/>
              <a:buFont typeface="Instrument Sans SemiBold"/>
              <a:buNone/>
              <a:defRPr sz="2000">
                <a:solidFill>
                  <a:schemeClr val="lt1"/>
                </a:solidFill>
                <a:latin typeface="Instrument Sans SemiBold"/>
                <a:ea typeface="Instrument Sans SemiBold"/>
                <a:cs typeface="Instrument Sans SemiBold"/>
                <a:sym typeface="Instrument Sans SemiBold"/>
              </a:defRPr>
            </a:lvl2pPr>
            <a:lvl3pPr lvl="2" rtl="0">
              <a:lnSpc>
                <a:spcPct val="100000"/>
              </a:lnSpc>
              <a:spcBef>
                <a:spcPts val="0"/>
              </a:spcBef>
              <a:spcAft>
                <a:spcPts val="0"/>
              </a:spcAft>
              <a:buClr>
                <a:schemeClr val="lt1"/>
              </a:buClr>
              <a:buSzPts val="2000"/>
              <a:buFont typeface="Instrument Sans SemiBold"/>
              <a:buNone/>
              <a:defRPr sz="2000">
                <a:solidFill>
                  <a:schemeClr val="lt1"/>
                </a:solidFill>
                <a:latin typeface="Instrument Sans SemiBold"/>
                <a:ea typeface="Instrument Sans SemiBold"/>
                <a:cs typeface="Instrument Sans SemiBold"/>
                <a:sym typeface="Instrument Sans SemiBold"/>
              </a:defRPr>
            </a:lvl3pPr>
            <a:lvl4pPr lvl="3" rtl="0">
              <a:lnSpc>
                <a:spcPct val="100000"/>
              </a:lnSpc>
              <a:spcBef>
                <a:spcPts val="0"/>
              </a:spcBef>
              <a:spcAft>
                <a:spcPts val="0"/>
              </a:spcAft>
              <a:buClr>
                <a:schemeClr val="lt1"/>
              </a:buClr>
              <a:buSzPts val="2000"/>
              <a:buFont typeface="Instrument Sans SemiBold"/>
              <a:buNone/>
              <a:defRPr sz="2000">
                <a:solidFill>
                  <a:schemeClr val="lt1"/>
                </a:solidFill>
                <a:latin typeface="Instrument Sans SemiBold"/>
                <a:ea typeface="Instrument Sans SemiBold"/>
                <a:cs typeface="Instrument Sans SemiBold"/>
                <a:sym typeface="Instrument Sans SemiBold"/>
              </a:defRPr>
            </a:lvl4pPr>
            <a:lvl5pPr lvl="4" rtl="0">
              <a:lnSpc>
                <a:spcPct val="100000"/>
              </a:lnSpc>
              <a:spcBef>
                <a:spcPts val="0"/>
              </a:spcBef>
              <a:spcAft>
                <a:spcPts val="0"/>
              </a:spcAft>
              <a:buClr>
                <a:schemeClr val="lt1"/>
              </a:buClr>
              <a:buSzPts val="2000"/>
              <a:buFont typeface="Instrument Sans SemiBold"/>
              <a:buNone/>
              <a:defRPr sz="2000">
                <a:solidFill>
                  <a:schemeClr val="lt1"/>
                </a:solidFill>
                <a:latin typeface="Instrument Sans SemiBold"/>
                <a:ea typeface="Instrument Sans SemiBold"/>
                <a:cs typeface="Instrument Sans SemiBold"/>
                <a:sym typeface="Instrument Sans SemiBold"/>
              </a:defRPr>
            </a:lvl5pPr>
            <a:lvl6pPr lvl="5" rtl="0">
              <a:lnSpc>
                <a:spcPct val="100000"/>
              </a:lnSpc>
              <a:spcBef>
                <a:spcPts val="0"/>
              </a:spcBef>
              <a:spcAft>
                <a:spcPts val="0"/>
              </a:spcAft>
              <a:buClr>
                <a:schemeClr val="lt1"/>
              </a:buClr>
              <a:buSzPts val="2000"/>
              <a:buFont typeface="Instrument Sans SemiBold"/>
              <a:buNone/>
              <a:defRPr sz="2000">
                <a:solidFill>
                  <a:schemeClr val="lt1"/>
                </a:solidFill>
                <a:latin typeface="Instrument Sans SemiBold"/>
                <a:ea typeface="Instrument Sans SemiBold"/>
                <a:cs typeface="Instrument Sans SemiBold"/>
                <a:sym typeface="Instrument Sans SemiBold"/>
              </a:defRPr>
            </a:lvl6pPr>
            <a:lvl7pPr lvl="6" rtl="0">
              <a:lnSpc>
                <a:spcPct val="100000"/>
              </a:lnSpc>
              <a:spcBef>
                <a:spcPts val="0"/>
              </a:spcBef>
              <a:spcAft>
                <a:spcPts val="0"/>
              </a:spcAft>
              <a:buClr>
                <a:schemeClr val="lt1"/>
              </a:buClr>
              <a:buSzPts val="2000"/>
              <a:buFont typeface="Instrument Sans SemiBold"/>
              <a:buNone/>
              <a:defRPr sz="2000">
                <a:solidFill>
                  <a:schemeClr val="lt1"/>
                </a:solidFill>
                <a:latin typeface="Instrument Sans SemiBold"/>
                <a:ea typeface="Instrument Sans SemiBold"/>
                <a:cs typeface="Instrument Sans SemiBold"/>
                <a:sym typeface="Instrument Sans SemiBold"/>
              </a:defRPr>
            </a:lvl7pPr>
            <a:lvl8pPr lvl="7" rtl="0">
              <a:lnSpc>
                <a:spcPct val="100000"/>
              </a:lnSpc>
              <a:spcBef>
                <a:spcPts val="0"/>
              </a:spcBef>
              <a:spcAft>
                <a:spcPts val="0"/>
              </a:spcAft>
              <a:buClr>
                <a:schemeClr val="lt1"/>
              </a:buClr>
              <a:buSzPts val="2000"/>
              <a:buFont typeface="Instrument Sans SemiBold"/>
              <a:buNone/>
              <a:defRPr sz="2000">
                <a:solidFill>
                  <a:schemeClr val="lt1"/>
                </a:solidFill>
                <a:latin typeface="Instrument Sans SemiBold"/>
                <a:ea typeface="Instrument Sans SemiBold"/>
                <a:cs typeface="Instrument Sans SemiBold"/>
                <a:sym typeface="Instrument Sans SemiBold"/>
              </a:defRPr>
            </a:lvl8pPr>
            <a:lvl9pPr lvl="8" rtl="0">
              <a:lnSpc>
                <a:spcPct val="100000"/>
              </a:lnSpc>
              <a:spcBef>
                <a:spcPts val="0"/>
              </a:spcBef>
              <a:spcAft>
                <a:spcPts val="0"/>
              </a:spcAft>
              <a:buClr>
                <a:schemeClr val="lt1"/>
              </a:buClr>
              <a:buSzPts val="2000"/>
              <a:buFont typeface="Instrument Sans SemiBold"/>
              <a:buNone/>
              <a:defRPr sz="2000">
                <a:solidFill>
                  <a:schemeClr val="lt1"/>
                </a:solidFill>
                <a:latin typeface="Instrument Sans SemiBold"/>
                <a:ea typeface="Instrument Sans SemiBold"/>
                <a:cs typeface="Instrument Sans SemiBold"/>
                <a:sym typeface="Instrument Sans SemiBold"/>
              </a:defRPr>
            </a:lvl9pPr>
          </a:lstStyle>
          <a:p>
            <a:endParaRPr/>
          </a:p>
        </p:txBody>
      </p:sp>
      <p:sp>
        <p:nvSpPr>
          <p:cNvPr id="13" name="Google Shape;13;p3"/>
          <p:cNvSpPr txBox="1">
            <a:spLocks noGrp="1"/>
          </p:cNvSpPr>
          <p:nvPr>
            <p:ph type="title" idx="2"/>
          </p:nvPr>
        </p:nvSpPr>
        <p:spPr>
          <a:xfrm>
            <a:off x="914400" y="914400"/>
            <a:ext cx="4954500" cy="923100"/>
          </a:xfrm>
          <a:prstGeom prst="rect">
            <a:avLst/>
          </a:prstGeom>
        </p:spPr>
        <p:txBody>
          <a:bodyPr spcFirstLastPara="1" wrap="square" lIns="0" tIns="0" rIns="0" bIns="0" anchor="t" anchorCtr="0">
            <a:spAutoFit/>
          </a:bodyPr>
          <a:lstStyle>
            <a:lvl1pPr lvl="0"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1pPr>
            <a:lvl2pPr lvl="1"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2pPr>
            <a:lvl3pPr lvl="2"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3pPr>
            <a:lvl4pPr lvl="3"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4pPr>
            <a:lvl5pPr lvl="4"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5pPr>
            <a:lvl6pPr lvl="5"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6pPr>
            <a:lvl7pPr lvl="6"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7pPr>
            <a:lvl8pPr lvl="7"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8pPr>
            <a:lvl9pPr lvl="8"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9pPr>
          </a:lstStyle>
          <a:p>
            <a:endParaRPr/>
          </a:p>
        </p:txBody>
      </p:sp>
      <p:pic>
        <p:nvPicPr>
          <p:cNvPr id="14" name="Google Shape;14;p3"/>
          <p:cNvPicPr preferRelativeResize="0"/>
          <p:nvPr/>
        </p:nvPicPr>
        <p:blipFill>
          <a:blip r:embed="rId2">
            <a:alphaModFix/>
          </a:blip>
          <a:stretch>
            <a:fillRect/>
          </a:stretch>
        </p:blipFill>
        <p:spPr>
          <a:xfrm>
            <a:off x="17373602" y="9372600"/>
            <a:ext cx="457200" cy="23167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240">
          <p15:clr>
            <a:srgbClr val="E46962"/>
          </p15:clr>
        </p15:guide>
        <p15:guide id="2" pos="4032">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Quote">
  <p:cSld name="TITLE_4_1">
    <p:bg>
      <p:bgPr>
        <a:solidFill>
          <a:schemeClr val="dk1"/>
        </a:solidFill>
        <a:effectLst/>
      </p:bgPr>
    </p:bg>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5036875" y="3141575"/>
            <a:ext cx="10338000" cy="923100"/>
          </a:xfrm>
          <a:prstGeom prst="rect">
            <a:avLst/>
          </a:prstGeom>
        </p:spPr>
        <p:txBody>
          <a:bodyPr spcFirstLastPara="1" wrap="square" lIns="0" tIns="0" rIns="0" bIns="0" anchor="t" anchorCtr="0">
            <a:spAutoFit/>
          </a:bodyPr>
          <a:lstStyle>
            <a:lvl1pPr lvl="0" rtl="0">
              <a:spcBef>
                <a:spcPts val="0"/>
              </a:spcBef>
              <a:spcAft>
                <a:spcPts val="0"/>
              </a:spcAft>
              <a:buClr>
                <a:schemeClr val="lt1"/>
              </a:buClr>
              <a:buSzPts val="2400"/>
              <a:buFont typeface="Instrument Sans SemiBold"/>
              <a:buNone/>
              <a:defRPr sz="2400" b="0">
                <a:solidFill>
                  <a:schemeClr val="lt1"/>
                </a:solidFill>
                <a:latin typeface="Instrument Sans SemiBold"/>
                <a:ea typeface="Instrument Sans SemiBold"/>
                <a:cs typeface="Instrument Sans SemiBold"/>
                <a:sym typeface="Instrument Sans SemiBold"/>
              </a:defRPr>
            </a:lvl1pPr>
            <a:lvl2pPr lvl="1" rtl="0">
              <a:spcBef>
                <a:spcPts val="0"/>
              </a:spcBef>
              <a:spcAft>
                <a:spcPts val="0"/>
              </a:spcAft>
              <a:buClr>
                <a:schemeClr val="lt1"/>
              </a:buClr>
              <a:buSzPts val="2400"/>
              <a:buFont typeface="Instrument Sans SemiBold"/>
              <a:buNone/>
              <a:defRPr sz="2400" b="0">
                <a:solidFill>
                  <a:schemeClr val="lt1"/>
                </a:solidFill>
                <a:latin typeface="Instrument Sans SemiBold"/>
                <a:ea typeface="Instrument Sans SemiBold"/>
                <a:cs typeface="Instrument Sans SemiBold"/>
                <a:sym typeface="Instrument Sans SemiBold"/>
              </a:defRPr>
            </a:lvl2pPr>
            <a:lvl3pPr lvl="2" rtl="0">
              <a:spcBef>
                <a:spcPts val="0"/>
              </a:spcBef>
              <a:spcAft>
                <a:spcPts val="0"/>
              </a:spcAft>
              <a:buClr>
                <a:schemeClr val="lt1"/>
              </a:buClr>
              <a:buSzPts val="2400"/>
              <a:buFont typeface="Instrument Sans SemiBold"/>
              <a:buNone/>
              <a:defRPr sz="2400" b="0">
                <a:solidFill>
                  <a:schemeClr val="lt1"/>
                </a:solidFill>
                <a:latin typeface="Instrument Sans SemiBold"/>
                <a:ea typeface="Instrument Sans SemiBold"/>
                <a:cs typeface="Instrument Sans SemiBold"/>
                <a:sym typeface="Instrument Sans SemiBold"/>
              </a:defRPr>
            </a:lvl3pPr>
            <a:lvl4pPr lvl="3" rtl="0">
              <a:spcBef>
                <a:spcPts val="0"/>
              </a:spcBef>
              <a:spcAft>
                <a:spcPts val="0"/>
              </a:spcAft>
              <a:buClr>
                <a:schemeClr val="lt1"/>
              </a:buClr>
              <a:buSzPts val="2400"/>
              <a:buFont typeface="Instrument Sans SemiBold"/>
              <a:buNone/>
              <a:defRPr sz="2400" b="0">
                <a:solidFill>
                  <a:schemeClr val="lt1"/>
                </a:solidFill>
                <a:latin typeface="Instrument Sans SemiBold"/>
                <a:ea typeface="Instrument Sans SemiBold"/>
                <a:cs typeface="Instrument Sans SemiBold"/>
                <a:sym typeface="Instrument Sans SemiBold"/>
              </a:defRPr>
            </a:lvl4pPr>
            <a:lvl5pPr lvl="4" rtl="0">
              <a:spcBef>
                <a:spcPts val="0"/>
              </a:spcBef>
              <a:spcAft>
                <a:spcPts val="0"/>
              </a:spcAft>
              <a:buClr>
                <a:schemeClr val="lt1"/>
              </a:buClr>
              <a:buSzPts val="2400"/>
              <a:buFont typeface="Instrument Sans SemiBold"/>
              <a:buNone/>
              <a:defRPr sz="2400" b="0">
                <a:solidFill>
                  <a:schemeClr val="lt1"/>
                </a:solidFill>
                <a:latin typeface="Instrument Sans SemiBold"/>
                <a:ea typeface="Instrument Sans SemiBold"/>
                <a:cs typeface="Instrument Sans SemiBold"/>
                <a:sym typeface="Instrument Sans SemiBold"/>
              </a:defRPr>
            </a:lvl5pPr>
            <a:lvl6pPr lvl="5" rtl="0">
              <a:spcBef>
                <a:spcPts val="0"/>
              </a:spcBef>
              <a:spcAft>
                <a:spcPts val="0"/>
              </a:spcAft>
              <a:buClr>
                <a:schemeClr val="lt1"/>
              </a:buClr>
              <a:buSzPts val="2400"/>
              <a:buFont typeface="Instrument Sans SemiBold"/>
              <a:buNone/>
              <a:defRPr sz="2400" b="0">
                <a:solidFill>
                  <a:schemeClr val="lt1"/>
                </a:solidFill>
                <a:latin typeface="Instrument Sans SemiBold"/>
                <a:ea typeface="Instrument Sans SemiBold"/>
                <a:cs typeface="Instrument Sans SemiBold"/>
                <a:sym typeface="Instrument Sans SemiBold"/>
              </a:defRPr>
            </a:lvl6pPr>
            <a:lvl7pPr lvl="6" rtl="0">
              <a:spcBef>
                <a:spcPts val="0"/>
              </a:spcBef>
              <a:spcAft>
                <a:spcPts val="0"/>
              </a:spcAft>
              <a:buClr>
                <a:schemeClr val="lt1"/>
              </a:buClr>
              <a:buSzPts val="2400"/>
              <a:buFont typeface="Instrument Sans SemiBold"/>
              <a:buNone/>
              <a:defRPr sz="2400" b="0">
                <a:solidFill>
                  <a:schemeClr val="lt1"/>
                </a:solidFill>
                <a:latin typeface="Instrument Sans SemiBold"/>
                <a:ea typeface="Instrument Sans SemiBold"/>
                <a:cs typeface="Instrument Sans SemiBold"/>
                <a:sym typeface="Instrument Sans SemiBold"/>
              </a:defRPr>
            </a:lvl7pPr>
            <a:lvl8pPr lvl="7" rtl="0">
              <a:spcBef>
                <a:spcPts val="0"/>
              </a:spcBef>
              <a:spcAft>
                <a:spcPts val="0"/>
              </a:spcAft>
              <a:buClr>
                <a:schemeClr val="lt1"/>
              </a:buClr>
              <a:buSzPts val="2400"/>
              <a:buFont typeface="Instrument Sans SemiBold"/>
              <a:buNone/>
              <a:defRPr sz="2400" b="0">
                <a:solidFill>
                  <a:schemeClr val="lt1"/>
                </a:solidFill>
                <a:latin typeface="Instrument Sans SemiBold"/>
                <a:ea typeface="Instrument Sans SemiBold"/>
                <a:cs typeface="Instrument Sans SemiBold"/>
                <a:sym typeface="Instrument Sans SemiBold"/>
              </a:defRPr>
            </a:lvl8pPr>
            <a:lvl9pPr lvl="8" rtl="0">
              <a:spcBef>
                <a:spcPts val="0"/>
              </a:spcBef>
              <a:spcAft>
                <a:spcPts val="0"/>
              </a:spcAft>
              <a:buClr>
                <a:schemeClr val="lt1"/>
              </a:buClr>
              <a:buSzPts val="2400"/>
              <a:buFont typeface="Instrument Sans SemiBold"/>
              <a:buNone/>
              <a:defRPr sz="2400" b="0">
                <a:solidFill>
                  <a:schemeClr val="lt1"/>
                </a:solidFill>
                <a:latin typeface="Instrument Sans SemiBold"/>
                <a:ea typeface="Instrument Sans SemiBold"/>
                <a:cs typeface="Instrument Sans SemiBold"/>
                <a:sym typeface="Instrument Sans SemiBold"/>
              </a:defRPr>
            </a:lvl9pPr>
          </a:lstStyle>
          <a:p>
            <a:endParaRPr/>
          </a:p>
        </p:txBody>
      </p:sp>
      <p:sp>
        <p:nvSpPr>
          <p:cNvPr id="22" name="Google Shape;22;p5"/>
          <p:cNvSpPr txBox="1">
            <a:spLocks noGrp="1"/>
          </p:cNvSpPr>
          <p:nvPr>
            <p:ph type="body" idx="1"/>
          </p:nvPr>
        </p:nvSpPr>
        <p:spPr>
          <a:xfrm>
            <a:off x="5036875" y="3827925"/>
            <a:ext cx="11848500" cy="5208600"/>
          </a:xfrm>
          <a:prstGeom prst="rect">
            <a:avLst/>
          </a:prstGeom>
        </p:spPr>
        <p:txBody>
          <a:bodyPr spcFirstLastPara="1" wrap="square" lIns="0" tIns="0" rIns="0" bIns="0" anchor="t" anchorCtr="0">
            <a:normAutofit/>
          </a:bodyPr>
          <a:lstStyle>
            <a:lvl1pPr marL="457200" lvl="0" indent="-609600" rtl="0">
              <a:lnSpc>
                <a:spcPct val="100000"/>
              </a:lnSpc>
              <a:spcBef>
                <a:spcPts val="0"/>
              </a:spcBef>
              <a:spcAft>
                <a:spcPts val="0"/>
              </a:spcAft>
              <a:buClr>
                <a:schemeClr val="lt1"/>
              </a:buClr>
              <a:buSzPts val="6000"/>
              <a:buFont typeface="Instrument Sans"/>
              <a:buChar char="●"/>
              <a:defRPr sz="6000">
                <a:solidFill>
                  <a:schemeClr val="lt1"/>
                </a:solidFill>
                <a:latin typeface="Instrument Sans"/>
                <a:ea typeface="Instrument Sans"/>
                <a:cs typeface="Instrument Sans"/>
                <a:sym typeface="Instrument Sans"/>
              </a:defRPr>
            </a:lvl1pPr>
            <a:lvl2pPr marL="914400" lvl="1" indent="-609600" rtl="0">
              <a:lnSpc>
                <a:spcPct val="100000"/>
              </a:lnSpc>
              <a:spcBef>
                <a:spcPts val="0"/>
              </a:spcBef>
              <a:spcAft>
                <a:spcPts val="0"/>
              </a:spcAft>
              <a:buClr>
                <a:schemeClr val="lt1"/>
              </a:buClr>
              <a:buSzPts val="6000"/>
              <a:buFont typeface="Instrument Sans"/>
              <a:buChar char="○"/>
              <a:defRPr sz="6000">
                <a:solidFill>
                  <a:schemeClr val="lt1"/>
                </a:solidFill>
                <a:latin typeface="Instrument Sans"/>
                <a:ea typeface="Instrument Sans"/>
                <a:cs typeface="Instrument Sans"/>
                <a:sym typeface="Instrument Sans"/>
              </a:defRPr>
            </a:lvl2pPr>
            <a:lvl3pPr marL="1371600" lvl="2" indent="-609600" rtl="0">
              <a:lnSpc>
                <a:spcPct val="100000"/>
              </a:lnSpc>
              <a:spcBef>
                <a:spcPts val="0"/>
              </a:spcBef>
              <a:spcAft>
                <a:spcPts val="0"/>
              </a:spcAft>
              <a:buClr>
                <a:schemeClr val="lt1"/>
              </a:buClr>
              <a:buSzPts val="6000"/>
              <a:buFont typeface="Instrument Sans"/>
              <a:buChar char="■"/>
              <a:defRPr sz="6000">
                <a:solidFill>
                  <a:schemeClr val="lt1"/>
                </a:solidFill>
                <a:latin typeface="Instrument Sans"/>
                <a:ea typeface="Instrument Sans"/>
                <a:cs typeface="Instrument Sans"/>
                <a:sym typeface="Instrument Sans"/>
              </a:defRPr>
            </a:lvl3pPr>
            <a:lvl4pPr marL="1828800" lvl="3" indent="-609600" rtl="0">
              <a:lnSpc>
                <a:spcPct val="100000"/>
              </a:lnSpc>
              <a:spcBef>
                <a:spcPts val="0"/>
              </a:spcBef>
              <a:spcAft>
                <a:spcPts val="0"/>
              </a:spcAft>
              <a:buClr>
                <a:schemeClr val="lt1"/>
              </a:buClr>
              <a:buSzPts val="6000"/>
              <a:buFont typeface="Instrument Sans"/>
              <a:buChar char="●"/>
              <a:defRPr sz="6000">
                <a:solidFill>
                  <a:schemeClr val="lt1"/>
                </a:solidFill>
                <a:latin typeface="Instrument Sans"/>
                <a:ea typeface="Instrument Sans"/>
                <a:cs typeface="Instrument Sans"/>
                <a:sym typeface="Instrument Sans"/>
              </a:defRPr>
            </a:lvl4pPr>
            <a:lvl5pPr marL="2286000" lvl="4" indent="-609600" rtl="0">
              <a:lnSpc>
                <a:spcPct val="100000"/>
              </a:lnSpc>
              <a:spcBef>
                <a:spcPts val="0"/>
              </a:spcBef>
              <a:spcAft>
                <a:spcPts val="0"/>
              </a:spcAft>
              <a:buClr>
                <a:schemeClr val="lt1"/>
              </a:buClr>
              <a:buSzPts val="6000"/>
              <a:buFont typeface="Instrument Sans"/>
              <a:buChar char="○"/>
              <a:defRPr sz="6000">
                <a:solidFill>
                  <a:schemeClr val="lt1"/>
                </a:solidFill>
                <a:latin typeface="Instrument Sans"/>
                <a:ea typeface="Instrument Sans"/>
                <a:cs typeface="Instrument Sans"/>
                <a:sym typeface="Instrument Sans"/>
              </a:defRPr>
            </a:lvl5pPr>
            <a:lvl6pPr marL="2743200" lvl="5" indent="-609600" rtl="0">
              <a:lnSpc>
                <a:spcPct val="100000"/>
              </a:lnSpc>
              <a:spcBef>
                <a:spcPts val="0"/>
              </a:spcBef>
              <a:spcAft>
                <a:spcPts val="0"/>
              </a:spcAft>
              <a:buClr>
                <a:schemeClr val="lt1"/>
              </a:buClr>
              <a:buSzPts val="6000"/>
              <a:buFont typeface="Instrument Sans"/>
              <a:buChar char="■"/>
              <a:defRPr sz="6000">
                <a:solidFill>
                  <a:schemeClr val="lt1"/>
                </a:solidFill>
                <a:latin typeface="Instrument Sans"/>
                <a:ea typeface="Instrument Sans"/>
                <a:cs typeface="Instrument Sans"/>
                <a:sym typeface="Instrument Sans"/>
              </a:defRPr>
            </a:lvl6pPr>
            <a:lvl7pPr marL="3200400" lvl="6" indent="-609600" rtl="0">
              <a:lnSpc>
                <a:spcPct val="100000"/>
              </a:lnSpc>
              <a:spcBef>
                <a:spcPts val="0"/>
              </a:spcBef>
              <a:spcAft>
                <a:spcPts val="0"/>
              </a:spcAft>
              <a:buClr>
                <a:schemeClr val="lt1"/>
              </a:buClr>
              <a:buSzPts val="6000"/>
              <a:buFont typeface="Instrument Sans"/>
              <a:buChar char="●"/>
              <a:defRPr sz="6000">
                <a:solidFill>
                  <a:schemeClr val="lt1"/>
                </a:solidFill>
                <a:latin typeface="Instrument Sans"/>
                <a:ea typeface="Instrument Sans"/>
                <a:cs typeface="Instrument Sans"/>
                <a:sym typeface="Instrument Sans"/>
              </a:defRPr>
            </a:lvl7pPr>
            <a:lvl8pPr marL="3657600" lvl="7" indent="-609600" rtl="0">
              <a:lnSpc>
                <a:spcPct val="100000"/>
              </a:lnSpc>
              <a:spcBef>
                <a:spcPts val="0"/>
              </a:spcBef>
              <a:spcAft>
                <a:spcPts val="0"/>
              </a:spcAft>
              <a:buClr>
                <a:schemeClr val="lt1"/>
              </a:buClr>
              <a:buSzPts val="6000"/>
              <a:buFont typeface="Instrument Sans"/>
              <a:buChar char="○"/>
              <a:defRPr sz="6000">
                <a:solidFill>
                  <a:schemeClr val="lt1"/>
                </a:solidFill>
                <a:latin typeface="Instrument Sans"/>
                <a:ea typeface="Instrument Sans"/>
                <a:cs typeface="Instrument Sans"/>
                <a:sym typeface="Instrument Sans"/>
              </a:defRPr>
            </a:lvl8pPr>
            <a:lvl9pPr marL="4114800" lvl="8" indent="-609600" rtl="0">
              <a:lnSpc>
                <a:spcPct val="100000"/>
              </a:lnSpc>
              <a:spcBef>
                <a:spcPts val="0"/>
              </a:spcBef>
              <a:spcAft>
                <a:spcPts val="0"/>
              </a:spcAft>
              <a:buClr>
                <a:schemeClr val="lt1"/>
              </a:buClr>
              <a:buSzPts val="6000"/>
              <a:buFont typeface="Instrument Sans"/>
              <a:buChar char="■"/>
              <a:defRPr sz="6000">
                <a:solidFill>
                  <a:schemeClr val="lt1"/>
                </a:solidFill>
                <a:latin typeface="Instrument Sans"/>
                <a:ea typeface="Instrument Sans"/>
                <a:cs typeface="Instrument Sans"/>
                <a:sym typeface="Instrument Sans"/>
              </a:defRPr>
            </a:lvl9pPr>
          </a:lstStyle>
          <a:p>
            <a:endParaRPr/>
          </a:p>
        </p:txBody>
      </p:sp>
      <p:pic>
        <p:nvPicPr>
          <p:cNvPr id="23" name="Google Shape;23;p5"/>
          <p:cNvPicPr preferRelativeResize="0"/>
          <p:nvPr/>
        </p:nvPicPr>
        <p:blipFill>
          <a:blip r:embed="rId2">
            <a:alphaModFix/>
          </a:blip>
          <a:stretch>
            <a:fillRect/>
          </a:stretch>
        </p:blipFill>
        <p:spPr>
          <a:xfrm>
            <a:off x="17373602" y="9372600"/>
            <a:ext cx="457200" cy="231677"/>
          </a:xfrm>
          <a:prstGeom prst="rect">
            <a:avLst/>
          </a:prstGeom>
          <a:noFill/>
          <a:ln>
            <a:noFill/>
          </a:ln>
        </p:spPr>
      </p:pic>
    </p:spTree>
  </p:cSld>
  <p:clrMapOvr>
    <a:masterClrMapping/>
  </p:clrMapOvr>
  <p:extLst>
    <p:ext uri="{DCECCB84-F9BA-43D5-87BE-67443E8EF086}">
      <p15:sldGuideLst xmlns:p15="http://schemas.microsoft.com/office/powerpoint/2012/main">
        <p15:guide id="1" pos="3173">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WIP 3 Columns">
  <p:cSld name="CUSTOM_2_2_2_1_1_1">
    <p:spTree>
      <p:nvGrpSpPr>
        <p:cNvPr id="1" name="Shape 37"/>
        <p:cNvGrpSpPr/>
        <p:nvPr/>
      </p:nvGrpSpPr>
      <p:grpSpPr>
        <a:xfrm>
          <a:off x="0" y="0"/>
          <a:ext cx="0" cy="0"/>
          <a:chOff x="0" y="0"/>
          <a:chExt cx="0" cy="0"/>
        </a:xfrm>
      </p:grpSpPr>
      <p:sp>
        <p:nvSpPr>
          <p:cNvPr id="38" name="Google Shape;38;p9"/>
          <p:cNvSpPr txBox="1">
            <a:spLocks noGrp="1"/>
          </p:cNvSpPr>
          <p:nvPr>
            <p:ph type="title"/>
          </p:nvPr>
        </p:nvSpPr>
        <p:spPr>
          <a:xfrm>
            <a:off x="914400" y="914400"/>
            <a:ext cx="8046900" cy="499800"/>
          </a:xfrm>
          <a:prstGeom prst="rect">
            <a:avLst/>
          </a:prstGeom>
        </p:spPr>
        <p:txBody>
          <a:bodyPr spcFirstLastPara="1" wrap="square" lIns="0" tIns="0" rIns="0" bIns="0" anchor="t" anchorCtr="0">
            <a:spAutoFit/>
          </a:bodyPr>
          <a:lstStyle>
            <a:lvl1pPr lvl="0" rtl="0">
              <a:spcBef>
                <a:spcPts val="0"/>
              </a:spcBef>
              <a:spcAft>
                <a:spcPts val="0"/>
              </a:spcAft>
              <a:buSzPts val="3000"/>
              <a:buNone/>
              <a:defRPr b="1"/>
            </a:lvl1pPr>
            <a:lvl2pPr lvl="1" rtl="0">
              <a:spcBef>
                <a:spcPts val="0"/>
              </a:spcBef>
              <a:spcAft>
                <a:spcPts val="0"/>
              </a:spcAft>
              <a:buSzPts val="2200"/>
              <a:buNone/>
              <a:defRPr sz="2200" b="1"/>
            </a:lvl2pPr>
            <a:lvl3pPr lvl="2" rtl="0">
              <a:spcBef>
                <a:spcPts val="0"/>
              </a:spcBef>
              <a:spcAft>
                <a:spcPts val="0"/>
              </a:spcAft>
              <a:buSzPts val="2200"/>
              <a:buNone/>
              <a:defRPr sz="2200" b="1"/>
            </a:lvl3pPr>
            <a:lvl4pPr lvl="3" rtl="0">
              <a:spcBef>
                <a:spcPts val="0"/>
              </a:spcBef>
              <a:spcAft>
                <a:spcPts val="0"/>
              </a:spcAft>
              <a:buSzPts val="2200"/>
              <a:buNone/>
              <a:defRPr sz="2200" b="1"/>
            </a:lvl4pPr>
            <a:lvl5pPr lvl="4" rtl="0">
              <a:spcBef>
                <a:spcPts val="0"/>
              </a:spcBef>
              <a:spcAft>
                <a:spcPts val="0"/>
              </a:spcAft>
              <a:buSzPts val="2200"/>
              <a:buNone/>
              <a:defRPr sz="2200" b="1"/>
            </a:lvl5pPr>
            <a:lvl6pPr lvl="5" rtl="0">
              <a:spcBef>
                <a:spcPts val="0"/>
              </a:spcBef>
              <a:spcAft>
                <a:spcPts val="0"/>
              </a:spcAft>
              <a:buSzPts val="2200"/>
              <a:buNone/>
              <a:defRPr sz="2200" b="1"/>
            </a:lvl6pPr>
            <a:lvl7pPr lvl="6" rtl="0">
              <a:spcBef>
                <a:spcPts val="0"/>
              </a:spcBef>
              <a:spcAft>
                <a:spcPts val="0"/>
              </a:spcAft>
              <a:buSzPts val="2200"/>
              <a:buNone/>
              <a:defRPr sz="2200" b="1"/>
            </a:lvl7pPr>
            <a:lvl8pPr lvl="7" rtl="0">
              <a:spcBef>
                <a:spcPts val="0"/>
              </a:spcBef>
              <a:spcAft>
                <a:spcPts val="0"/>
              </a:spcAft>
              <a:buSzPts val="2200"/>
              <a:buNone/>
              <a:defRPr sz="2200" b="1"/>
            </a:lvl8pPr>
            <a:lvl9pPr lvl="8" rtl="0">
              <a:spcBef>
                <a:spcPts val="0"/>
              </a:spcBef>
              <a:spcAft>
                <a:spcPts val="0"/>
              </a:spcAft>
              <a:buSzPts val="2200"/>
              <a:buNone/>
              <a:defRPr sz="2200" b="1"/>
            </a:lvl9pPr>
          </a:lstStyle>
          <a:p>
            <a:endParaRPr/>
          </a:p>
        </p:txBody>
      </p:sp>
      <p:sp>
        <p:nvSpPr>
          <p:cNvPr id="39" name="Google Shape;39;p9"/>
          <p:cNvSpPr txBox="1">
            <a:spLocks noGrp="1"/>
          </p:cNvSpPr>
          <p:nvPr>
            <p:ph type="subTitle" idx="1"/>
          </p:nvPr>
        </p:nvSpPr>
        <p:spPr>
          <a:xfrm>
            <a:off x="932100" y="2625675"/>
            <a:ext cx="5229900" cy="648300"/>
          </a:xfrm>
          <a:prstGeom prst="rect">
            <a:avLst/>
          </a:prstGeom>
        </p:spPr>
        <p:txBody>
          <a:bodyPr spcFirstLastPara="1" wrap="square" lIns="0" tIns="0" rIns="0" bIns="0" anchor="t" anchorCtr="0">
            <a:spAutoFit/>
          </a:bodyPr>
          <a:lstStyle>
            <a:lvl1pPr lvl="0" rtl="0">
              <a:lnSpc>
                <a:spcPct val="100000"/>
              </a:lnSpc>
              <a:spcBef>
                <a:spcPts val="0"/>
              </a:spcBef>
              <a:spcAft>
                <a:spcPts val="0"/>
              </a:spcAft>
              <a:buClr>
                <a:schemeClr val="dk1"/>
              </a:buClr>
              <a:buSzPts val="2800"/>
              <a:buFont typeface="Instrument Sans"/>
              <a:buNone/>
              <a:defRPr sz="2800" b="1">
                <a:solidFill>
                  <a:schemeClr val="dk1"/>
                </a:solidFill>
                <a:latin typeface="Instrument Sans"/>
                <a:ea typeface="Instrument Sans"/>
                <a:cs typeface="Instrument Sans"/>
                <a:sym typeface="Instrument Sans"/>
              </a:defRPr>
            </a:lvl1pPr>
            <a:lvl2pPr lvl="1"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2pPr>
            <a:lvl3pPr lvl="2"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3pPr>
            <a:lvl4pPr lvl="3"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4pPr>
            <a:lvl5pPr lvl="4"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5pPr>
            <a:lvl6pPr lvl="5"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6pPr>
            <a:lvl7pPr lvl="6"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7pPr>
            <a:lvl8pPr lvl="7"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8pPr>
            <a:lvl9pPr lvl="8"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9pPr>
          </a:lstStyle>
          <a:p>
            <a:endParaRPr/>
          </a:p>
        </p:txBody>
      </p:sp>
      <p:sp>
        <p:nvSpPr>
          <p:cNvPr id="40" name="Google Shape;40;p9"/>
          <p:cNvSpPr txBox="1">
            <a:spLocks noGrp="1"/>
          </p:cNvSpPr>
          <p:nvPr>
            <p:ph type="body" idx="2"/>
          </p:nvPr>
        </p:nvSpPr>
        <p:spPr>
          <a:xfrm>
            <a:off x="914400" y="3273975"/>
            <a:ext cx="5247600" cy="6044100"/>
          </a:xfrm>
          <a:prstGeom prst="rect">
            <a:avLst/>
          </a:prstGeom>
        </p:spPr>
        <p:txBody>
          <a:bodyPr spcFirstLastPara="1" wrap="square" lIns="0" tIns="0" rIns="0" bIns="0" anchor="t" anchorCtr="0">
            <a:spAutoFit/>
          </a:bodyPr>
          <a:lstStyle>
            <a:lvl1pPr marL="457200" lvl="0"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1pPr>
            <a:lvl2pPr marL="914400" lvl="1"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2pPr>
            <a:lvl3pPr marL="1371600" lvl="2"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3pPr>
            <a:lvl4pPr marL="1828800" lvl="3"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4pPr>
            <a:lvl5pPr marL="2286000" lvl="4"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5pPr>
            <a:lvl6pPr marL="2743200" lvl="5"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6pPr>
            <a:lvl7pPr marL="3200400" lvl="6"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7pPr>
            <a:lvl8pPr marL="3657600" lvl="7"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8pPr>
            <a:lvl9pPr marL="4114800" lvl="8"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9pPr>
          </a:lstStyle>
          <a:p>
            <a:endParaRPr/>
          </a:p>
        </p:txBody>
      </p:sp>
      <p:sp>
        <p:nvSpPr>
          <p:cNvPr id="41" name="Google Shape;41;p9"/>
          <p:cNvSpPr txBox="1">
            <a:spLocks noGrp="1"/>
          </p:cNvSpPr>
          <p:nvPr>
            <p:ph type="subTitle" idx="3"/>
          </p:nvPr>
        </p:nvSpPr>
        <p:spPr>
          <a:xfrm>
            <a:off x="6537900" y="2625675"/>
            <a:ext cx="5229900" cy="648300"/>
          </a:xfrm>
          <a:prstGeom prst="rect">
            <a:avLst/>
          </a:prstGeom>
        </p:spPr>
        <p:txBody>
          <a:bodyPr spcFirstLastPara="1" wrap="square" lIns="0" tIns="0" rIns="0" bIns="0" anchor="t" anchorCtr="0">
            <a:spAutoFit/>
          </a:bodyPr>
          <a:lstStyle>
            <a:lvl1pPr lvl="0" rtl="0">
              <a:lnSpc>
                <a:spcPct val="100000"/>
              </a:lnSpc>
              <a:spcBef>
                <a:spcPts val="0"/>
              </a:spcBef>
              <a:spcAft>
                <a:spcPts val="0"/>
              </a:spcAft>
              <a:buClr>
                <a:schemeClr val="dk1"/>
              </a:buClr>
              <a:buSzPts val="2800"/>
              <a:buFont typeface="Instrument Sans"/>
              <a:buNone/>
              <a:defRPr sz="2800" b="1">
                <a:solidFill>
                  <a:schemeClr val="dk1"/>
                </a:solidFill>
                <a:latin typeface="Instrument Sans"/>
                <a:ea typeface="Instrument Sans"/>
                <a:cs typeface="Instrument Sans"/>
                <a:sym typeface="Instrument Sans"/>
              </a:defRPr>
            </a:lvl1pPr>
            <a:lvl2pPr lvl="1"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2pPr>
            <a:lvl3pPr lvl="2"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3pPr>
            <a:lvl4pPr lvl="3"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4pPr>
            <a:lvl5pPr lvl="4"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5pPr>
            <a:lvl6pPr lvl="5"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6pPr>
            <a:lvl7pPr lvl="6"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7pPr>
            <a:lvl8pPr lvl="7"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8pPr>
            <a:lvl9pPr lvl="8"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9pPr>
          </a:lstStyle>
          <a:p>
            <a:endParaRPr/>
          </a:p>
        </p:txBody>
      </p:sp>
      <p:sp>
        <p:nvSpPr>
          <p:cNvPr id="42" name="Google Shape;42;p9"/>
          <p:cNvSpPr txBox="1">
            <a:spLocks noGrp="1"/>
          </p:cNvSpPr>
          <p:nvPr>
            <p:ph type="body" idx="4"/>
          </p:nvPr>
        </p:nvSpPr>
        <p:spPr>
          <a:xfrm>
            <a:off x="6520200" y="3273975"/>
            <a:ext cx="5247600" cy="6044100"/>
          </a:xfrm>
          <a:prstGeom prst="rect">
            <a:avLst/>
          </a:prstGeom>
        </p:spPr>
        <p:txBody>
          <a:bodyPr spcFirstLastPara="1" wrap="square" lIns="0" tIns="0" rIns="0" bIns="0" anchor="t" anchorCtr="0">
            <a:spAutoFit/>
          </a:bodyPr>
          <a:lstStyle>
            <a:lvl1pPr marL="457200" lvl="0"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1pPr>
            <a:lvl2pPr marL="914400" lvl="1"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2pPr>
            <a:lvl3pPr marL="1371600" lvl="2"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3pPr>
            <a:lvl4pPr marL="1828800" lvl="3"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4pPr>
            <a:lvl5pPr marL="2286000" lvl="4"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5pPr>
            <a:lvl6pPr marL="2743200" lvl="5"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6pPr>
            <a:lvl7pPr marL="3200400" lvl="6"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7pPr>
            <a:lvl8pPr marL="3657600" lvl="7"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8pPr>
            <a:lvl9pPr marL="4114800" lvl="8"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9pPr>
          </a:lstStyle>
          <a:p>
            <a:endParaRPr/>
          </a:p>
        </p:txBody>
      </p:sp>
      <p:sp>
        <p:nvSpPr>
          <p:cNvPr id="43" name="Google Shape;43;p9"/>
          <p:cNvSpPr txBox="1">
            <a:spLocks noGrp="1"/>
          </p:cNvSpPr>
          <p:nvPr>
            <p:ph type="subTitle" idx="5"/>
          </p:nvPr>
        </p:nvSpPr>
        <p:spPr>
          <a:xfrm>
            <a:off x="12143700" y="2625675"/>
            <a:ext cx="5229900" cy="648300"/>
          </a:xfrm>
          <a:prstGeom prst="rect">
            <a:avLst/>
          </a:prstGeom>
        </p:spPr>
        <p:txBody>
          <a:bodyPr spcFirstLastPara="1" wrap="square" lIns="0" tIns="0" rIns="0" bIns="0" anchor="t" anchorCtr="0">
            <a:spAutoFit/>
          </a:bodyPr>
          <a:lstStyle>
            <a:lvl1pPr lvl="0" rtl="0">
              <a:lnSpc>
                <a:spcPct val="100000"/>
              </a:lnSpc>
              <a:spcBef>
                <a:spcPts val="0"/>
              </a:spcBef>
              <a:spcAft>
                <a:spcPts val="0"/>
              </a:spcAft>
              <a:buClr>
                <a:schemeClr val="dk1"/>
              </a:buClr>
              <a:buSzPts val="2800"/>
              <a:buFont typeface="Instrument Sans"/>
              <a:buNone/>
              <a:defRPr sz="2800" b="1">
                <a:solidFill>
                  <a:schemeClr val="dk1"/>
                </a:solidFill>
                <a:latin typeface="Instrument Sans"/>
                <a:ea typeface="Instrument Sans"/>
                <a:cs typeface="Instrument Sans"/>
                <a:sym typeface="Instrument Sans"/>
              </a:defRPr>
            </a:lvl1pPr>
            <a:lvl2pPr lvl="1"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2pPr>
            <a:lvl3pPr lvl="2"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3pPr>
            <a:lvl4pPr lvl="3"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4pPr>
            <a:lvl5pPr lvl="4"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5pPr>
            <a:lvl6pPr lvl="5"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6pPr>
            <a:lvl7pPr lvl="6"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7pPr>
            <a:lvl8pPr lvl="7"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8pPr>
            <a:lvl9pPr lvl="8" rtl="0">
              <a:lnSpc>
                <a:spcPct val="100000"/>
              </a:lnSpc>
              <a:spcBef>
                <a:spcPts val="0"/>
              </a:spcBef>
              <a:spcAft>
                <a:spcPts val="0"/>
              </a:spcAft>
              <a:buClr>
                <a:schemeClr val="dk1"/>
              </a:buClr>
              <a:buSzPts val="2600"/>
              <a:buFont typeface="Instrument Sans"/>
              <a:buNone/>
              <a:defRPr sz="2600" b="1">
                <a:solidFill>
                  <a:schemeClr val="dk1"/>
                </a:solidFill>
                <a:latin typeface="Instrument Sans"/>
                <a:ea typeface="Instrument Sans"/>
                <a:cs typeface="Instrument Sans"/>
                <a:sym typeface="Instrument Sans"/>
              </a:defRPr>
            </a:lvl9pPr>
          </a:lstStyle>
          <a:p>
            <a:endParaRPr/>
          </a:p>
        </p:txBody>
      </p:sp>
      <p:sp>
        <p:nvSpPr>
          <p:cNvPr id="44" name="Google Shape;44;p9"/>
          <p:cNvSpPr txBox="1">
            <a:spLocks noGrp="1"/>
          </p:cNvSpPr>
          <p:nvPr>
            <p:ph type="body" idx="6"/>
          </p:nvPr>
        </p:nvSpPr>
        <p:spPr>
          <a:xfrm>
            <a:off x="12126000" y="3273975"/>
            <a:ext cx="5247600" cy="6044100"/>
          </a:xfrm>
          <a:prstGeom prst="rect">
            <a:avLst/>
          </a:prstGeom>
        </p:spPr>
        <p:txBody>
          <a:bodyPr spcFirstLastPara="1" wrap="square" lIns="0" tIns="0" rIns="0" bIns="0" anchor="t" anchorCtr="0">
            <a:spAutoFit/>
          </a:bodyPr>
          <a:lstStyle>
            <a:lvl1pPr marL="457200" lvl="0"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1pPr>
            <a:lvl2pPr marL="914400" lvl="1"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2pPr>
            <a:lvl3pPr marL="1371600" lvl="2"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3pPr>
            <a:lvl4pPr marL="1828800" lvl="3"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4pPr>
            <a:lvl5pPr marL="2286000" lvl="4"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5pPr>
            <a:lvl6pPr marL="2743200" lvl="5"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6pPr>
            <a:lvl7pPr marL="3200400" lvl="6"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7pPr>
            <a:lvl8pPr marL="3657600" lvl="7"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8pPr>
            <a:lvl9pPr marL="4114800" lvl="8" indent="-393700" rtl="0">
              <a:lnSpc>
                <a:spcPct val="100000"/>
              </a:lnSpc>
              <a:spcBef>
                <a:spcPts val="0"/>
              </a:spcBef>
              <a:spcAft>
                <a:spcPts val="0"/>
              </a:spcAft>
              <a:buSzPts val="2600"/>
              <a:buFont typeface="Instrument Sans"/>
              <a:buChar char="■"/>
              <a:defRPr sz="2600">
                <a:latin typeface="Instrument Sans"/>
                <a:ea typeface="Instrument Sans"/>
                <a:cs typeface="Instrument Sans"/>
                <a:sym typeface="Instrument Sans"/>
              </a:defRPr>
            </a:lvl9pPr>
          </a:lstStyle>
          <a:p>
            <a:endParaRPr/>
          </a:p>
        </p:txBody>
      </p:sp>
      <p:pic>
        <p:nvPicPr>
          <p:cNvPr id="45" name="Google Shape;45;p9"/>
          <p:cNvPicPr preferRelativeResize="0"/>
          <p:nvPr/>
        </p:nvPicPr>
        <p:blipFill>
          <a:blip r:embed="rId2">
            <a:alphaModFix/>
          </a:blip>
          <a:stretch>
            <a:fillRect/>
          </a:stretch>
        </p:blipFill>
        <p:spPr>
          <a:xfrm>
            <a:off x="17373600" y="9372600"/>
            <a:ext cx="457200" cy="228600"/>
          </a:xfrm>
          <a:prstGeom prst="rect">
            <a:avLst/>
          </a:prstGeom>
          <a:noFill/>
          <a:ln>
            <a:noFill/>
          </a:ln>
        </p:spPr>
      </p:pic>
    </p:spTree>
  </p:cSld>
  <p:clrMapOvr>
    <a:masterClrMapping/>
  </p:clrMapOvr>
  <p:extLst>
    <p:ext uri="{DCECCB84-F9BA-43D5-87BE-67443E8EF086}">
      <p15:sldGuideLst xmlns:p15="http://schemas.microsoft.com/office/powerpoint/2012/main">
        <p15:guide id="1" pos="7413">
          <p15:clr>
            <a:srgbClr val="E46962"/>
          </p15:clr>
        </p15:guide>
        <p15:guide id="2" pos="7638">
          <p15:clr>
            <a:srgbClr val="E46962"/>
          </p15:clr>
        </p15:guide>
        <p15:guide id="3" pos="4107">
          <p15:clr>
            <a:srgbClr val="E46962"/>
          </p15:clr>
        </p15:guide>
        <p15:guide id="4" pos="3882">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act Page">
  <p:cSld name="Contact Page">
    <p:bg>
      <p:bgPr>
        <a:solidFill>
          <a:schemeClr val="dk1"/>
        </a:solidFill>
        <a:effectLst/>
      </p:bgPr>
    </p:bg>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914400" y="914400"/>
            <a:ext cx="5326200" cy="923100"/>
          </a:xfrm>
          <a:prstGeom prst="rect">
            <a:avLst/>
          </a:prstGeom>
        </p:spPr>
        <p:txBody>
          <a:bodyPr spcFirstLastPara="1" wrap="square" lIns="0" tIns="0" rIns="0" bIns="0" anchor="t" anchorCtr="0">
            <a:spAutoFit/>
          </a:bodyPr>
          <a:lstStyle>
            <a:lvl1pPr lvl="0"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1pPr>
            <a:lvl2pPr lvl="1"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2pPr>
            <a:lvl3pPr lvl="2"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3pPr>
            <a:lvl4pPr lvl="3"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4pPr>
            <a:lvl5pPr lvl="4"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5pPr>
            <a:lvl6pPr lvl="5"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6pPr>
            <a:lvl7pPr lvl="6"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7pPr>
            <a:lvl8pPr lvl="7"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8pPr>
            <a:lvl9pPr lvl="8" rtl="0">
              <a:spcBef>
                <a:spcPts val="0"/>
              </a:spcBef>
              <a:spcAft>
                <a:spcPts val="0"/>
              </a:spcAft>
              <a:buClr>
                <a:schemeClr val="lt1"/>
              </a:buClr>
              <a:buSzPts val="3000"/>
              <a:buFont typeface="Instrument Sans SemiBold"/>
              <a:buNone/>
              <a:defRPr sz="3000" b="0">
                <a:solidFill>
                  <a:schemeClr val="lt1"/>
                </a:solidFill>
                <a:latin typeface="Instrument Sans SemiBold"/>
                <a:ea typeface="Instrument Sans SemiBold"/>
                <a:cs typeface="Instrument Sans SemiBold"/>
                <a:sym typeface="Instrument Sans SemiBold"/>
              </a:defRPr>
            </a:lvl9pPr>
          </a:lstStyle>
          <a:p>
            <a:endParaRPr/>
          </a:p>
        </p:txBody>
      </p:sp>
      <p:sp>
        <p:nvSpPr>
          <p:cNvPr id="84" name="Google Shape;84;p17"/>
          <p:cNvSpPr txBox="1">
            <a:spLocks noGrp="1"/>
          </p:cNvSpPr>
          <p:nvPr>
            <p:ph type="body" idx="1"/>
          </p:nvPr>
        </p:nvSpPr>
        <p:spPr>
          <a:xfrm>
            <a:off x="914400" y="7331250"/>
            <a:ext cx="3818100" cy="3787500"/>
          </a:xfrm>
          <a:prstGeom prst="rect">
            <a:avLst/>
          </a:prstGeom>
        </p:spPr>
        <p:txBody>
          <a:bodyPr spcFirstLastPara="1" wrap="square" lIns="0" tIns="0" rIns="0" bIns="0" anchor="t" anchorCtr="0">
            <a:spAutoFit/>
          </a:bodyPr>
          <a:lstStyle>
            <a:lvl1pPr marL="457200" lvl="0"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1pPr>
            <a:lvl2pPr marL="914400" lvl="1"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2pPr>
            <a:lvl3pPr marL="1371600" lvl="2"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3pPr>
            <a:lvl4pPr marL="1828800" lvl="3"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4pPr>
            <a:lvl5pPr marL="2286000" lvl="4"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5pPr>
            <a:lvl6pPr marL="2743200" lvl="5"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6pPr>
            <a:lvl7pPr marL="3200400" lvl="6"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7pPr>
            <a:lvl8pPr marL="3657600" lvl="7"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8pPr>
            <a:lvl9pPr marL="4114800" lvl="8"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9pPr>
          </a:lstStyle>
          <a:p>
            <a:endParaRPr/>
          </a:p>
        </p:txBody>
      </p:sp>
      <p:pic>
        <p:nvPicPr>
          <p:cNvPr id="85" name="Google Shape;85;p17"/>
          <p:cNvPicPr preferRelativeResize="0"/>
          <p:nvPr/>
        </p:nvPicPr>
        <p:blipFill>
          <a:blip r:embed="rId2">
            <a:alphaModFix/>
          </a:blip>
          <a:stretch>
            <a:fillRect/>
          </a:stretch>
        </p:blipFill>
        <p:spPr>
          <a:xfrm>
            <a:off x="17373602" y="9372600"/>
            <a:ext cx="457200" cy="231677"/>
          </a:xfrm>
          <a:prstGeom prst="rect">
            <a:avLst/>
          </a:prstGeom>
          <a:noFill/>
          <a:ln>
            <a:noFill/>
          </a:ln>
        </p:spPr>
      </p:pic>
      <p:sp>
        <p:nvSpPr>
          <p:cNvPr id="86" name="Google Shape;86;p17"/>
          <p:cNvSpPr txBox="1">
            <a:spLocks noGrp="1"/>
          </p:cNvSpPr>
          <p:nvPr>
            <p:ph type="body" idx="2"/>
          </p:nvPr>
        </p:nvSpPr>
        <p:spPr>
          <a:xfrm>
            <a:off x="5029200" y="7331250"/>
            <a:ext cx="3818100" cy="3787500"/>
          </a:xfrm>
          <a:prstGeom prst="rect">
            <a:avLst/>
          </a:prstGeom>
        </p:spPr>
        <p:txBody>
          <a:bodyPr spcFirstLastPara="1" wrap="square" lIns="0" tIns="0" rIns="0" bIns="0" anchor="t" anchorCtr="0">
            <a:spAutoFit/>
          </a:bodyPr>
          <a:lstStyle>
            <a:lvl1pPr marL="457200" lvl="0"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1pPr>
            <a:lvl2pPr marL="914400" lvl="1"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2pPr>
            <a:lvl3pPr marL="1371600" lvl="2"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3pPr>
            <a:lvl4pPr marL="1828800" lvl="3"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4pPr>
            <a:lvl5pPr marL="2286000" lvl="4"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5pPr>
            <a:lvl6pPr marL="2743200" lvl="5"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6pPr>
            <a:lvl7pPr marL="3200400" lvl="6"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7pPr>
            <a:lvl8pPr marL="3657600" lvl="7"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8pPr>
            <a:lvl9pPr marL="4114800" lvl="8"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9pPr>
          </a:lstStyle>
          <a:p>
            <a:endParaRPr/>
          </a:p>
        </p:txBody>
      </p:sp>
      <p:sp>
        <p:nvSpPr>
          <p:cNvPr id="87" name="Google Shape;87;p17"/>
          <p:cNvSpPr txBox="1">
            <a:spLocks noGrp="1"/>
          </p:cNvSpPr>
          <p:nvPr>
            <p:ph type="body" idx="3"/>
          </p:nvPr>
        </p:nvSpPr>
        <p:spPr>
          <a:xfrm>
            <a:off x="9144000" y="7331250"/>
            <a:ext cx="3818100" cy="3787500"/>
          </a:xfrm>
          <a:prstGeom prst="rect">
            <a:avLst/>
          </a:prstGeom>
        </p:spPr>
        <p:txBody>
          <a:bodyPr spcFirstLastPara="1" wrap="square" lIns="0" tIns="0" rIns="0" bIns="0" anchor="t" anchorCtr="0">
            <a:spAutoFit/>
          </a:bodyPr>
          <a:lstStyle>
            <a:lvl1pPr marL="457200" lvl="0"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1pPr>
            <a:lvl2pPr marL="914400" lvl="1"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2pPr>
            <a:lvl3pPr marL="1371600" lvl="2"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3pPr>
            <a:lvl4pPr marL="1828800" lvl="3"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4pPr>
            <a:lvl5pPr marL="2286000" lvl="4"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5pPr>
            <a:lvl6pPr marL="2743200" lvl="5"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6pPr>
            <a:lvl7pPr marL="3200400" lvl="6"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7pPr>
            <a:lvl8pPr marL="3657600" lvl="7"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8pPr>
            <a:lvl9pPr marL="4114800" lvl="8"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9pPr>
          </a:lstStyle>
          <a:p>
            <a:endParaRPr/>
          </a:p>
        </p:txBody>
      </p:sp>
      <p:sp>
        <p:nvSpPr>
          <p:cNvPr id="88" name="Google Shape;88;p17"/>
          <p:cNvSpPr txBox="1">
            <a:spLocks noGrp="1"/>
          </p:cNvSpPr>
          <p:nvPr>
            <p:ph type="body" idx="4"/>
          </p:nvPr>
        </p:nvSpPr>
        <p:spPr>
          <a:xfrm>
            <a:off x="13258800" y="7331250"/>
            <a:ext cx="3818100" cy="3787500"/>
          </a:xfrm>
          <a:prstGeom prst="rect">
            <a:avLst/>
          </a:prstGeom>
        </p:spPr>
        <p:txBody>
          <a:bodyPr spcFirstLastPara="1" wrap="square" lIns="0" tIns="0" rIns="0" bIns="0" anchor="t" anchorCtr="0">
            <a:spAutoFit/>
          </a:bodyPr>
          <a:lstStyle>
            <a:lvl1pPr marL="457200" lvl="0"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1pPr>
            <a:lvl2pPr marL="914400" lvl="1"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2pPr>
            <a:lvl3pPr marL="1371600" lvl="2"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3pPr>
            <a:lvl4pPr marL="1828800" lvl="3"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4pPr>
            <a:lvl5pPr marL="2286000" lvl="4"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5pPr>
            <a:lvl6pPr marL="2743200" lvl="5"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6pPr>
            <a:lvl7pPr marL="3200400" lvl="6"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7pPr>
            <a:lvl8pPr marL="3657600" lvl="7"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8pPr>
            <a:lvl9pPr marL="4114800" lvl="8" indent="-342900" rtl="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9pPr>
          </a:lstStyle>
          <a:p>
            <a:endParaRPr/>
          </a:p>
        </p:txBody>
      </p:sp>
    </p:spTree>
    <p:extLst>
      <p:ext uri="{BB962C8B-B14F-4D97-AF65-F5344CB8AC3E}">
        <p14:creationId xmlns:p14="http://schemas.microsoft.com/office/powerpoint/2010/main" val="18403214"/>
      </p:ext>
    </p:extLst>
  </p:cSld>
  <p:clrMapOvr>
    <a:masterClrMapping/>
  </p:clrMapOvr>
  <p:extLst>
    <p:ext uri="{DCECCB84-F9BA-43D5-87BE-67443E8EF086}">
      <p15:sldGuideLst xmlns:p15="http://schemas.microsoft.com/office/powerpoint/2012/main">
        <p15:guide id="1" pos="3168">
          <p15:clr>
            <a:srgbClr val="E46962"/>
          </p15:clr>
        </p15:guide>
        <p15:guide id="2" pos="5760">
          <p15:clr>
            <a:srgbClr val="E46962"/>
          </p15:clr>
        </p15:guide>
        <p15:guide id="3" pos="8352">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Footer and Right Image">
  <p:cSld name="Footer and Right Image">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914400" y="914400"/>
            <a:ext cx="8046900" cy="499800"/>
          </a:xfrm>
          <a:prstGeom prst="rect">
            <a:avLst/>
          </a:prstGeom>
        </p:spPr>
        <p:txBody>
          <a:bodyPr spcFirstLastPara="1" wrap="square" lIns="0" tIns="0" rIns="0" bIns="0" anchor="t" anchorCtr="0">
            <a:spAutoFit/>
          </a:bodyPr>
          <a:lstStyle>
            <a:lvl1pPr lvl="0" rtl="0">
              <a:spcBef>
                <a:spcPts val="0"/>
              </a:spcBef>
              <a:spcAft>
                <a:spcPts val="0"/>
              </a:spcAft>
              <a:buSzPts val="3000"/>
              <a:buNone/>
              <a:defRPr b="1"/>
            </a:lvl1pPr>
            <a:lvl2pPr lvl="1" rtl="0">
              <a:spcBef>
                <a:spcPts val="0"/>
              </a:spcBef>
              <a:spcAft>
                <a:spcPts val="0"/>
              </a:spcAft>
              <a:buSzPts val="2200"/>
              <a:buNone/>
              <a:defRPr sz="2200" b="1"/>
            </a:lvl2pPr>
            <a:lvl3pPr lvl="2" rtl="0">
              <a:spcBef>
                <a:spcPts val="0"/>
              </a:spcBef>
              <a:spcAft>
                <a:spcPts val="0"/>
              </a:spcAft>
              <a:buSzPts val="2200"/>
              <a:buNone/>
              <a:defRPr sz="2200" b="1"/>
            </a:lvl3pPr>
            <a:lvl4pPr lvl="3" rtl="0">
              <a:spcBef>
                <a:spcPts val="0"/>
              </a:spcBef>
              <a:spcAft>
                <a:spcPts val="0"/>
              </a:spcAft>
              <a:buSzPts val="2200"/>
              <a:buNone/>
              <a:defRPr sz="2200" b="1"/>
            </a:lvl4pPr>
            <a:lvl5pPr lvl="4" rtl="0">
              <a:spcBef>
                <a:spcPts val="0"/>
              </a:spcBef>
              <a:spcAft>
                <a:spcPts val="0"/>
              </a:spcAft>
              <a:buSzPts val="2200"/>
              <a:buNone/>
              <a:defRPr sz="2200" b="1"/>
            </a:lvl5pPr>
            <a:lvl6pPr lvl="5" rtl="0">
              <a:spcBef>
                <a:spcPts val="0"/>
              </a:spcBef>
              <a:spcAft>
                <a:spcPts val="0"/>
              </a:spcAft>
              <a:buSzPts val="2200"/>
              <a:buNone/>
              <a:defRPr sz="2200" b="1"/>
            </a:lvl6pPr>
            <a:lvl7pPr lvl="6" rtl="0">
              <a:spcBef>
                <a:spcPts val="0"/>
              </a:spcBef>
              <a:spcAft>
                <a:spcPts val="0"/>
              </a:spcAft>
              <a:buSzPts val="2200"/>
              <a:buNone/>
              <a:defRPr sz="2200" b="1"/>
            </a:lvl7pPr>
            <a:lvl8pPr lvl="7" rtl="0">
              <a:spcBef>
                <a:spcPts val="0"/>
              </a:spcBef>
              <a:spcAft>
                <a:spcPts val="0"/>
              </a:spcAft>
              <a:buSzPts val="2200"/>
              <a:buNone/>
              <a:defRPr sz="2200" b="1"/>
            </a:lvl8pPr>
            <a:lvl9pPr lvl="8" rtl="0">
              <a:spcBef>
                <a:spcPts val="0"/>
              </a:spcBef>
              <a:spcAft>
                <a:spcPts val="0"/>
              </a:spcAft>
              <a:buSzPts val="2200"/>
              <a:buNone/>
              <a:defRPr sz="2200" b="1"/>
            </a:lvl9pPr>
          </a:lstStyle>
          <a:p>
            <a:endParaRPr/>
          </a:p>
        </p:txBody>
      </p:sp>
      <p:sp>
        <p:nvSpPr>
          <p:cNvPr id="30" name="Google Shape;30;p7"/>
          <p:cNvSpPr txBox="1">
            <a:spLocks noGrp="1"/>
          </p:cNvSpPr>
          <p:nvPr>
            <p:ph type="body" idx="1"/>
          </p:nvPr>
        </p:nvSpPr>
        <p:spPr>
          <a:xfrm>
            <a:off x="904200" y="9040725"/>
            <a:ext cx="8067300" cy="6044100"/>
          </a:xfrm>
          <a:prstGeom prst="rect">
            <a:avLst/>
          </a:prstGeom>
        </p:spPr>
        <p:txBody>
          <a:bodyPr spcFirstLastPara="1" wrap="square" lIns="0" tIns="0" rIns="0" bIns="0" anchor="t" anchorCtr="0">
            <a:spAutoFit/>
          </a:bodyPr>
          <a:lstStyle>
            <a:lvl1pPr marL="457200" lvl="0" indent="-355600" rtl="0">
              <a:lnSpc>
                <a:spcPct val="100000"/>
              </a:lnSpc>
              <a:spcBef>
                <a:spcPts val="0"/>
              </a:spcBef>
              <a:spcAft>
                <a:spcPts val="0"/>
              </a:spcAft>
              <a:buSzPts val="2000"/>
              <a:buFont typeface="Instrument Sans"/>
              <a:buChar char="●"/>
              <a:defRPr sz="2000">
                <a:latin typeface="Instrument Sans"/>
                <a:ea typeface="Instrument Sans"/>
                <a:cs typeface="Instrument Sans"/>
                <a:sym typeface="Instrument Sans"/>
              </a:defRPr>
            </a:lvl1pPr>
            <a:lvl2pPr marL="914400" lvl="1" indent="-355600" rtl="0">
              <a:lnSpc>
                <a:spcPct val="100000"/>
              </a:lnSpc>
              <a:spcBef>
                <a:spcPts val="0"/>
              </a:spcBef>
              <a:spcAft>
                <a:spcPts val="0"/>
              </a:spcAft>
              <a:buSzPts val="2000"/>
              <a:buFont typeface="Instrument Sans"/>
              <a:buChar char="○"/>
              <a:defRPr sz="2000">
                <a:latin typeface="Instrument Sans"/>
                <a:ea typeface="Instrument Sans"/>
                <a:cs typeface="Instrument Sans"/>
                <a:sym typeface="Instrument Sans"/>
              </a:defRPr>
            </a:lvl2pPr>
            <a:lvl3pPr marL="1371600" lvl="2" indent="-355600" rtl="0">
              <a:lnSpc>
                <a:spcPct val="100000"/>
              </a:lnSpc>
              <a:spcBef>
                <a:spcPts val="0"/>
              </a:spcBef>
              <a:spcAft>
                <a:spcPts val="0"/>
              </a:spcAft>
              <a:buSzPts val="2000"/>
              <a:buFont typeface="Instrument Sans"/>
              <a:buChar char="■"/>
              <a:defRPr sz="2000">
                <a:latin typeface="Instrument Sans"/>
                <a:ea typeface="Instrument Sans"/>
                <a:cs typeface="Instrument Sans"/>
                <a:sym typeface="Instrument Sans"/>
              </a:defRPr>
            </a:lvl3pPr>
            <a:lvl4pPr marL="1828800" lvl="3" indent="-355600" rtl="0">
              <a:lnSpc>
                <a:spcPct val="100000"/>
              </a:lnSpc>
              <a:spcBef>
                <a:spcPts val="0"/>
              </a:spcBef>
              <a:spcAft>
                <a:spcPts val="0"/>
              </a:spcAft>
              <a:buSzPts val="2000"/>
              <a:buFont typeface="Instrument Sans"/>
              <a:buChar char="●"/>
              <a:defRPr sz="2000">
                <a:latin typeface="Instrument Sans"/>
                <a:ea typeface="Instrument Sans"/>
                <a:cs typeface="Instrument Sans"/>
                <a:sym typeface="Instrument Sans"/>
              </a:defRPr>
            </a:lvl4pPr>
            <a:lvl5pPr marL="2286000" lvl="4" indent="-355600" rtl="0">
              <a:lnSpc>
                <a:spcPct val="100000"/>
              </a:lnSpc>
              <a:spcBef>
                <a:spcPts val="0"/>
              </a:spcBef>
              <a:spcAft>
                <a:spcPts val="0"/>
              </a:spcAft>
              <a:buSzPts val="2000"/>
              <a:buFont typeface="Instrument Sans"/>
              <a:buChar char="○"/>
              <a:defRPr sz="2000">
                <a:latin typeface="Instrument Sans"/>
                <a:ea typeface="Instrument Sans"/>
                <a:cs typeface="Instrument Sans"/>
                <a:sym typeface="Instrument Sans"/>
              </a:defRPr>
            </a:lvl5pPr>
            <a:lvl6pPr marL="2743200" lvl="5" indent="-355600" rtl="0">
              <a:lnSpc>
                <a:spcPct val="100000"/>
              </a:lnSpc>
              <a:spcBef>
                <a:spcPts val="0"/>
              </a:spcBef>
              <a:spcAft>
                <a:spcPts val="0"/>
              </a:spcAft>
              <a:buSzPts val="2000"/>
              <a:buFont typeface="Instrument Sans"/>
              <a:buChar char="■"/>
              <a:defRPr sz="2000">
                <a:latin typeface="Instrument Sans"/>
                <a:ea typeface="Instrument Sans"/>
                <a:cs typeface="Instrument Sans"/>
                <a:sym typeface="Instrument Sans"/>
              </a:defRPr>
            </a:lvl6pPr>
            <a:lvl7pPr marL="3200400" lvl="6" indent="-355600" rtl="0">
              <a:lnSpc>
                <a:spcPct val="100000"/>
              </a:lnSpc>
              <a:spcBef>
                <a:spcPts val="0"/>
              </a:spcBef>
              <a:spcAft>
                <a:spcPts val="0"/>
              </a:spcAft>
              <a:buSzPts val="2000"/>
              <a:buFont typeface="Instrument Sans"/>
              <a:buChar char="●"/>
              <a:defRPr sz="2000">
                <a:latin typeface="Instrument Sans"/>
                <a:ea typeface="Instrument Sans"/>
                <a:cs typeface="Instrument Sans"/>
                <a:sym typeface="Instrument Sans"/>
              </a:defRPr>
            </a:lvl7pPr>
            <a:lvl8pPr marL="3657600" lvl="7" indent="-355600" rtl="0">
              <a:lnSpc>
                <a:spcPct val="100000"/>
              </a:lnSpc>
              <a:spcBef>
                <a:spcPts val="0"/>
              </a:spcBef>
              <a:spcAft>
                <a:spcPts val="0"/>
              </a:spcAft>
              <a:buSzPts val="2000"/>
              <a:buFont typeface="Instrument Sans"/>
              <a:buChar char="○"/>
              <a:defRPr sz="2000">
                <a:latin typeface="Instrument Sans"/>
                <a:ea typeface="Instrument Sans"/>
                <a:cs typeface="Instrument Sans"/>
                <a:sym typeface="Instrument Sans"/>
              </a:defRPr>
            </a:lvl8pPr>
            <a:lvl9pPr marL="4114800" lvl="8" indent="-355600" rtl="0">
              <a:lnSpc>
                <a:spcPct val="100000"/>
              </a:lnSpc>
              <a:spcBef>
                <a:spcPts val="0"/>
              </a:spcBef>
              <a:spcAft>
                <a:spcPts val="0"/>
              </a:spcAft>
              <a:buSzPts val="2000"/>
              <a:buFont typeface="Instrument Sans"/>
              <a:buChar char="■"/>
              <a:defRPr sz="2000">
                <a:latin typeface="Instrument Sans"/>
                <a:ea typeface="Instrument Sans"/>
                <a:cs typeface="Instrument Sans"/>
                <a:sym typeface="Instrument Sans"/>
              </a:defRPr>
            </a:lvl9pPr>
          </a:lstStyle>
          <a:p>
            <a:endParaRPr/>
          </a:p>
        </p:txBody>
      </p:sp>
      <p:sp>
        <p:nvSpPr>
          <p:cNvPr id="31" name="Google Shape;31;p7"/>
          <p:cNvSpPr>
            <a:spLocks noGrp="1"/>
          </p:cNvSpPr>
          <p:nvPr>
            <p:ph type="pic" idx="2"/>
          </p:nvPr>
        </p:nvSpPr>
        <p:spPr>
          <a:xfrm>
            <a:off x="9319500" y="0"/>
            <a:ext cx="8968500" cy="10287000"/>
          </a:xfrm>
          <a:prstGeom prst="rect">
            <a:avLst/>
          </a:prstGeom>
          <a:noFill/>
          <a:ln>
            <a:noFill/>
          </a:ln>
        </p:spPr>
        <p:txBody>
          <a:bodyPr/>
          <a:lstStyle/>
          <a:p>
            <a:endParaRPr lang="en-US"/>
          </a:p>
        </p:txBody>
      </p:sp>
    </p:spTree>
    <p:extLst>
      <p:ext uri="{BB962C8B-B14F-4D97-AF65-F5344CB8AC3E}">
        <p14:creationId xmlns:p14="http://schemas.microsoft.com/office/powerpoint/2010/main" val="3458963127"/>
      </p:ext>
    </p:extLst>
  </p:cSld>
  <p:clrMapOvr>
    <a:masterClrMapping/>
  </p:clrMapOvr>
  <p:extLst>
    <p:ext uri="{DCECCB84-F9BA-43D5-87BE-67443E8EF086}">
      <p15:sldGuideLst xmlns:p15="http://schemas.microsoft.com/office/powerpoint/2012/main">
        <p15:guide id="1" pos="5649">
          <p15:clr>
            <a:srgbClr val="E46962"/>
          </p15:clr>
        </p15:guide>
        <p15:guide id="2" pos="5871">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623416" y="1489150"/>
            <a:ext cx="17041200" cy="41052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10400"/>
            </a:lvl1pPr>
            <a:lvl2pPr lvl="1" algn="ctr">
              <a:spcBef>
                <a:spcPts val="0"/>
              </a:spcBef>
              <a:spcAft>
                <a:spcPts val="0"/>
              </a:spcAft>
              <a:buSzPts val="5200"/>
              <a:buNone/>
              <a:defRPr sz="10400"/>
            </a:lvl2pPr>
            <a:lvl3pPr lvl="2" algn="ctr">
              <a:spcBef>
                <a:spcPts val="0"/>
              </a:spcBef>
              <a:spcAft>
                <a:spcPts val="0"/>
              </a:spcAft>
              <a:buSzPts val="5200"/>
              <a:buNone/>
              <a:defRPr sz="10400"/>
            </a:lvl3pPr>
            <a:lvl4pPr lvl="3" algn="ctr">
              <a:spcBef>
                <a:spcPts val="0"/>
              </a:spcBef>
              <a:spcAft>
                <a:spcPts val="0"/>
              </a:spcAft>
              <a:buSzPts val="5200"/>
              <a:buNone/>
              <a:defRPr sz="10400"/>
            </a:lvl4pPr>
            <a:lvl5pPr lvl="4" algn="ctr">
              <a:spcBef>
                <a:spcPts val="0"/>
              </a:spcBef>
              <a:spcAft>
                <a:spcPts val="0"/>
              </a:spcAft>
              <a:buSzPts val="5200"/>
              <a:buNone/>
              <a:defRPr sz="10400"/>
            </a:lvl5pPr>
            <a:lvl6pPr lvl="5" algn="ctr">
              <a:spcBef>
                <a:spcPts val="0"/>
              </a:spcBef>
              <a:spcAft>
                <a:spcPts val="0"/>
              </a:spcAft>
              <a:buSzPts val="5200"/>
              <a:buNone/>
              <a:defRPr sz="10400"/>
            </a:lvl6pPr>
            <a:lvl7pPr lvl="6" algn="ctr">
              <a:spcBef>
                <a:spcPts val="0"/>
              </a:spcBef>
              <a:spcAft>
                <a:spcPts val="0"/>
              </a:spcAft>
              <a:buSzPts val="5200"/>
              <a:buNone/>
              <a:defRPr sz="10400"/>
            </a:lvl7pPr>
            <a:lvl8pPr lvl="7" algn="ctr">
              <a:spcBef>
                <a:spcPts val="0"/>
              </a:spcBef>
              <a:spcAft>
                <a:spcPts val="0"/>
              </a:spcAft>
              <a:buSzPts val="5200"/>
              <a:buNone/>
              <a:defRPr sz="10400"/>
            </a:lvl8pPr>
            <a:lvl9pPr lvl="8" algn="ctr">
              <a:spcBef>
                <a:spcPts val="0"/>
              </a:spcBef>
              <a:spcAft>
                <a:spcPts val="0"/>
              </a:spcAft>
              <a:buSzPts val="5200"/>
              <a:buNone/>
              <a:defRPr sz="10400"/>
            </a:lvl9pPr>
          </a:lstStyle>
          <a:p>
            <a:endParaRPr/>
          </a:p>
        </p:txBody>
      </p:sp>
      <p:sp>
        <p:nvSpPr>
          <p:cNvPr id="11" name="Google Shape;11;p2"/>
          <p:cNvSpPr txBox="1">
            <a:spLocks noGrp="1"/>
          </p:cNvSpPr>
          <p:nvPr>
            <p:ph type="subTitle" idx="1"/>
          </p:nvPr>
        </p:nvSpPr>
        <p:spPr>
          <a:xfrm>
            <a:off x="623400" y="5668250"/>
            <a:ext cx="17041200" cy="15852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5600"/>
            </a:lvl1pPr>
            <a:lvl2pPr lvl="1" algn="ctr">
              <a:lnSpc>
                <a:spcPct val="100000"/>
              </a:lnSpc>
              <a:spcBef>
                <a:spcPts val="0"/>
              </a:spcBef>
              <a:spcAft>
                <a:spcPts val="0"/>
              </a:spcAft>
              <a:buSzPts val="2800"/>
              <a:buNone/>
              <a:defRPr sz="5600"/>
            </a:lvl2pPr>
            <a:lvl3pPr lvl="2" algn="ctr">
              <a:lnSpc>
                <a:spcPct val="100000"/>
              </a:lnSpc>
              <a:spcBef>
                <a:spcPts val="0"/>
              </a:spcBef>
              <a:spcAft>
                <a:spcPts val="0"/>
              </a:spcAft>
              <a:buSzPts val="2800"/>
              <a:buNone/>
              <a:defRPr sz="5600"/>
            </a:lvl3pPr>
            <a:lvl4pPr lvl="3" algn="ctr">
              <a:lnSpc>
                <a:spcPct val="100000"/>
              </a:lnSpc>
              <a:spcBef>
                <a:spcPts val="0"/>
              </a:spcBef>
              <a:spcAft>
                <a:spcPts val="0"/>
              </a:spcAft>
              <a:buSzPts val="2800"/>
              <a:buNone/>
              <a:defRPr sz="5600"/>
            </a:lvl4pPr>
            <a:lvl5pPr lvl="4" algn="ctr">
              <a:lnSpc>
                <a:spcPct val="100000"/>
              </a:lnSpc>
              <a:spcBef>
                <a:spcPts val="0"/>
              </a:spcBef>
              <a:spcAft>
                <a:spcPts val="0"/>
              </a:spcAft>
              <a:buSzPts val="2800"/>
              <a:buNone/>
              <a:defRPr sz="5600"/>
            </a:lvl5pPr>
            <a:lvl6pPr lvl="5" algn="ctr">
              <a:lnSpc>
                <a:spcPct val="100000"/>
              </a:lnSpc>
              <a:spcBef>
                <a:spcPts val="0"/>
              </a:spcBef>
              <a:spcAft>
                <a:spcPts val="0"/>
              </a:spcAft>
              <a:buSzPts val="2800"/>
              <a:buNone/>
              <a:defRPr sz="5600"/>
            </a:lvl6pPr>
            <a:lvl7pPr lvl="6" algn="ctr">
              <a:lnSpc>
                <a:spcPct val="100000"/>
              </a:lnSpc>
              <a:spcBef>
                <a:spcPts val="0"/>
              </a:spcBef>
              <a:spcAft>
                <a:spcPts val="0"/>
              </a:spcAft>
              <a:buSzPts val="2800"/>
              <a:buNone/>
              <a:defRPr sz="5600"/>
            </a:lvl7pPr>
            <a:lvl8pPr lvl="7" algn="ctr">
              <a:lnSpc>
                <a:spcPct val="100000"/>
              </a:lnSpc>
              <a:spcBef>
                <a:spcPts val="0"/>
              </a:spcBef>
              <a:spcAft>
                <a:spcPts val="0"/>
              </a:spcAft>
              <a:buSzPts val="2800"/>
              <a:buNone/>
              <a:defRPr sz="5600"/>
            </a:lvl8pPr>
            <a:lvl9pPr lvl="8" algn="ctr">
              <a:lnSpc>
                <a:spcPct val="100000"/>
              </a:lnSpc>
              <a:spcBef>
                <a:spcPts val="0"/>
              </a:spcBef>
              <a:spcAft>
                <a:spcPts val="0"/>
              </a:spcAft>
              <a:buSzPts val="2800"/>
              <a:buNone/>
              <a:defRPr sz="5600"/>
            </a:lvl9pPr>
          </a:lstStyle>
          <a:p>
            <a:endParaRPr/>
          </a:p>
        </p:txBody>
      </p:sp>
      <p:sp>
        <p:nvSpPr>
          <p:cNvPr id="12" name="Google Shape;12;p2"/>
          <p:cNvSpPr txBox="1">
            <a:spLocks noGrp="1"/>
          </p:cNvSpPr>
          <p:nvPr>
            <p:ph type="sldNum" idx="12"/>
          </p:nvPr>
        </p:nvSpPr>
        <p:spPr>
          <a:xfrm>
            <a:off x="16944916" y="9326434"/>
            <a:ext cx="1097400" cy="787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68938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623400" y="4301700"/>
            <a:ext cx="17041200" cy="16836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7200"/>
            </a:lvl1pPr>
            <a:lvl2pPr lvl="1" algn="ctr">
              <a:spcBef>
                <a:spcPts val="0"/>
              </a:spcBef>
              <a:spcAft>
                <a:spcPts val="0"/>
              </a:spcAft>
              <a:buSzPts val="3600"/>
              <a:buNone/>
              <a:defRPr sz="7200"/>
            </a:lvl2pPr>
            <a:lvl3pPr lvl="2" algn="ctr">
              <a:spcBef>
                <a:spcPts val="0"/>
              </a:spcBef>
              <a:spcAft>
                <a:spcPts val="0"/>
              </a:spcAft>
              <a:buSzPts val="3600"/>
              <a:buNone/>
              <a:defRPr sz="7200"/>
            </a:lvl3pPr>
            <a:lvl4pPr lvl="3" algn="ctr">
              <a:spcBef>
                <a:spcPts val="0"/>
              </a:spcBef>
              <a:spcAft>
                <a:spcPts val="0"/>
              </a:spcAft>
              <a:buSzPts val="3600"/>
              <a:buNone/>
              <a:defRPr sz="7200"/>
            </a:lvl4pPr>
            <a:lvl5pPr lvl="4" algn="ctr">
              <a:spcBef>
                <a:spcPts val="0"/>
              </a:spcBef>
              <a:spcAft>
                <a:spcPts val="0"/>
              </a:spcAft>
              <a:buSzPts val="3600"/>
              <a:buNone/>
              <a:defRPr sz="7200"/>
            </a:lvl5pPr>
            <a:lvl6pPr lvl="5" algn="ctr">
              <a:spcBef>
                <a:spcPts val="0"/>
              </a:spcBef>
              <a:spcAft>
                <a:spcPts val="0"/>
              </a:spcAft>
              <a:buSzPts val="3600"/>
              <a:buNone/>
              <a:defRPr sz="7200"/>
            </a:lvl6pPr>
            <a:lvl7pPr lvl="6" algn="ctr">
              <a:spcBef>
                <a:spcPts val="0"/>
              </a:spcBef>
              <a:spcAft>
                <a:spcPts val="0"/>
              </a:spcAft>
              <a:buSzPts val="3600"/>
              <a:buNone/>
              <a:defRPr sz="7200"/>
            </a:lvl7pPr>
            <a:lvl8pPr lvl="7" algn="ctr">
              <a:spcBef>
                <a:spcPts val="0"/>
              </a:spcBef>
              <a:spcAft>
                <a:spcPts val="0"/>
              </a:spcAft>
              <a:buSzPts val="3600"/>
              <a:buNone/>
              <a:defRPr sz="7200"/>
            </a:lvl8pPr>
            <a:lvl9pPr lvl="8" algn="ctr">
              <a:spcBef>
                <a:spcPts val="0"/>
              </a:spcBef>
              <a:spcAft>
                <a:spcPts val="0"/>
              </a:spcAft>
              <a:buSzPts val="3600"/>
              <a:buNone/>
              <a:defRPr sz="7200"/>
            </a:lvl9pPr>
          </a:lstStyle>
          <a:p>
            <a:endParaRPr/>
          </a:p>
        </p:txBody>
      </p:sp>
      <p:sp>
        <p:nvSpPr>
          <p:cNvPr id="15" name="Google Shape;15;p3"/>
          <p:cNvSpPr txBox="1">
            <a:spLocks noGrp="1"/>
          </p:cNvSpPr>
          <p:nvPr>
            <p:ph type="sldNum" idx="12"/>
          </p:nvPr>
        </p:nvSpPr>
        <p:spPr>
          <a:xfrm>
            <a:off x="16944916" y="9326434"/>
            <a:ext cx="1097400" cy="787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159936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623400" y="890050"/>
            <a:ext cx="17041200" cy="11454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623400" y="2304950"/>
            <a:ext cx="17041200" cy="6832800"/>
          </a:xfrm>
          <a:prstGeom prst="rect">
            <a:avLst/>
          </a:prstGeom>
        </p:spPr>
        <p:txBody>
          <a:bodyPr spcFirstLastPara="1" wrap="square" lIns="91425" tIns="91425" rIns="91425" bIns="91425" anchor="t" anchorCtr="0">
            <a:normAutofit/>
          </a:bodyPr>
          <a:lstStyle>
            <a:lvl1pPr marL="914400" lvl="0" indent="-685800">
              <a:spcBef>
                <a:spcPts val="0"/>
              </a:spcBef>
              <a:spcAft>
                <a:spcPts val="0"/>
              </a:spcAft>
              <a:buSzPts val="1800"/>
              <a:buChar char="●"/>
              <a:defRPr/>
            </a:lvl1pPr>
            <a:lvl2pPr marL="1828800" lvl="1" indent="-635000">
              <a:spcBef>
                <a:spcPts val="0"/>
              </a:spcBef>
              <a:spcAft>
                <a:spcPts val="0"/>
              </a:spcAft>
              <a:buSzPts val="1400"/>
              <a:buChar char="○"/>
              <a:defRPr/>
            </a:lvl2pPr>
            <a:lvl3pPr marL="2743200" lvl="2" indent="-635000">
              <a:spcBef>
                <a:spcPts val="0"/>
              </a:spcBef>
              <a:spcAft>
                <a:spcPts val="0"/>
              </a:spcAft>
              <a:buSzPts val="1400"/>
              <a:buChar char="■"/>
              <a:defRPr/>
            </a:lvl3pPr>
            <a:lvl4pPr marL="3657600" lvl="3" indent="-635000">
              <a:spcBef>
                <a:spcPts val="0"/>
              </a:spcBef>
              <a:spcAft>
                <a:spcPts val="0"/>
              </a:spcAft>
              <a:buSzPts val="1400"/>
              <a:buChar char="●"/>
              <a:defRPr/>
            </a:lvl4pPr>
            <a:lvl5pPr marL="4572000" lvl="4" indent="-635000">
              <a:spcBef>
                <a:spcPts val="0"/>
              </a:spcBef>
              <a:spcAft>
                <a:spcPts val="0"/>
              </a:spcAft>
              <a:buSzPts val="1400"/>
              <a:buChar char="○"/>
              <a:defRPr/>
            </a:lvl5pPr>
            <a:lvl6pPr marL="5486400" lvl="5" indent="-635000">
              <a:spcBef>
                <a:spcPts val="0"/>
              </a:spcBef>
              <a:spcAft>
                <a:spcPts val="0"/>
              </a:spcAft>
              <a:buSzPts val="1400"/>
              <a:buChar char="■"/>
              <a:defRPr/>
            </a:lvl6pPr>
            <a:lvl7pPr marL="6400800" lvl="6" indent="-635000">
              <a:spcBef>
                <a:spcPts val="0"/>
              </a:spcBef>
              <a:spcAft>
                <a:spcPts val="0"/>
              </a:spcAft>
              <a:buSzPts val="1400"/>
              <a:buChar char="●"/>
              <a:defRPr/>
            </a:lvl7pPr>
            <a:lvl8pPr marL="7315200" lvl="7" indent="-635000">
              <a:spcBef>
                <a:spcPts val="0"/>
              </a:spcBef>
              <a:spcAft>
                <a:spcPts val="0"/>
              </a:spcAft>
              <a:buSzPts val="1400"/>
              <a:buChar char="○"/>
              <a:defRPr/>
            </a:lvl8pPr>
            <a:lvl9pPr marL="8229600" lvl="8" indent="-6350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6944916" y="9326434"/>
            <a:ext cx="1097400" cy="787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99594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623400" y="890050"/>
            <a:ext cx="17041200" cy="11454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623400" y="2304950"/>
            <a:ext cx="7999800" cy="6832800"/>
          </a:xfrm>
          <a:prstGeom prst="rect">
            <a:avLst/>
          </a:prstGeom>
        </p:spPr>
        <p:txBody>
          <a:bodyPr spcFirstLastPara="1" wrap="square" lIns="91425" tIns="91425" rIns="91425" bIns="91425" anchor="t" anchorCtr="0">
            <a:normAutofit/>
          </a:bodyPr>
          <a:lstStyle>
            <a:lvl1pPr marL="914400" lvl="0" indent="-635000">
              <a:spcBef>
                <a:spcPts val="0"/>
              </a:spcBef>
              <a:spcAft>
                <a:spcPts val="0"/>
              </a:spcAft>
              <a:buSzPts val="1400"/>
              <a:buChar char="●"/>
              <a:defRPr sz="2800"/>
            </a:lvl1pPr>
            <a:lvl2pPr marL="1828800" lvl="1" indent="-609600">
              <a:spcBef>
                <a:spcPts val="0"/>
              </a:spcBef>
              <a:spcAft>
                <a:spcPts val="0"/>
              </a:spcAft>
              <a:buSzPts val="1200"/>
              <a:buChar char="○"/>
              <a:defRPr sz="2400"/>
            </a:lvl2pPr>
            <a:lvl3pPr marL="2743200" lvl="2" indent="-609600">
              <a:spcBef>
                <a:spcPts val="0"/>
              </a:spcBef>
              <a:spcAft>
                <a:spcPts val="0"/>
              </a:spcAft>
              <a:buSzPts val="1200"/>
              <a:buChar char="■"/>
              <a:defRPr sz="2400"/>
            </a:lvl3pPr>
            <a:lvl4pPr marL="3657600" lvl="3" indent="-609600">
              <a:spcBef>
                <a:spcPts val="0"/>
              </a:spcBef>
              <a:spcAft>
                <a:spcPts val="0"/>
              </a:spcAft>
              <a:buSzPts val="1200"/>
              <a:buChar char="●"/>
              <a:defRPr sz="2400"/>
            </a:lvl4pPr>
            <a:lvl5pPr marL="4572000" lvl="4" indent="-609600">
              <a:spcBef>
                <a:spcPts val="0"/>
              </a:spcBef>
              <a:spcAft>
                <a:spcPts val="0"/>
              </a:spcAft>
              <a:buSzPts val="1200"/>
              <a:buChar char="○"/>
              <a:defRPr sz="2400"/>
            </a:lvl5pPr>
            <a:lvl6pPr marL="5486400" lvl="5" indent="-609600">
              <a:spcBef>
                <a:spcPts val="0"/>
              </a:spcBef>
              <a:spcAft>
                <a:spcPts val="0"/>
              </a:spcAft>
              <a:buSzPts val="1200"/>
              <a:buChar char="■"/>
              <a:defRPr sz="2400"/>
            </a:lvl6pPr>
            <a:lvl7pPr marL="6400800" lvl="6" indent="-609600">
              <a:spcBef>
                <a:spcPts val="0"/>
              </a:spcBef>
              <a:spcAft>
                <a:spcPts val="0"/>
              </a:spcAft>
              <a:buSzPts val="1200"/>
              <a:buChar char="●"/>
              <a:defRPr sz="2400"/>
            </a:lvl7pPr>
            <a:lvl8pPr marL="7315200" lvl="7" indent="-609600">
              <a:spcBef>
                <a:spcPts val="0"/>
              </a:spcBef>
              <a:spcAft>
                <a:spcPts val="0"/>
              </a:spcAft>
              <a:buSzPts val="1200"/>
              <a:buChar char="○"/>
              <a:defRPr sz="2400"/>
            </a:lvl8pPr>
            <a:lvl9pPr marL="8229600" lvl="8" indent="-609600">
              <a:spcBef>
                <a:spcPts val="0"/>
              </a:spcBef>
              <a:spcAft>
                <a:spcPts val="0"/>
              </a:spcAft>
              <a:buSzPts val="1200"/>
              <a:buChar char="■"/>
              <a:defRPr sz="2400"/>
            </a:lvl9pPr>
          </a:lstStyle>
          <a:p>
            <a:endParaRPr/>
          </a:p>
        </p:txBody>
      </p:sp>
      <p:sp>
        <p:nvSpPr>
          <p:cNvPr id="23" name="Google Shape;23;p5"/>
          <p:cNvSpPr txBox="1">
            <a:spLocks noGrp="1"/>
          </p:cNvSpPr>
          <p:nvPr>
            <p:ph type="body" idx="2"/>
          </p:nvPr>
        </p:nvSpPr>
        <p:spPr>
          <a:xfrm>
            <a:off x="9664800" y="2304950"/>
            <a:ext cx="7999800" cy="6832800"/>
          </a:xfrm>
          <a:prstGeom prst="rect">
            <a:avLst/>
          </a:prstGeom>
        </p:spPr>
        <p:txBody>
          <a:bodyPr spcFirstLastPara="1" wrap="square" lIns="91425" tIns="91425" rIns="91425" bIns="91425" anchor="t" anchorCtr="0">
            <a:normAutofit/>
          </a:bodyPr>
          <a:lstStyle>
            <a:lvl1pPr marL="914400" lvl="0" indent="-635000">
              <a:spcBef>
                <a:spcPts val="0"/>
              </a:spcBef>
              <a:spcAft>
                <a:spcPts val="0"/>
              </a:spcAft>
              <a:buSzPts val="1400"/>
              <a:buChar char="●"/>
              <a:defRPr sz="2800"/>
            </a:lvl1pPr>
            <a:lvl2pPr marL="1828800" lvl="1" indent="-609600">
              <a:spcBef>
                <a:spcPts val="0"/>
              </a:spcBef>
              <a:spcAft>
                <a:spcPts val="0"/>
              </a:spcAft>
              <a:buSzPts val="1200"/>
              <a:buChar char="○"/>
              <a:defRPr sz="2400"/>
            </a:lvl2pPr>
            <a:lvl3pPr marL="2743200" lvl="2" indent="-609600">
              <a:spcBef>
                <a:spcPts val="0"/>
              </a:spcBef>
              <a:spcAft>
                <a:spcPts val="0"/>
              </a:spcAft>
              <a:buSzPts val="1200"/>
              <a:buChar char="■"/>
              <a:defRPr sz="2400"/>
            </a:lvl3pPr>
            <a:lvl4pPr marL="3657600" lvl="3" indent="-609600">
              <a:spcBef>
                <a:spcPts val="0"/>
              </a:spcBef>
              <a:spcAft>
                <a:spcPts val="0"/>
              </a:spcAft>
              <a:buSzPts val="1200"/>
              <a:buChar char="●"/>
              <a:defRPr sz="2400"/>
            </a:lvl4pPr>
            <a:lvl5pPr marL="4572000" lvl="4" indent="-609600">
              <a:spcBef>
                <a:spcPts val="0"/>
              </a:spcBef>
              <a:spcAft>
                <a:spcPts val="0"/>
              </a:spcAft>
              <a:buSzPts val="1200"/>
              <a:buChar char="○"/>
              <a:defRPr sz="2400"/>
            </a:lvl5pPr>
            <a:lvl6pPr marL="5486400" lvl="5" indent="-609600">
              <a:spcBef>
                <a:spcPts val="0"/>
              </a:spcBef>
              <a:spcAft>
                <a:spcPts val="0"/>
              </a:spcAft>
              <a:buSzPts val="1200"/>
              <a:buChar char="■"/>
              <a:defRPr sz="2400"/>
            </a:lvl6pPr>
            <a:lvl7pPr marL="6400800" lvl="6" indent="-609600">
              <a:spcBef>
                <a:spcPts val="0"/>
              </a:spcBef>
              <a:spcAft>
                <a:spcPts val="0"/>
              </a:spcAft>
              <a:buSzPts val="1200"/>
              <a:buChar char="●"/>
              <a:defRPr sz="2400"/>
            </a:lvl7pPr>
            <a:lvl8pPr marL="7315200" lvl="7" indent="-609600">
              <a:spcBef>
                <a:spcPts val="0"/>
              </a:spcBef>
              <a:spcAft>
                <a:spcPts val="0"/>
              </a:spcAft>
              <a:buSzPts val="1200"/>
              <a:buChar char="○"/>
              <a:defRPr sz="2400"/>
            </a:lvl8pPr>
            <a:lvl9pPr marL="8229600" lvl="8" indent="-609600">
              <a:spcBef>
                <a:spcPts val="0"/>
              </a:spcBef>
              <a:spcAft>
                <a:spcPts val="0"/>
              </a:spcAft>
              <a:buSzPts val="1200"/>
              <a:buChar char="■"/>
              <a:defRPr sz="2400"/>
            </a:lvl9pPr>
          </a:lstStyle>
          <a:p>
            <a:endParaRPr/>
          </a:p>
        </p:txBody>
      </p:sp>
      <p:sp>
        <p:nvSpPr>
          <p:cNvPr id="24" name="Google Shape;24;p5"/>
          <p:cNvSpPr txBox="1">
            <a:spLocks noGrp="1"/>
          </p:cNvSpPr>
          <p:nvPr>
            <p:ph type="sldNum" idx="12"/>
          </p:nvPr>
        </p:nvSpPr>
        <p:spPr>
          <a:xfrm>
            <a:off x="16944916" y="9326434"/>
            <a:ext cx="1097400" cy="787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26483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623400" y="890050"/>
            <a:ext cx="17041200" cy="11454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6944916" y="9326434"/>
            <a:ext cx="1097400" cy="787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02915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623400" y="1111200"/>
            <a:ext cx="5616000" cy="15114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4800"/>
            </a:lvl1pPr>
            <a:lvl2pPr lvl="1">
              <a:spcBef>
                <a:spcPts val="0"/>
              </a:spcBef>
              <a:spcAft>
                <a:spcPts val="0"/>
              </a:spcAft>
              <a:buSzPts val="2400"/>
              <a:buNone/>
              <a:defRPr sz="4800"/>
            </a:lvl2pPr>
            <a:lvl3pPr lvl="2">
              <a:spcBef>
                <a:spcPts val="0"/>
              </a:spcBef>
              <a:spcAft>
                <a:spcPts val="0"/>
              </a:spcAft>
              <a:buSzPts val="2400"/>
              <a:buNone/>
              <a:defRPr sz="4800"/>
            </a:lvl3pPr>
            <a:lvl4pPr lvl="3">
              <a:spcBef>
                <a:spcPts val="0"/>
              </a:spcBef>
              <a:spcAft>
                <a:spcPts val="0"/>
              </a:spcAft>
              <a:buSzPts val="2400"/>
              <a:buNone/>
              <a:defRPr sz="4800"/>
            </a:lvl4pPr>
            <a:lvl5pPr lvl="4">
              <a:spcBef>
                <a:spcPts val="0"/>
              </a:spcBef>
              <a:spcAft>
                <a:spcPts val="0"/>
              </a:spcAft>
              <a:buSzPts val="2400"/>
              <a:buNone/>
              <a:defRPr sz="4800"/>
            </a:lvl5pPr>
            <a:lvl6pPr lvl="5">
              <a:spcBef>
                <a:spcPts val="0"/>
              </a:spcBef>
              <a:spcAft>
                <a:spcPts val="0"/>
              </a:spcAft>
              <a:buSzPts val="2400"/>
              <a:buNone/>
              <a:defRPr sz="4800"/>
            </a:lvl6pPr>
            <a:lvl7pPr lvl="6">
              <a:spcBef>
                <a:spcPts val="0"/>
              </a:spcBef>
              <a:spcAft>
                <a:spcPts val="0"/>
              </a:spcAft>
              <a:buSzPts val="2400"/>
              <a:buNone/>
              <a:defRPr sz="4800"/>
            </a:lvl7pPr>
            <a:lvl8pPr lvl="7">
              <a:spcBef>
                <a:spcPts val="0"/>
              </a:spcBef>
              <a:spcAft>
                <a:spcPts val="0"/>
              </a:spcAft>
              <a:buSzPts val="2400"/>
              <a:buNone/>
              <a:defRPr sz="4800"/>
            </a:lvl8pPr>
            <a:lvl9pPr lvl="8">
              <a:spcBef>
                <a:spcPts val="0"/>
              </a:spcBef>
              <a:spcAft>
                <a:spcPts val="0"/>
              </a:spcAft>
              <a:buSzPts val="2400"/>
              <a:buNone/>
              <a:defRPr sz="4800"/>
            </a:lvl9pPr>
          </a:lstStyle>
          <a:p>
            <a:endParaRPr/>
          </a:p>
        </p:txBody>
      </p:sp>
      <p:sp>
        <p:nvSpPr>
          <p:cNvPr id="30" name="Google Shape;30;p7"/>
          <p:cNvSpPr txBox="1">
            <a:spLocks noGrp="1"/>
          </p:cNvSpPr>
          <p:nvPr>
            <p:ph type="body" idx="1"/>
          </p:nvPr>
        </p:nvSpPr>
        <p:spPr>
          <a:xfrm>
            <a:off x="623400" y="2779200"/>
            <a:ext cx="5616000" cy="6358800"/>
          </a:xfrm>
          <a:prstGeom prst="rect">
            <a:avLst/>
          </a:prstGeom>
        </p:spPr>
        <p:txBody>
          <a:bodyPr spcFirstLastPara="1" wrap="square" lIns="91425" tIns="91425" rIns="91425" bIns="91425" anchor="t" anchorCtr="0">
            <a:normAutofit/>
          </a:bodyPr>
          <a:lstStyle>
            <a:lvl1pPr marL="914400" lvl="0" indent="-609600">
              <a:spcBef>
                <a:spcPts val="0"/>
              </a:spcBef>
              <a:spcAft>
                <a:spcPts val="0"/>
              </a:spcAft>
              <a:buSzPts val="1200"/>
              <a:buChar char="●"/>
              <a:defRPr sz="2400"/>
            </a:lvl1pPr>
            <a:lvl2pPr marL="1828800" lvl="1" indent="-609600">
              <a:spcBef>
                <a:spcPts val="0"/>
              </a:spcBef>
              <a:spcAft>
                <a:spcPts val="0"/>
              </a:spcAft>
              <a:buSzPts val="1200"/>
              <a:buChar char="○"/>
              <a:defRPr sz="2400"/>
            </a:lvl2pPr>
            <a:lvl3pPr marL="2743200" lvl="2" indent="-609600">
              <a:spcBef>
                <a:spcPts val="0"/>
              </a:spcBef>
              <a:spcAft>
                <a:spcPts val="0"/>
              </a:spcAft>
              <a:buSzPts val="1200"/>
              <a:buChar char="■"/>
              <a:defRPr sz="2400"/>
            </a:lvl3pPr>
            <a:lvl4pPr marL="3657600" lvl="3" indent="-609600">
              <a:spcBef>
                <a:spcPts val="0"/>
              </a:spcBef>
              <a:spcAft>
                <a:spcPts val="0"/>
              </a:spcAft>
              <a:buSzPts val="1200"/>
              <a:buChar char="●"/>
              <a:defRPr sz="2400"/>
            </a:lvl4pPr>
            <a:lvl5pPr marL="4572000" lvl="4" indent="-609600">
              <a:spcBef>
                <a:spcPts val="0"/>
              </a:spcBef>
              <a:spcAft>
                <a:spcPts val="0"/>
              </a:spcAft>
              <a:buSzPts val="1200"/>
              <a:buChar char="○"/>
              <a:defRPr sz="2400"/>
            </a:lvl5pPr>
            <a:lvl6pPr marL="5486400" lvl="5" indent="-609600">
              <a:spcBef>
                <a:spcPts val="0"/>
              </a:spcBef>
              <a:spcAft>
                <a:spcPts val="0"/>
              </a:spcAft>
              <a:buSzPts val="1200"/>
              <a:buChar char="■"/>
              <a:defRPr sz="2400"/>
            </a:lvl6pPr>
            <a:lvl7pPr marL="6400800" lvl="6" indent="-609600">
              <a:spcBef>
                <a:spcPts val="0"/>
              </a:spcBef>
              <a:spcAft>
                <a:spcPts val="0"/>
              </a:spcAft>
              <a:buSzPts val="1200"/>
              <a:buChar char="●"/>
              <a:defRPr sz="2400"/>
            </a:lvl7pPr>
            <a:lvl8pPr marL="7315200" lvl="7" indent="-609600">
              <a:spcBef>
                <a:spcPts val="0"/>
              </a:spcBef>
              <a:spcAft>
                <a:spcPts val="0"/>
              </a:spcAft>
              <a:buSzPts val="1200"/>
              <a:buChar char="○"/>
              <a:defRPr sz="2400"/>
            </a:lvl8pPr>
            <a:lvl9pPr marL="8229600" lvl="8" indent="-609600">
              <a:spcBef>
                <a:spcPts val="0"/>
              </a:spcBef>
              <a:spcAft>
                <a:spcPts val="0"/>
              </a:spcAft>
              <a:buSzPts val="1200"/>
              <a:buChar char="■"/>
              <a:defRPr sz="2400"/>
            </a:lvl9pPr>
          </a:lstStyle>
          <a:p>
            <a:endParaRPr/>
          </a:p>
        </p:txBody>
      </p:sp>
      <p:sp>
        <p:nvSpPr>
          <p:cNvPr id="31" name="Google Shape;31;p7"/>
          <p:cNvSpPr txBox="1">
            <a:spLocks noGrp="1"/>
          </p:cNvSpPr>
          <p:nvPr>
            <p:ph type="sldNum" idx="12"/>
          </p:nvPr>
        </p:nvSpPr>
        <p:spPr>
          <a:xfrm>
            <a:off x="16944916" y="9326434"/>
            <a:ext cx="1097400" cy="787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89296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980500" y="900300"/>
            <a:ext cx="12735600" cy="81816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9600"/>
            </a:lvl1pPr>
            <a:lvl2pPr lvl="1">
              <a:spcBef>
                <a:spcPts val="0"/>
              </a:spcBef>
              <a:spcAft>
                <a:spcPts val="0"/>
              </a:spcAft>
              <a:buSzPts val="4800"/>
              <a:buNone/>
              <a:defRPr sz="9600"/>
            </a:lvl2pPr>
            <a:lvl3pPr lvl="2">
              <a:spcBef>
                <a:spcPts val="0"/>
              </a:spcBef>
              <a:spcAft>
                <a:spcPts val="0"/>
              </a:spcAft>
              <a:buSzPts val="4800"/>
              <a:buNone/>
              <a:defRPr sz="9600"/>
            </a:lvl3pPr>
            <a:lvl4pPr lvl="3">
              <a:spcBef>
                <a:spcPts val="0"/>
              </a:spcBef>
              <a:spcAft>
                <a:spcPts val="0"/>
              </a:spcAft>
              <a:buSzPts val="4800"/>
              <a:buNone/>
              <a:defRPr sz="9600"/>
            </a:lvl4pPr>
            <a:lvl5pPr lvl="4">
              <a:spcBef>
                <a:spcPts val="0"/>
              </a:spcBef>
              <a:spcAft>
                <a:spcPts val="0"/>
              </a:spcAft>
              <a:buSzPts val="4800"/>
              <a:buNone/>
              <a:defRPr sz="9600"/>
            </a:lvl5pPr>
            <a:lvl6pPr lvl="5">
              <a:spcBef>
                <a:spcPts val="0"/>
              </a:spcBef>
              <a:spcAft>
                <a:spcPts val="0"/>
              </a:spcAft>
              <a:buSzPts val="4800"/>
              <a:buNone/>
              <a:defRPr sz="9600"/>
            </a:lvl6pPr>
            <a:lvl7pPr lvl="6">
              <a:spcBef>
                <a:spcPts val="0"/>
              </a:spcBef>
              <a:spcAft>
                <a:spcPts val="0"/>
              </a:spcAft>
              <a:buSzPts val="4800"/>
              <a:buNone/>
              <a:defRPr sz="9600"/>
            </a:lvl7pPr>
            <a:lvl8pPr lvl="7">
              <a:spcBef>
                <a:spcPts val="0"/>
              </a:spcBef>
              <a:spcAft>
                <a:spcPts val="0"/>
              </a:spcAft>
              <a:buSzPts val="4800"/>
              <a:buNone/>
              <a:defRPr sz="9600"/>
            </a:lvl8pPr>
            <a:lvl9pPr lvl="8">
              <a:spcBef>
                <a:spcPts val="0"/>
              </a:spcBef>
              <a:spcAft>
                <a:spcPts val="0"/>
              </a:spcAft>
              <a:buSzPts val="4800"/>
              <a:buNone/>
              <a:defRPr sz="9600"/>
            </a:lvl9pPr>
          </a:lstStyle>
          <a:p>
            <a:endParaRPr/>
          </a:p>
        </p:txBody>
      </p:sp>
      <p:sp>
        <p:nvSpPr>
          <p:cNvPr id="34" name="Google Shape;34;p8"/>
          <p:cNvSpPr txBox="1">
            <a:spLocks noGrp="1"/>
          </p:cNvSpPr>
          <p:nvPr>
            <p:ph type="sldNum" idx="12"/>
          </p:nvPr>
        </p:nvSpPr>
        <p:spPr>
          <a:xfrm>
            <a:off x="16944916" y="9326434"/>
            <a:ext cx="1097400" cy="787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9734640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9144000" y="50"/>
            <a:ext cx="9144000" cy="10287000"/>
          </a:xfrm>
          <a:prstGeom prst="rect">
            <a:avLst/>
          </a:prstGeom>
          <a:solidFill>
            <a:schemeClr val="dk2"/>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sz="2800"/>
          </a:p>
        </p:txBody>
      </p:sp>
      <p:sp>
        <p:nvSpPr>
          <p:cNvPr id="37" name="Google Shape;37;p9"/>
          <p:cNvSpPr txBox="1">
            <a:spLocks noGrp="1"/>
          </p:cNvSpPr>
          <p:nvPr>
            <p:ph type="title"/>
          </p:nvPr>
        </p:nvSpPr>
        <p:spPr>
          <a:xfrm>
            <a:off x="531000" y="2466350"/>
            <a:ext cx="8090400" cy="2964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8400"/>
            </a:lvl1pPr>
            <a:lvl2pPr lvl="1" algn="ctr">
              <a:spcBef>
                <a:spcPts val="0"/>
              </a:spcBef>
              <a:spcAft>
                <a:spcPts val="0"/>
              </a:spcAft>
              <a:buSzPts val="4200"/>
              <a:buNone/>
              <a:defRPr sz="8400"/>
            </a:lvl2pPr>
            <a:lvl3pPr lvl="2" algn="ctr">
              <a:spcBef>
                <a:spcPts val="0"/>
              </a:spcBef>
              <a:spcAft>
                <a:spcPts val="0"/>
              </a:spcAft>
              <a:buSzPts val="4200"/>
              <a:buNone/>
              <a:defRPr sz="8400"/>
            </a:lvl3pPr>
            <a:lvl4pPr lvl="3" algn="ctr">
              <a:spcBef>
                <a:spcPts val="0"/>
              </a:spcBef>
              <a:spcAft>
                <a:spcPts val="0"/>
              </a:spcAft>
              <a:buSzPts val="4200"/>
              <a:buNone/>
              <a:defRPr sz="8400"/>
            </a:lvl4pPr>
            <a:lvl5pPr lvl="4" algn="ctr">
              <a:spcBef>
                <a:spcPts val="0"/>
              </a:spcBef>
              <a:spcAft>
                <a:spcPts val="0"/>
              </a:spcAft>
              <a:buSzPts val="4200"/>
              <a:buNone/>
              <a:defRPr sz="8400"/>
            </a:lvl5pPr>
            <a:lvl6pPr lvl="5" algn="ctr">
              <a:spcBef>
                <a:spcPts val="0"/>
              </a:spcBef>
              <a:spcAft>
                <a:spcPts val="0"/>
              </a:spcAft>
              <a:buSzPts val="4200"/>
              <a:buNone/>
              <a:defRPr sz="8400"/>
            </a:lvl6pPr>
            <a:lvl7pPr lvl="6" algn="ctr">
              <a:spcBef>
                <a:spcPts val="0"/>
              </a:spcBef>
              <a:spcAft>
                <a:spcPts val="0"/>
              </a:spcAft>
              <a:buSzPts val="4200"/>
              <a:buNone/>
              <a:defRPr sz="8400"/>
            </a:lvl7pPr>
            <a:lvl8pPr lvl="7" algn="ctr">
              <a:spcBef>
                <a:spcPts val="0"/>
              </a:spcBef>
              <a:spcAft>
                <a:spcPts val="0"/>
              </a:spcAft>
              <a:buSzPts val="4200"/>
              <a:buNone/>
              <a:defRPr sz="8400"/>
            </a:lvl8pPr>
            <a:lvl9pPr lvl="8" algn="ctr">
              <a:spcBef>
                <a:spcPts val="0"/>
              </a:spcBef>
              <a:spcAft>
                <a:spcPts val="0"/>
              </a:spcAft>
              <a:buSzPts val="4200"/>
              <a:buNone/>
              <a:defRPr sz="8400"/>
            </a:lvl9pPr>
          </a:lstStyle>
          <a:p>
            <a:endParaRPr/>
          </a:p>
        </p:txBody>
      </p:sp>
      <p:sp>
        <p:nvSpPr>
          <p:cNvPr id="38" name="Google Shape;38;p9"/>
          <p:cNvSpPr txBox="1">
            <a:spLocks noGrp="1"/>
          </p:cNvSpPr>
          <p:nvPr>
            <p:ph type="subTitle" idx="1"/>
          </p:nvPr>
        </p:nvSpPr>
        <p:spPr>
          <a:xfrm>
            <a:off x="531000" y="5606150"/>
            <a:ext cx="8090400" cy="24702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4200"/>
            </a:lvl1pPr>
            <a:lvl2pPr lvl="1" algn="ctr">
              <a:lnSpc>
                <a:spcPct val="100000"/>
              </a:lnSpc>
              <a:spcBef>
                <a:spcPts val="0"/>
              </a:spcBef>
              <a:spcAft>
                <a:spcPts val="0"/>
              </a:spcAft>
              <a:buSzPts val="2100"/>
              <a:buNone/>
              <a:defRPr sz="4200"/>
            </a:lvl2pPr>
            <a:lvl3pPr lvl="2" algn="ctr">
              <a:lnSpc>
                <a:spcPct val="100000"/>
              </a:lnSpc>
              <a:spcBef>
                <a:spcPts val="0"/>
              </a:spcBef>
              <a:spcAft>
                <a:spcPts val="0"/>
              </a:spcAft>
              <a:buSzPts val="2100"/>
              <a:buNone/>
              <a:defRPr sz="4200"/>
            </a:lvl3pPr>
            <a:lvl4pPr lvl="3" algn="ctr">
              <a:lnSpc>
                <a:spcPct val="100000"/>
              </a:lnSpc>
              <a:spcBef>
                <a:spcPts val="0"/>
              </a:spcBef>
              <a:spcAft>
                <a:spcPts val="0"/>
              </a:spcAft>
              <a:buSzPts val="2100"/>
              <a:buNone/>
              <a:defRPr sz="4200"/>
            </a:lvl4pPr>
            <a:lvl5pPr lvl="4" algn="ctr">
              <a:lnSpc>
                <a:spcPct val="100000"/>
              </a:lnSpc>
              <a:spcBef>
                <a:spcPts val="0"/>
              </a:spcBef>
              <a:spcAft>
                <a:spcPts val="0"/>
              </a:spcAft>
              <a:buSzPts val="2100"/>
              <a:buNone/>
              <a:defRPr sz="4200"/>
            </a:lvl5pPr>
            <a:lvl6pPr lvl="5" algn="ctr">
              <a:lnSpc>
                <a:spcPct val="100000"/>
              </a:lnSpc>
              <a:spcBef>
                <a:spcPts val="0"/>
              </a:spcBef>
              <a:spcAft>
                <a:spcPts val="0"/>
              </a:spcAft>
              <a:buSzPts val="2100"/>
              <a:buNone/>
              <a:defRPr sz="4200"/>
            </a:lvl6pPr>
            <a:lvl7pPr lvl="6" algn="ctr">
              <a:lnSpc>
                <a:spcPct val="100000"/>
              </a:lnSpc>
              <a:spcBef>
                <a:spcPts val="0"/>
              </a:spcBef>
              <a:spcAft>
                <a:spcPts val="0"/>
              </a:spcAft>
              <a:buSzPts val="2100"/>
              <a:buNone/>
              <a:defRPr sz="4200"/>
            </a:lvl7pPr>
            <a:lvl8pPr lvl="7" algn="ctr">
              <a:lnSpc>
                <a:spcPct val="100000"/>
              </a:lnSpc>
              <a:spcBef>
                <a:spcPts val="0"/>
              </a:spcBef>
              <a:spcAft>
                <a:spcPts val="0"/>
              </a:spcAft>
              <a:buSzPts val="2100"/>
              <a:buNone/>
              <a:defRPr sz="4200"/>
            </a:lvl8pPr>
            <a:lvl9pPr lvl="8" algn="ctr">
              <a:lnSpc>
                <a:spcPct val="100000"/>
              </a:lnSpc>
              <a:spcBef>
                <a:spcPts val="0"/>
              </a:spcBef>
              <a:spcAft>
                <a:spcPts val="0"/>
              </a:spcAft>
              <a:buSzPts val="2100"/>
              <a:buNone/>
              <a:defRPr sz="4200"/>
            </a:lvl9pPr>
          </a:lstStyle>
          <a:p>
            <a:endParaRPr/>
          </a:p>
        </p:txBody>
      </p:sp>
      <p:sp>
        <p:nvSpPr>
          <p:cNvPr id="39" name="Google Shape;39;p9"/>
          <p:cNvSpPr txBox="1">
            <a:spLocks noGrp="1"/>
          </p:cNvSpPr>
          <p:nvPr>
            <p:ph type="body" idx="2"/>
          </p:nvPr>
        </p:nvSpPr>
        <p:spPr>
          <a:xfrm>
            <a:off x="9879000" y="1448400"/>
            <a:ext cx="7674000" cy="7390200"/>
          </a:xfrm>
          <a:prstGeom prst="rect">
            <a:avLst/>
          </a:prstGeom>
        </p:spPr>
        <p:txBody>
          <a:bodyPr spcFirstLastPara="1" wrap="square" lIns="91425" tIns="91425" rIns="91425" bIns="91425" anchor="ctr" anchorCtr="0">
            <a:normAutofit/>
          </a:bodyPr>
          <a:lstStyle>
            <a:lvl1pPr marL="914400" lvl="0" indent="-685800">
              <a:spcBef>
                <a:spcPts val="0"/>
              </a:spcBef>
              <a:spcAft>
                <a:spcPts val="0"/>
              </a:spcAft>
              <a:buClr>
                <a:schemeClr val="dk1"/>
              </a:buClr>
              <a:buSzPts val="1800"/>
              <a:buChar char="●"/>
              <a:defRPr>
                <a:solidFill>
                  <a:schemeClr val="dk1"/>
                </a:solidFill>
              </a:defRPr>
            </a:lvl1pPr>
            <a:lvl2pPr marL="1828800" lvl="1" indent="-635000">
              <a:spcBef>
                <a:spcPts val="0"/>
              </a:spcBef>
              <a:spcAft>
                <a:spcPts val="0"/>
              </a:spcAft>
              <a:buClr>
                <a:schemeClr val="dk1"/>
              </a:buClr>
              <a:buSzPts val="1400"/>
              <a:buChar char="○"/>
              <a:defRPr>
                <a:solidFill>
                  <a:schemeClr val="dk1"/>
                </a:solidFill>
              </a:defRPr>
            </a:lvl2pPr>
            <a:lvl3pPr marL="2743200" lvl="2" indent="-635000">
              <a:spcBef>
                <a:spcPts val="0"/>
              </a:spcBef>
              <a:spcAft>
                <a:spcPts val="0"/>
              </a:spcAft>
              <a:buClr>
                <a:schemeClr val="dk1"/>
              </a:buClr>
              <a:buSzPts val="1400"/>
              <a:buChar char="■"/>
              <a:defRPr>
                <a:solidFill>
                  <a:schemeClr val="dk1"/>
                </a:solidFill>
              </a:defRPr>
            </a:lvl3pPr>
            <a:lvl4pPr marL="3657600" lvl="3" indent="-635000">
              <a:spcBef>
                <a:spcPts val="0"/>
              </a:spcBef>
              <a:spcAft>
                <a:spcPts val="0"/>
              </a:spcAft>
              <a:buClr>
                <a:schemeClr val="dk1"/>
              </a:buClr>
              <a:buSzPts val="1400"/>
              <a:buChar char="●"/>
              <a:defRPr>
                <a:solidFill>
                  <a:schemeClr val="dk1"/>
                </a:solidFill>
              </a:defRPr>
            </a:lvl4pPr>
            <a:lvl5pPr marL="4572000" lvl="4" indent="-635000">
              <a:spcBef>
                <a:spcPts val="0"/>
              </a:spcBef>
              <a:spcAft>
                <a:spcPts val="0"/>
              </a:spcAft>
              <a:buClr>
                <a:schemeClr val="dk1"/>
              </a:buClr>
              <a:buSzPts val="1400"/>
              <a:buChar char="○"/>
              <a:defRPr>
                <a:solidFill>
                  <a:schemeClr val="dk1"/>
                </a:solidFill>
              </a:defRPr>
            </a:lvl5pPr>
            <a:lvl6pPr marL="5486400" lvl="5" indent="-635000">
              <a:spcBef>
                <a:spcPts val="0"/>
              </a:spcBef>
              <a:spcAft>
                <a:spcPts val="0"/>
              </a:spcAft>
              <a:buClr>
                <a:schemeClr val="dk1"/>
              </a:buClr>
              <a:buSzPts val="1400"/>
              <a:buChar char="■"/>
              <a:defRPr>
                <a:solidFill>
                  <a:schemeClr val="dk1"/>
                </a:solidFill>
              </a:defRPr>
            </a:lvl6pPr>
            <a:lvl7pPr marL="6400800" lvl="6" indent="-635000">
              <a:spcBef>
                <a:spcPts val="0"/>
              </a:spcBef>
              <a:spcAft>
                <a:spcPts val="0"/>
              </a:spcAft>
              <a:buClr>
                <a:schemeClr val="dk1"/>
              </a:buClr>
              <a:buSzPts val="1400"/>
              <a:buChar char="●"/>
              <a:defRPr>
                <a:solidFill>
                  <a:schemeClr val="dk1"/>
                </a:solidFill>
              </a:defRPr>
            </a:lvl7pPr>
            <a:lvl8pPr marL="7315200" lvl="7" indent="-635000">
              <a:spcBef>
                <a:spcPts val="0"/>
              </a:spcBef>
              <a:spcAft>
                <a:spcPts val="0"/>
              </a:spcAft>
              <a:buClr>
                <a:schemeClr val="dk1"/>
              </a:buClr>
              <a:buSzPts val="1400"/>
              <a:buChar char="○"/>
              <a:defRPr>
                <a:solidFill>
                  <a:schemeClr val="dk1"/>
                </a:solidFill>
              </a:defRPr>
            </a:lvl8pPr>
            <a:lvl9pPr marL="8229600" lvl="8" indent="-635000">
              <a:spcBef>
                <a:spcPts val="0"/>
              </a:spcBef>
              <a:spcAft>
                <a:spcPts val="0"/>
              </a:spcAft>
              <a:buClr>
                <a:schemeClr val="dk1"/>
              </a:buClr>
              <a:buSzPts val="1400"/>
              <a:buChar char="■"/>
              <a:defRPr>
                <a:solidFill>
                  <a:schemeClr val="dk1"/>
                </a:solidFill>
              </a:defRPr>
            </a:lvl9pPr>
          </a:lstStyle>
          <a:p>
            <a:endParaRPr/>
          </a:p>
        </p:txBody>
      </p:sp>
      <p:sp>
        <p:nvSpPr>
          <p:cNvPr id="40" name="Google Shape;40;p9"/>
          <p:cNvSpPr txBox="1">
            <a:spLocks noGrp="1"/>
          </p:cNvSpPr>
          <p:nvPr>
            <p:ph type="sldNum" idx="12"/>
          </p:nvPr>
        </p:nvSpPr>
        <p:spPr>
          <a:xfrm>
            <a:off x="16944916" y="9326434"/>
            <a:ext cx="1097400" cy="787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52769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623400" y="8461150"/>
            <a:ext cx="11997600" cy="1210200"/>
          </a:xfrm>
          <a:prstGeom prst="rect">
            <a:avLst/>
          </a:prstGeom>
        </p:spPr>
        <p:txBody>
          <a:bodyPr spcFirstLastPara="1" wrap="square" lIns="91425" tIns="91425" rIns="91425" bIns="91425" anchor="ctr" anchorCtr="0">
            <a:normAutofit/>
          </a:bodyPr>
          <a:lstStyle>
            <a:lvl1pPr marL="914400" lvl="0" indent="-4572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6944916" y="9326434"/>
            <a:ext cx="1097400" cy="787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0404889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623400" y="2212250"/>
            <a:ext cx="17041200" cy="3927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24000"/>
            </a:lvl1pPr>
            <a:lvl2pPr lvl="1" algn="ctr">
              <a:spcBef>
                <a:spcPts val="0"/>
              </a:spcBef>
              <a:spcAft>
                <a:spcPts val="0"/>
              </a:spcAft>
              <a:buSzPts val="12000"/>
              <a:buNone/>
              <a:defRPr sz="24000"/>
            </a:lvl2pPr>
            <a:lvl3pPr lvl="2" algn="ctr">
              <a:spcBef>
                <a:spcPts val="0"/>
              </a:spcBef>
              <a:spcAft>
                <a:spcPts val="0"/>
              </a:spcAft>
              <a:buSzPts val="12000"/>
              <a:buNone/>
              <a:defRPr sz="24000"/>
            </a:lvl3pPr>
            <a:lvl4pPr lvl="3" algn="ctr">
              <a:spcBef>
                <a:spcPts val="0"/>
              </a:spcBef>
              <a:spcAft>
                <a:spcPts val="0"/>
              </a:spcAft>
              <a:buSzPts val="12000"/>
              <a:buNone/>
              <a:defRPr sz="24000"/>
            </a:lvl4pPr>
            <a:lvl5pPr lvl="4" algn="ctr">
              <a:spcBef>
                <a:spcPts val="0"/>
              </a:spcBef>
              <a:spcAft>
                <a:spcPts val="0"/>
              </a:spcAft>
              <a:buSzPts val="12000"/>
              <a:buNone/>
              <a:defRPr sz="24000"/>
            </a:lvl5pPr>
            <a:lvl6pPr lvl="5" algn="ctr">
              <a:spcBef>
                <a:spcPts val="0"/>
              </a:spcBef>
              <a:spcAft>
                <a:spcPts val="0"/>
              </a:spcAft>
              <a:buSzPts val="12000"/>
              <a:buNone/>
              <a:defRPr sz="24000"/>
            </a:lvl6pPr>
            <a:lvl7pPr lvl="6" algn="ctr">
              <a:spcBef>
                <a:spcPts val="0"/>
              </a:spcBef>
              <a:spcAft>
                <a:spcPts val="0"/>
              </a:spcAft>
              <a:buSzPts val="12000"/>
              <a:buNone/>
              <a:defRPr sz="24000"/>
            </a:lvl7pPr>
            <a:lvl8pPr lvl="7" algn="ctr">
              <a:spcBef>
                <a:spcPts val="0"/>
              </a:spcBef>
              <a:spcAft>
                <a:spcPts val="0"/>
              </a:spcAft>
              <a:buSzPts val="12000"/>
              <a:buNone/>
              <a:defRPr sz="24000"/>
            </a:lvl8pPr>
            <a:lvl9pPr lvl="8" algn="ctr">
              <a:spcBef>
                <a:spcPts val="0"/>
              </a:spcBef>
              <a:spcAft>
                <a:spcPts val="0"/>
              </a:spcAft>
              <a:buSzPts val="12000"/>
              <a:buNone/>
              <a:defRPr sz="24000"/>
            </a:lvl9pPr>
          </a:lstStyle>
          <a:p>
            <a:r>
              <a:t>xx%</a:t>
            </a:r>
          </a:p>
        </p:txBody>
      </p:sp>
      <p:sp>
        <p:nvSpPr>
          <p:cNvPr id="46" name="Google Shape;46;p11"/>
          <p:cNvSpPr txBox="1">
            <a:spLocks noGrp="1"/>
          </p:cNvSpPr>
          <p:nvPr>
            <p:ph type="body" idx="1"/>
          </p:nvPr>
        </p:nvSpPr>
        <p:spPr>
          <a:xfrm>
            <a:off x="623400" y="6304450"/>
            <a:ext cx="17041200" cy="2601600"/>
          </a:xfrm>
          <a:prstGeom prst="rect">
            <a:avLst/>
          </a:prstGeom>
        </p:spPr>
        <p:txBody>
          <a:bodyPr spcFirstLastPara="1" wrap="square" lIns="91425" tIns="91425" rIns="91425" bIns="91425" anchor="t" anchorCtr="0">
            <a:normAutofit/>
          </a:bodyPr>
          <a:lstStyle>
            <a:lvl1pPr marL="914400" lvl="0" indent="-685800" algn="ctr">
              <a:spcBef>
                <a:spcPts val="0"/>
              </a:spcBef>
              <a:spcAft>
                <a:spcPts val="0"/>
              </a:spcAft>
              <a:buSzPts val="1800"/>
              <a:buChar char="●"/>
              <a:defRPr/>
            </a:lvl1pPr>
            <a:lvl2pPr marL="1828800" lvl="1" indent="-635000" algn="ctr">
              <a:spcBef>
                <a:spcPts val="0"/>
              </a:spcBef>
              <a:spcAft>
                <a:spcPts val="0"/>
              </a:spcAft>
              <a:buSzPts val="1400"/>
              <a:buChar char="○"/>
              <a:defRPr/>
            </a:lvl2pPr>
            <a:lvl3pPr marL="2743200" lvl="2" indent="-635000" algn="ctr">
              <a:spcBef>
                <a:spcPts val="0"/>
              </a:spcBef>
              <a:spcAft>
                <a:spcPts val="0"/>
              </a:spcAft>
              <a:buSzPts val="1400"/>
              <a:buChar char="■"/>
              <a:defRPr/>
            </a:lvl3pPr>
            <a:lvl4pPr marL="3657600" lvl="3" indent="-635000" algn="ctr">
              <a:spcBef>
                <a:spcPts val="0"/>
              </a:spcBef>
              <a:spcAft>
                <a:spcPts val="0"/>
              </a:spcAft>
              <a:buSzPts val="1400"/>
              <a:buChar char="●"/>
              <a:defRPr/>
            </a:lvl4pPr>
            <a:lvl5pPr marL="4572000" lvl="4" indent="-635000" algn="ctr">
              <a:spcBef>
                <a:spcPts val="0"/>
              </a:spcBef>
              <a:spcAft>
                <a:spcPts val="0"/>
              </a:spcAft>
              <a:buSzPts val="1400"/>
              <a:buChar char="○"/>
              <a:defRPr/>
            </a:lvl5pPr>
            <a:lvl6pPr marL="5486400" lvl="5" indent="-635000" algn="ctr">
              <a:spcBef>
                <a:spcPts val="0"/>
              </a:spcBef>
              <a:spcAft>
                <a:spcPts val="0"/>
              </a:spcAft>
              <a:buSzPts val="1400"/>
              <a:buChar char="■"/>
              <a:defRPr/>
            </a:lvl6pPr>
            <a:lvl7pPr marL="6400800" lvl="6" indent="-635000" algn="ctr">
              <a:spcBef>
                <a:spcPts val="0"/>
              </a:spcBef>
              <a:spcAft>
                <a:spcPts val="0"/>
              </a:spcAft>
              <a:buSzPts val="1400"/>
              <a:buChar char="●"/>
              <a:defRPr/>
            </a:lvl7pPr>
            <a:lvl8pPr marL="7315200" lvl="7" indent="-635000" algn="ctr">
              <a:spcBef>
                <a:spcPts val="0"/>
              </a:spcBef>
              <a:spcAft>
                <a:spcPts val="0"/>
              </a:spcAft>
              <a:buSzPts val="1400"/>
              <a:buChar char="○"/>
              <a:defRPr/>
            </a:lvl8pPr>
            <a:lvl9pPr marL="8229600" lvl="8" indent="-6350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6944916" y="9326434"/>
            <a:ext cx="1097400" cy="787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907302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6944916" y="9326434"/>
            <a:ext cx="1097400" cy="787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76571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act Page">
  <p:cSld name="Contact Page">
    <p:bg>
      <p:bgPr>
        <a:solidFill>
          <a:schemeClr val="dk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914400" y="914400"/>
            <a:ext cx="5326200" cy="6463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1500"/>
              <a:buFont typeface="Instrument Sans SemiBold"/>
              <a:buNone/>
              <a:defRPr sz="3000" b="0">
                <a:solidFill>
                  <a:schemeClr val="lt1"/>
                </a:solidFill>
                <a:latin typeface="Instrument Sans SemiBold"/>
                <a:ea typeface="Instrument Sans SemiBold"/>
                <a:cs typeface="Instrument Sans SemiBold"/>
                <a:sym typeface="Instrument Sans SemiBold"/>
              </a:defRPr>
            </a:lvl1pPr>
            <a:lvl2pPr lvl="1">
              <a:spcBef>
                <a:spcPts val="0"/>
              </a:spcBef>
              <a:spcAft>
                <a:spcPts val="0"/>
              </a:spcAft>
              <a:buClr>
                <a:schemeClr val="lt1"/>
              </a:buClr>
              <a:buSzPts val="1500"/>
              <a:buFont typeface="Instrument Sans SemiBold"/>
              <a:buNone/>
              <a:defRPr sz="3000" b="0">
                <a:solidFill>
                  <a:schemeClr val="lt1"/>
                </a:solidFill>
                <a:latin typeface="Instrument Sans SemiBold"/>
                <a:ea typeface="Instrument Sans SemiBold"/>
                <a:cs typeface="Instrument Sans SemiBold"/>
                <a:sym typeface="Instrument Sans SemiBold"/>
              </a:defRPr>
            </a:lvl2pPr>
            <a:lvl3pPr lvl="2">
              <a:spcBef>
                <a:spcPts val="0"/>
              </a:spcBef>
              <a:spcAft>
                <a:spcPts val="0"/>
              </a:spcAft>
              <a:buClr>
                <a:schemeClr val="lt1"/>
              </a:buClr>
              <a:buSzPts val="1500"/>
              <a:buFont typeface="Instrument Sans SemiBold"/>
              <a:buNone/>
              <a:defRPr sz="3000" b="0">
                <a:solidFill>
                  <a:schemeClr val="lt1"/>
                </a:solidFill>
                <a:latin typeface="Instrument Sans SemiBold"/>
                <a:ea typeface="Instrument Sans SemiBold"/>
                <a:cs typeface="Instrument Sans SemiBold"/>
                <a:sym typeface="Instrument Sans SemiBold"/>
              </a:defRPr>
            </a:lvl3pPr>
            <a:lvl4pPr lvl="3">
              <a:spcBef>
                <a:spcPts val="0"/>
              </a:spcBef>
              <a:spcAft>
                <a:spcPts val="0"/>
              </a:spcAft>
              <a:buClr>
                <a:schemeClr val="lt1"/>
              </a:buClr>
              <a:buSzPts val="1500"/>
              <a:buFont typeface="Instrument Sans SemiBold"/>
              <a:buNone/>
              <a:defRPr sz="3000" b="0">
                <a:solidFill>
                  <a:schemeClr val="lt1"/>
                </a:solidFill>
                <a:latin typeface="Instrument Sans SemiBold"/>
                <a:ea typeface="Instrument Sans SemiBold"/>
                <a:cs typeface="Instrument Sans SemiBold"/>
                <a:sym typeface="Instrument Sans SemiBold"/>
              </a:defRPr>
            </a:lvl4pPr>
            <a:lvl5pPr lvl="4">
              <a:spcBef>
                <a:spcPts val="0"/>
              </a:spcBef>
              <a:spcAft>
                <a:spcPts val="0"/>
              </a:spcAft>
              <a:buClr>
                <a:schemeClr val="lt1"/>
              </a:buClr>
              <a:buSzPts val="1500"/>
              <a:buFont typeface="Instrument Sans SemiBold"/>
              <a:buNone/>
              <a:defRPr sz="3000" b="0">
                <a:solidFill>
                  <a:schemeClr val="lt1"/>
                </a:solidFill>
                <a:latin typeface="Instrument Sans SemiBold"/>
                <a:ea typeface="Instrument Sans SemiBold"/>
                <a:cs typeface="Instrument Sans SemiBold"/>
                <a:sym typeface="Instrument Sans SemiBold"/>
              </a:defRPr>
            </a:lvl5pPr>
            <a:lvl6pPr lvl="5">
              <a:spcBef>
                <a:spcPts val="0"/>
              </a:spcBef>
              <a:spcAft>
                <a:spcPts val="0"/>
              </a:spcAft>
              <a:buClr>
                <a:schemeClr val="lt1"/>
              </a:buClr>
              <a:buSzPts val="1500"/>
              <a:buFont typeface="Instrument Sans SemiBold"/>
              <a:buNone/>
              <a:defRPr sz="3000" b="0">
                <a:solidFill>
                  <a:schemeClr val="lt1"/>
                </a:solidFill>
                <a:latin typeface="Instrument Sans SemiBold"/>
                <a:ea typeface="Instrument Sans SemiBold"/>
                <a:cs typeface="Instrument Sans SemiBold"/>
                <a:sym typeface="Instrument Sans SemiBold"/>
              </a:defRPr>
            </a:lvl6pPr>
            <a:lvl7pPr lvl="6">
              <a:spcBef>
                <a:spcPts val="0"/>
              </a:spcBef>
              <a:spcAft>
                <a:spcPts val="0"/>
              </a:spcAft>
              <a:buClr>
                <a:schemeClr val="lt1"/>
              </a:buClr>
              <a:buSzPts val="1500"/>
              <a:buFont typeface="Instrument Sans SemiBold"/>
              <a:buNone/>
              <a:defRPr sz="3000" b="0">
                <a:solidFill>
                  <a:schemeClr val="lt1"/>
                </a:solidFill>
                <a:latin typeface="Instrument Sans SemiBold"/>
                <a:ea typeface="Instrument Sans SemiBold"/>
                <a:cs typeface="Instrument Sans SemiBold"/>
                <a:sym typeface="Instrument Sans SemiBold"/>
              </a:defRPr>
            </a:lvl7pPr>
            <a:lvl8pPr lvl="7">
              <a:spcBef>
                <a:spcPts val="0"/>
              </a:spcBef>
              <a:spcAft>
                <a:spcPts val="0"/>
              </a:spcAft>
              <a:buClr>
                <a:schemeClr val="lt1"/>
              </a:buClr>
              <a:buSzPts val="1500"/>
              <a:buFont typeface="Instrument Sans SemiBold"/>
              <a:buNone/>
              <a:defRPr sz="3000" b="0">
                <a:solidFill>
                  <a:schemeClr val="lt1"/>
                </a:solidFill>
                <a:latin typeface="Instrument Sans SemiBold"/>
                <a:ea typeface="Instrument Sans SemiBold"/>
                <a:cs typeface="Instrument Sans SemiBold"/>
                <a:sym typeface="Instrument Sans SemiBold"/>
              </a:defRPr>
            </a:lvl8pPr>
            <a:lvl9pPr lvl="8">
              <a:spcBef>
                <a:spcPts val="0"/>
              </a:spcBef>
              <a:spcAft>
                <a:spcPts val="0"/>
              </a:spcAft>
              <a:buClr>
                <a:schemeClr val="lt1"/>
              </a:buClr>
              <a:buSzPts val="1500"/>
              <a:buFont typeface="Instrument Sans SemiBold"/>
              <a:buNone/>
              <a:defRPr sz="3000" b="0">
                <a:solidFill>
                  <a:schemeClr val="lt1"/>
                </a:solidFill>
                <a:latin typeface="Instrument Sans SemiBold"/>
                <a:ea typeface="Instrument Sans SemiBold"/>
                <a:cs typeface="Instrument Sans SemiBold"/>
                <a:sym typeface="Instrument Sans SemiBold"/>
              </a:defRPr>
            </a:lvl9pPr>
          </a:lstStyle>
          <a:p>
            <a:endParaRPr/>
          </a:p>
        </p:txBody>
      </p:sp>
      <p:sp>
        <p:nvSpPr>
          <p:cNvPr id="52" name="Google Shape;52;p13"/>
          <p:cNvSpPr txBox="1">
            <a:spLocks noGrp="1"/>
          </p:cNvSpPr>
          <p:nvPr>
            <p:ph type="body" idx="1"/>
          </p:nvPr>
        </p:nvSpPr>
        <p:spPr>
          <a:xfrm>
            <a:off x="914400" y="7331250"/>
            <a:ext cx="3818400" cy="3787800"/>
          </a:xfrm>
          <a:prstGeom prst="rect">
            <a:avLst/>
          </a:prstGeom>
        </p:spPr>
        <p:txBody>
          <a:bodyPr spcFirstLastPara="1" wrap="square" lIns="91425" tIns="91425" rIns="91425" bIns="91425" anchor="t" anchorCtr="0">
            <a:normAutofit/>
          </a:bodyPr>
          <a:lstStyle>
            <a:lvl1pPr marL="914400" lvl="0" indent="-68580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1pPr>
            <a:lvl2pPr marL="1828800" lvl="1"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2pPr>
            <a:lvl3pPr marL="2743200" lvl="2"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3pPr>
            <a:lvl4pPr marL="3657600" lvl="3"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4pPr>
            <a:lvl5pPr marL="4572000" lvl="4"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5pPr>
            <a:lvl6pPr marL="5486400" lvl="5"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6pPr>
            <a:lvl7pPr marL="6400800" lvl="6"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7pPr>
            <a:lvl8pPr marL="7315200" lvl="7"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8pPr>
            <a:lvl9pPr marL="8229600" lvl="8"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9pPr>
          </a:lstStyle>
          <a:p>
            <a:endParaRPr/>
          </a:p>
        </p:txBody>
      </p:sp>
      <p:pic>
        <p:nvPicPr>
          <p:cNvPr id="53" name="Google Shape;53;p13"/>
          <p:cNvPicPr preferRelativeResize="0"/>
          <p:nvPr/>
        </p:nvPicPr>
        <p:blipFill>
          <a:blip r:embed="rId2">
            <a:alphaModFix/>
          </a:blip>
          <a:stretch>
            <a:fillRect/>
          </a:stretch>
        </p:blipFill>
        <p:spPr>
          <a:xfrm>
            <a:off x="17373603" y="9372600"/>
            <a:ext cx="457202" cy="231676"/>
          </a:xfrm>
          <a:prstGeom prst="rect">
            <a:avLst/>
          </a:prstGeom>
          <a:noFill/>
          <a:ln>
            <a:noFill/>
          </a:ln>
        </p:spPr>
      </p:pic>
      <p:sp>
        <p:nvSpPr>
          <p:cNvPr id="54" name="Google Shape;54;p13"/>
          <p:cNvSpPr txBox="1">
            <a:spLocks noGrp="1"/>
          </p:cNvSpPr>
          <p:nvPr>
            <p:ph type="body" idx="2"/>
          </p:nvPr>
        </p:nvSpPr>
        <p:spPr>
          <a:xfrm>
            <a:off x="5029200" y="7331250"/>
            <a:ext cx="3818400" cy="3787800"/>
          </a:xfrm>
          <a:prstGeom prst="rect">
            <a:avLst/>
          </a:prstGeom>
        </p:spPr>
        <p:txBody>
          <a:bodyPr spcFirstLastPara="1" wrap="square" lIns="91425" tIns="91425" rIns="91425" bIns="91425" anchor="t" anchorCtr="0">
            <a:normAutofit/>
          </a:bodyPr>
          <a:lstStyle>
            <a:lvl1pPr marL="914400" lvl="0" indent="-68580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1pPr>
            <a:lvl2pPr marL="1828800" lvl="1"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2pPr>
            <a:lvl3pPr marL="2743200" lvl="2"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3pPr>
            <a:lvl4pPr marL="3657600" lvl="3"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4pPr>
            <a:lvl5pPr marL="4572000" lvl="4"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5pPr>
            <a:lvl6pPr marL="5486400" lvl="5"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6pPr>
            <a:lvl7pPr marL="6400800" lvl="6"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7pPr>
            <a:lvl8pPr marL="7315200" lvl="7"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8pPr>
            <a:lvl9pPr marL="8229600" lvl="8"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9pPr>
          </a:lstStyle>
          <a:p>
            <a:endParaRPr/>
          </a:p>
        </p:txBody>
      </p:sp>
      <p:sp>
        <p:nvSpPr>
          <p:cNvPr id="55" name="Google Shape;55;p13"/>
          <p:cNvSpPr txBox="1">
            <a:spLocks noGrp="1"/>
          </p:cNvSpPr>
          <p:nvPr>
            <p:ph type="body" idx="3"/>
          </p:nvPr>
        </p:nvSpPr>
        <p:spPr>
          <a:xfrm>
            <a:off x="9144000" y="7331250"/>
            <a:ext cx="3818400" cy="3787800"/>
          </a:xfrm>
          <a:prstGeom prst="rect">
            <a:avLst/>
          </a:prstGeom>
        </p:spPr>
        <p:txBody>
          <a:bodyPr spcFirstLastPara="1" wrap="square" lIns="91425" tIns="91425" rIns="91425" bIns="91425" anchor="t" anchorCtr="0">
            <a:normAutofit/>
          </a:bodyPr>
          <a:lstStyle>
            <a:lvl1pPr marL="914400" lvl="0" indent="-68580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1pPr>
            <a:lvl2pPr marL="1828800" lvl="1"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2pPr>
            <a:lvl3pPr marL="2743200" lvl="2"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3pPr>
            <a:lvl4pPr marL="3657600" lvl="3"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4pPr>
            <a:lvl5pPr marL="4572000" lvl="4"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5pPr>
            <a:lvl6pPr marL="5486400" lvl="5"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6pPr>
            <a:lvl7pPr marL="6400800" lvl="6"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7pPr>
            <a:lvl8pPr marL="7315200" lvl="7"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8pPr>
            <a:lvl9pPr marL="8229600" lvl="8"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9pPr>
          </a:lstStyle>
          <a:p>
            <a:endParaRPr/>
          </a:p>
        </p:txBody>
      </p:sp>
      <p:sp>
        <p:nvSpPr>
          <p:cNvPr id="56" name="Google Shape;56;p13"/>
          <p:cNvSpPr txBox="1">
            <a:spLocks noGrp="1"/>
          </p:cNvSpPr>
          <p:nvPr>
            <p:ph type="body" idx="4"/>
          </p:nvPr>
        </p:nvSpPr>
        <p:spPr>
          <a:xfrm>
            <a:off x="13258800" y="7331250"/>
            <a:ext cx="3818400" cy="3787800"/>
          </a:xfrm>
          <a:prstGeom prst="rect">
            <a:avLst/>
          </a:prstGeom>
        </p:spPr>
        <p:txBody>
          <a:bodyPr spcFirstLastPara="1" wrap="square" lIns="91425" tIns="91425" rIns="91425" bIns="91425" anchor="t" anchorCtr="0">
            <a:normAutofit/>
          </a:bodyPr>
          <a:lstStyle>
            <a:lvl1pPr marL="914400" lvl="0" indent="-685800">
              <a:lnSpc>
                <a:spcPct val="100000"/>
              </a:lnSpc>
              <a:spcBef>
                <a:spcPts val="0"/>
              </a:spcBef>
              <a:spcAft>
                <a:spcPts val="0"/>
              </a:spcAft>
              <a:buClr>
                <a:schemeClr val="lt1"/>
              </a:buClr>
              <a:buSzPts val="1800"/>
              <a:buFont typeface="Instrument Sans"/>
              <a:buChar char="●"/>
              <a:defRPr>
                <a:solidFill>
                  <a:schemeClr val="lt1"/>
                </a:solidFill>
                <a:latin typeface="Instrument Sans"/>
                <a:ea typeface="Instrument Sans"/>
                <a:cs typeface="Instrument Sans"/>
                <a:sym typeface="Instrument Sans"/>
              </a:defRPr>
            </a:lvl1pPr>
            <a:lvl2pPr marL="1828800" lvl="1"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2pPr>
            <a:lvl3pPr marL="2743200" lvl="2"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3pPr>
            <a:lvl4pPr marL="3657600" lvl="3"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4pPr>
            <a:lvl5pPr marL="4572000" lvl="4"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5pPr>
            <a:lvl6pPr marL="5486400" lvl="5"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6pPr>
            <a:lvl7pPr marL="6400800" lvl="6"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7pPr>
            <a:lvl8pPr marL="7315200" lvl="7"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8pPr>
            <a:lvl9pPr marL="8229600" lvl="8" indent="-635000">
              <a:lnSpc>
                <a:spcPct val="100000"/>
              </a:lnSpc>
              <a:spcBef>
                <a:spcPts val="0"/>
              </a:spcBef>
              <a:spcAft>
                <a:spcPts val="0"/>
              </a:spcAft>
              <a:buClr>
                <a:schemeClr val="lt1"/>
              </a:buClr>
              <a:buSzPts val="1400"/>
              <a:buFont typeface="Instrument Sans"/>
              <a:buChar char="■"/>
              <a:defRPr>
                <a:solidFill>
                  <a:schemeClr val="lt1"/>
                </a:solidFill>
                <a:latin typeface="Instrument Sans"/>
                <a:ea typeface="Instrument Sans"/>
                <a:cs typeface="Instrument Sans"/>
                <a:sym typeface="Instrument Sans"/>
              </a:defRPr>
            </a:lvl9pPr>
          </a:lstStyle>
          <a:p>
            <a:endParaRPr/>
          </a:p>
        </p:txBody>
      </p:sp>
    </p:spTree>
    <p:extLst>
      <p:ext uri="{BB962C8B-B14F-4D97-AF65-F5344CB8AC3E}">
        <p14:creationId xmlns:p14="http://schemas.microsoft.com/office/powerpoint/2010/main" val="3489198082"/>
      </p:ext>
    </p:extLst>
  </p:cSld>
  <p:clrMapOvr>
    <a:masterClrMapping/>
  </p:clrMapOvr>
  <p:extLst>
    <p:ext uri="{DCECCB84-F9BA-43D5-87BE-67443E8EF086}">
      <p15:sldGuideLst xmlns:p15="http://schemas.microsoft.com/office/powerpoint/2012/main">
        <p15:guide id="1" pos="1584">
          <p15:clr>
            <a:srgbClr val="E46962"/>
          </p15:clr>
        </p15:guide>
        <p15:guide id="2" pos="2880">
          <p15:clr>
            <a:srgbClr val="E46962"/>
          </p15:clr>
        </p15:guide>
        <p15:guide id="3" pos="4176">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 Id="rId9" Type="http://schemas.openxmlformats.org/officeDocument/2006/relationships/slideLayout" Target="../slideLayouts/slideLayout14.xml"/><Relationship Id="rId10" Type="http://schemas.openxmlformats.org/officeDocument/2006/relationships/slideLayout" Target="../slideLayouts/slideLayout15.xml"/><Relationship Id="rId11" Type="http://schemas.openxmlformats.org/officeDocument/2006/relationships/slideLayout" Target="../slideLayouts/slideLayout16.xml"/><Relationship Id="rId12" Type="http://schemas.openxmlformats.org/officeDocument/2006/relationships/slideLayout" Target="../slideLayouts/slideLayout17.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14400" y="890050"/>
            <a:ext cx="16459200" cy="517200"/>
          </a:xfrm>
          <a:prstGeom prst="rect">
            <a:avLst/>
          </a:prstGeom>
          <a:noFill/>
          <a:ln>
            <a:noFill/>
          </a:ln>
        </p:spPr>
        <p:txBody>
          <a:bodyPr spcFirstLastPara="1" wrap="square" lIns="0" tIns="0" rIns="0" bIns="0" anchor="t" anchorCtr="0">
            <a:normAutofit/>
          </a:bodyPr>
          <a:lstStyle>
            <a:lvl1pPr lvl="0" rtl="0">
              <a:spcBef>
                <a:spcPts val="0"/>
              </a:spcBef>
              <a:spcAft>
                <a:spcPts val="0"/>
              </a:spcAft>
              <a:buClr>
                <a:schemeClr val="dk1"/>
              </a:buClr>
              <a:buSzPts val="3000"/>
              <a:buFont typeface="Instrument Sans"/>
              <a:buNone/>
              <a:defRPr sz="3000" b="1">
                <a:solidFill>
                  <a:schemeClr val="dk1"/>
                </a:solidFill>
                <a:latin typeface="Instrument Sans"/>
                <a:ea typeface="Instrument Sans"/>
                <a:cs typeface="Instrument Sans"/>
                <a:sym typeface="Instrument Sans"/>
              </a:defRPr>
            </a:lvl1pPr>
            <a:lvl2pPr lvl="1" rtl="0">
              <a:spcBef>
                <a:spcPts val="0"/>
              </a:spcBef>
              <a:spcAft>
                <a:spcPts val="0"/>
              </a:spcAft>
              <a:buClr>
                <a:schemeClr val="dk1"/>
              </a:buClr>
              <a:buSzPts val="3000"/>
              <a:buFont typeface="Instrument Sans"/>
              <a:buNone/>
              <a:defRPr sz="3000" b="1">
                <a:solidFill>
                  <a:schemeClr val="dk1"/>
                </a:solidFill>
                <a:latin typeface="Instrument Sans"/>
                <a:ea typeface="Instrument Sans"/>
                <a:cs typeface="Instrument Sans"/>
                <a:sym typeface="Instrument Sans"/>
              </a:defRPr>
            </a:lvl2pPr>
            <a:lvl3pPr lvl="2" rtl="0">
              <a:spcBef>
                <a:spcPts val="0"/>
              </a:spcBef>
              <a:spcAft>
                <a:spcPts val="0"/>
              </a:spcAft>
              <a:buClr>
                <a:schemeClr val="dk1"/>
              </a:buClr>
              <a:buSzPts val="3000"/>
              <a:buFont typeface="Instrument Sans"/>
              <a:buNone/>
              <a:defRPr sz="3000" b="1">
                <a:solidFill>
                  <a:schemeClr val="dk1"/>
                </a:solidFill>
                <a:latin typeface="Instrument Sans"/>
                <a:ea typeface="Instrument Sans"/>
                <a:cs typeface="Instrument Sans"/>
                <a:sym typeface="Instrument Sans"/>
              </a:defRPr>
            </a:lvl3pPr>
            <a:lvl4pPr lvl="3" rtl="0">
              <a:spcBef>
                <a:spcPts val="0"/>
              </a:spcBef>
              <a:spcAft>
                <a:spcPts val="0"/>
              </a:spcAft>
              <a:buClr>
                <a:schemeClr val="dk1"/>
              </a:buClr>
              <a:buSzPts val="3000"/>
              <a:buFont typeface="Instrument Sans"/>
              <a:buNone/>
              <a:defRPr sz="3000" b="1">
                <a:solidFill>
                  <a:schemeClr val="dk1"/>
                </a:solidFill>
                <a:latin typeface="Instrument Sans"/>
                <a:ea typeface="Instrument Sans"/>
                <a:cs typeface="Instrument Sans"/>
                <a:sym typeface="Instrument Sans"/>
              </a:defRPr>
            </a:lvl4pPr>
            <a:lvl5pPr lvl="4" rtl="0">
              <a:spcBef>
                <a:spcPts val="0"/>
              </a:spcBef>
              <a:spcAft>
                <a:spcPts val="0"/>
              </a:spcAft>
              <a:buClr>
                <a:schemeClr val="dk1"/>
              </a:buClr>
              <a:buSzPts val="3000"/>
              <a:buFont typeface="Instrument Sans"/>
              <a:buNone/>
              <a:defRPr sz="3000" b="1">
                <a:solidFill>
                  <a:schemeClr val="dk1"/>
                </a:solidFill>
                <a:latin typeface="Instrument Sans"/>
                <a:ea typeface="Instrument Sans"/>
                <a:cs typeface="Instrument Sans"/>
                <a:sym typeface="Instrument Sans"/>
              </a:defRPr>
            </a:lvl5pPr>
            <a:lvl6pPr lvl="5" rtl="0">
              <a:spcBef>
                <a:spcPts val="0"/>
              </a:spcBef>
              <a:spcAft>
                <a:spcPts val="0"/>
              </a:spcAft>
              <a:buClr>
                <a:schemeClr val="dk1"/>
              </a:buClr>
              <a:buSzPts val="3000"/>
              <a:buFont typeface="Instrument Sans"/>
              <a:buNone/>
              <a:defRPr sz="3000" b="1">
                <a:solidFill>
                  <a:schemeClr val="dk1"/>
                </a:solidFill>
                <a:latin typeface="Instrument Sans"/>
                <a:ea typeface="Instrument Sans"/>
                <a:cs typeface="Instrument Sans"/>
                <a:sym typeface="Instrument Sans"/>
              </a:defRPr>
            </a:lvl6pPr>
            <a:lvl7pPr lvl="6" rtl="0">
              <a:spcBef>
                <a:spcPts val="0"/>
              </a:spcBef>
              <a:spcAft>
                <a:spcPts val="0"/>
              </a:spcAft>
              <a:buClr>
                <a:schemeClr val="dk1"/>
              </a:buClr>
              <a:buSzPts val="3000"/>
              <a:buFont typeface="Instrument Sans"/>
              <a:buNone/>
              <a:defRPr sz="3000" b="1">
                <a:solidFill>
                  <a:schemeClr val="dk1"/>
                </a:solidFill>
                <a:latin typeface="Instrument Sans"/>
                <a:ea typeface="Instrument Sans"/>
                <a:cs typeface="Instrument Sans"/>
                <a:sym typeface="Instrument Sans"/>
              </a:defRPr>
            </a:lvl7pPr>
            <a:lvl8pPr lvl="7" rtl="0">
              <a:spcBef>
                <a:spcPts val="0"/>
              </a:spcBef>
              <a:spcAft>
                <a:spcPts val="0"/>
              </a:spcAft>
              <a:buClr>
                <a:schemeClr val="dk1"/>
              </a:buClr>
              <a:buSzPts val="3000"/>
              <a:buFont typeface="Instrument Sans"/>
              <a:buNone/>
              <a:defRPr sz="3000" b="1">
                <a:solidFill>
                  <a:schemeClr val="dk1"/>
                </a:solidFill>
                <a:latin typeface="Instrument Sans"/>
                <a:ea typeface="Instrument Sans"/>
                <a:cs typeface="Instrument Sans"/>
                <a:sym typeface="Instrument Sans"/>
              </a:defRPr>
            </a:lvl8pPr>
            <a:lvl9pPr lvl="8" rtl="0">
              <a:spcBef>
                <a:spcPts val="0"/>
              </a:spcBef>
              <a:spcAft>
                <a:spcPts val="0"/>
              </a:spcAft>
              <a:buClr>
                <a:schemeClr val="dk1"/>
              </a:buClr>
              <a:buSzPts val="3000"/>
              <a:buFont typeface="Instrument Sans"/>
              <a:buNone/>
              <a:defRPr sz="3000" b="1">
                <a:solidFill>
                  <a:schemeClr val="dk1"/>
                </a:solidFill>
                <a:latin typeface="Instrument Sans"/>
                <a:ea typeface="Instrument Sans"/>
                <a:cs typeface="Instrument Sans"/>
                <a:sym typeface="Instrument Sans"/>
              </a:defRPr>
            </a:lvl9pPr>
          </a:lstStyle>
          <a:p>
            <a:endParaRPr/>
          </a:p>
        </p:txBody>
      </p:sp>
      <p:sp>
        <p:nvSpPr>
          <p:cNvPr id="7" name="Google Shape;7;p1"/>
          <p:cNvSpPr txBox="1">
            <a:spLocks noGrp="1"/>
          </p:cNvSpPr>
          <p:nvPr>
            <p:ph type="body" idx="1"/>
          </p:nvPr>
        </p:nvSpPr>
        <p:spPr>
          <a:xfrm>
            <a:off x="914400" y="2304950"/>
            <a:ext cx="16459200" cy="6832800"/>
          </a:xfrm>
          <a:prstGeom prst="rect">
            <a:avLst/>
          </a:prstGeom>
          <a:noFill/>
          <a:ln>
            <a:noFill/>
          </a:ln>
        </p:spPr>
        <p:txBody>
          <a:bodyPr spcFirstLastPara="1" wrap="square" lIns="0" tIns="0" rIns="0" bIns="0" anchor="t" anchorCtr="0">
            <a:spAutoFit/>
          </a:bodyPr>
          <a:lstStyle>
            <a:lvl1pPr marL="457200" lvl="0" indent="-342900" rtl="0">
              <a:lnSpc>
                <a:spcPct val="115000"/>
              </a:lnSpc>
              <a:spcBef>
                <a:spcPts val="0"/>
              </a:spcBef>
              <a:spcAft>
                <a:spcPts val="0"/>
              </a:spcAft>
              <a:buClr>
                <a:schemeClr val="dk1"/>
              </a:buClr>
              <a:buSzPts val="1800"/>
              <a:buFont typeface="Instrument Sans Medium"/>
              <a:buChar char="●"/>
              <a:defRPr sz="1800">
                <a:solidFill>
                  <a:schemeClr val="dk1"/>
                </a:solidFill>
                <a:latin typeface="Instrument Sans Medium"/>
                <a:ea typeface="Instrument Sans Medium"/>
                <a:cs typeface="Instrument Sans Medium"/>
                <a:sym typeface="Instrument Sans Medium"/>
              </a:defRPr>
            </a:lvl1pPr>
            <a:lvl2pPr marL="914400" lvl="1" indent="-342900" rtl="0">
              <a:lnSpc>
                <a:spcPct val="115000"/>
              </a:lnSpc>
              <a:spcBef>
                <a:spcPts val="0"/>
              </a:spcBef>
              <a:spcAft>
                <a:spcPts val="0"/>
              </a:spcAft>
              <a:buClr>
                <a:schemeClr val="dk1"/>
              </a:buClr>
              <a:buSzPts val="1800"/>
              <a:buFont typeface="Instrument Sans Medium"/>
              <a:buChar char="○"/>
              <a:defRPr sz="1800">
                <a:solidFill>
                  <a:schemeClr val="dk1"/>
                </a:solidFill>
                <a:latin typeface="Instrument Sans Medium"/>
                <a:ea typeface="Instrument Sans Medium"/>
                <a:cs typeface="Instrument Sans Medium"/>
                <a:sym typeface="Instrument Sans Medium"/>
              </a:defRPr>
            </a:lvl2pPr>
            <a:lvl3pPr marL="1371600" lvl="2" indent="-342900" rtl="0">
              <a:lnSpc>
                <a:spcPct val="115000"/>
              </a:lnSpc>
              <a:spcBef>
                <a:spcPts val="0"/>
              </a:spcBef>
              <a:spcAft>
                <a:spcPts val="0"/>
              </a:spcAft>
              <a:buClr>
                <a:schemeClr val="dk1"/>
              </a:buClr>
              <a:buSzPts val="1800"/>
              <a:buFont typeface="Instrument Sans Medium"/>
              <a:buChar char="■"/>
              <a:defRPr sz="1800">
                <a:solidFill>
                  <a:schemeClr val="dk1"/>
                </a:solidFill>
                <a:latin typeface="Instrument Sans Medium"/>
                <a:ea typeface="Instrument Sans Medium"/>
                <a:cs typeface="Instrument Sans Medium"/>
                <a:sym typeface="Instrument Sans Medium"/>
              </a:defRPr>
            </a:lvl3pPr>
            <a:lvl4pPr marL="1828800" lvl="3" indent="-342900" rtl="0">
              <a:lnSpc>
                <a:spcPct val="115000"/>
              </a:lnSpc>
              <a:spcBef>
                <a:spcPts val="0"/>
              </a:spcBef>
              <a:spcAft>
                <a:spcPts val="0"/>
              </a:spcAft>
              <a:buClr>
                <a:schemeClr val="dk1"/>
              </a:buClr>
              <a:buSzPts val="1800"/>
              <a:buFont typeface="Instrument Sans Medium"/>
              <a:buChar char="●"/>
              <a:defRPr sz="1800">
                <a:solidFill>
                  <a:schemeClr val="dk1"/>
                </a:solidFill>
                <a:latin typeface="Instrument Sans Medium"/>
                <a:ea typeface="Instrument Sans Medium"/>
                <a:cs typeface="Instrument Sans Medium"/>
                <a:sym typeface="Instrument Sans Medium"/>
              </a:defRPr>
            </a:lvl4pPr>
            <a:lvl5pPr marL="2286000" lvl="4" indent="-342900" rtl="0">
              <a:lnSpc>
                <a:spcPct val="115000"/>
              </a:lnSpc>
              <a:spcBef>
                <a:spcPts val="0"/>
              </a:spcBef>
              <a:spcAft>
                <a:spcPts val="0"/>
              </a:spcAft>
              <a:buClr>
                <a:schemeClr val="dk1"/>
              </a:buClr>
              <a:buSzPts val="1800"/>
              <a:buFont typeface="Instrument Sans Medium"/>
              <a:buChar char="○"/>
              <a:defRPr sz="1800">
                <a:solidFill>
                  <a:schemeClr val="dk1"/>
                </a:solidFill>
                <a:latin typeface="Instrument Sans Medium"/>
                <a:ea typeface="Instrument Sans Medium"/>
                <a:cs typeface="Instrument Sans Medium"/>
                <a:sym typeface="Instrument Sans Medium"/>
              </a:defRPr>
            </a:lvl5pPr>
            <a:lvl6pPr marL="2743200" lvl="5" indent="-342900" rtl="0">
              <a:lnSpc>
                <a:spcPct val="115000"/>
              </a:lnSpc>
              <a:spcBef>
                <a:spcPts val="0"/>
              </a:spcBef>
              <a:spcAft>
                <a:spcPts val="0"/>
              </a:spcAft>
              <a:buClr>
                <a:schemeClr val="dk1"/>
              </a:buClr>
              <a:buSzPts val="1800"/>
              <a:buFont typeface="Instrument Sans Medium"/>
              <a:buChar char="■"/>
              <a:defRPr sz="1800">
                <a:solidFill>
                  <a:schemeClr val="dk1"/>
                </a:solidFill>
                <a:latin typeface="Instrument Sans Medium"/>
                <a:ea typeface="Instrument Sans Medium"/>
                <a:cs typeface="Instrument Sans Medium"/>
                <a:sym typeface="Instrument Sans Medium"/>
              </a:defRPr>
            </a:lvl6pPr>
            <a:lvl7pPr marL="3200400" lvl="6" indent="-342900" rtl="0">
              <a:lnSpc>
                <a:spcPct val="115000"/>
              </a:lnSpc>
              <a:spcBef>
                <a:spcPts val="0"/>
              </a:spcBef>
              <a:spcAft>
                <a:spcPts val="0"/>
              </a:spcAft>
              <a:buClr>
                <a:schemeClr val="dk1"/>
              </a:buClr>
              <a:buSzPts val="1800"/>
              <a:buFont typeface="Instrument Sans Medium"/>
              <a:buChar char="●"/>
              <a:defRPr sz="1800">
                <a:solidFill>
                  <a:schemeClr val="dk1"/>
                </a:solidFill>
                <a:latin typeface="Instrument Sans Medium"/>
                <a:ea typeface="Instrument Sans Medium"/>
                <a:cs typeface="Instrument Sans Medium"/>
                <a:sym typeface="Instrument Sans Medium"/>
              </a:defRPr>
            </a:lvl7pPr>
            <a:lvl8pPr marL="3657600" lvl="7" indent="-342900" rtl="0">
              <a:lnSpc>
                <a:spcPct val="115000"/>
              </a:lnSpc>
              <a:spcBef>
                <a:spcPts val="0"/>
              </a:spcBef>
              <a:spcAft>
                <a:spcPts val="0"/>
              </a:spcAft>
              <a:buClr>
                <a:schemeClr val="dk1"/>
              </a:buClr>
              <a:buSzPts val="1800"/>
              <a:buFont typeface="Instrument Sans Medium"/>
              <a:buChar char="○"/>
              <a:defRPr sz="1800">
                <a:solidFill>
                  <a:schemeClr val="dk1"/>
                </a:solidFill>
                <a:latin typeface="Instrument Sans Medium"/>
                <a:ea typeface="Instrument Sans Medium"/>
                <a:cs typeface="Instrument Sans Medium"/>
                <a:sym typeface="Instrument Sans Medium"/>
              </a:defRPr>
            </a:lvl8pPr>
            <a:lvl9pPr marL="4114800" lvl="8" indent="-342900" rtl="0">
              <a:lnSpc>
                <a:spcPct val="115000"/>
              </a:lnSpc>
              <a:spcBef>
                <a:spcPts val="0"/>
              </a:spcBef>
              <a:spcAft>
                <a:spcPts val="0"/>
              </a:spcAft>
              <a:buClr>
                <a:schemeClr val="dk1"/>
              </a:buClr>
              <a:buSzPts val="1800"/>
              <a:buFont typeface="Instrument Sans Medium"/>
              <a:buChar char="■"/>
              <a:defRPr sz="1800">
                <a:solidFill>
                  <a:schemeClr val="dk1"/>
                </a:solidFill>
                <a:latin typeface="Instrument Sans Medium"/>
                <a:ea typeface="Instrument Sans Medium"/>
                <a:cs typeface="Instrument Sans Medium"/>
                <a:sym typeface="Instrument Sans Medium"/>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5" r:id="rId3"/>
    <p:sldLayoutId id="2147483665" r:id="rId4"/>
    <p:sldLayoutId id="2147483679"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76">
          <p15:clr>
            <a:srgbClr val="E46962"/>
          </p15:clr>
        </p15:guide>
        <p15:guide id="2" orient="horz" pos="576">
          <p15:clr>
            <a:srgbClr val="E46962"/>
          </p15:clr>
        </p15:guide>
        <p15:guide id="3" orient="horz" pos="5904">
          <p15:clr>
            <a:srgbClr val="E46962"/>
          </p15:clr>
        </p15:guide>
        <p15:guide id="4" pos="10944">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3400" y="890050"/>
            <a:ext cx="17041200" cy="1145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623400" y="2304950"/>
            <a:ext cx="17041200" cy="68328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Char char="●"/>
              <a:defRPr sz="1800">
                <a:solidFill>
                  <a:schemeClr val="lt2"/>
                </a:solidFill>
              </a:defRPr>
            </a:lvl1pPr>
            <a:lvl2pPr marL="914400" lvl="1" indent="-317500">
              <a:lnSpc>
                <a:spcPct val="115000"/>
              </a:lnSpc>
              <a:spcBef>
                <a:spcPts val="0"/>
              </a:spcBef>
              <a:spcAft>
                <a:spcPts val="0"/>
              </a:spcAft>
              <a:buClr>
                <a:schemeClr val="lt2"/>
              </a:buClr>
              <a:buSzPts val="1400"/>
              <a:buChar char="○"/>
              <a:defRPr>
                <a:solidFill>
                  <a:schemeClr val="lt2"/>
                </a:solidFill>
              </a:defRPr>
            </a:lvl2pPr>
            <a:lvl3pPr marL="1371600" lvl="2" indent="-317500">
              <a:lnSpc>
                <a:spcPct val="115000"/>
              </a:lnSpc>
              <a:spcBef>
                <a:spcPts val="0"/>
              </a:spcBef>
              <a:spcAft>
                <a:spcPts val="0"/>
              </a:spcAft>
              <a:buClr>
                <a:schemeClr val="lt2"/>
              </a:buClr>
              <a:buSzPts val="1400"/>
              <a:buChar char="■"/>
              <a:defRPr>
                <a:solidFill>
                  <a:schemeClr val="lt2"/>
                </a:solidFill>
              </a:defRPr>
            </a:lvl3pPr>
            <a:lvl4pPr marL="1828800" lvl="3" indent="-317500">
              <a:lnSpc>
                <a:spcPct val="115000"/>
              </a:lnSpc>
              <a:spcBef>
                <a:spcPts val="0"/>
              </a:spcBef>
              <a:spcAft>
                <a:spcPts val="0"/>
              </a:spcAft>
              <a:buClr>
                <a:schemeClr val="lt2"/>
              </a:buClr>
              <a:buSzPts val="1400"/>
              <a:buChar char="●"/>
              <a:defRPr>
                <a:solidFill>
                  <a:schemeClr val="lt2"/>
                </a:solidFill>
              </a:defRPr>
            </a:lvl4pPr>
            <a:lvl5pPr marL="2286000" lvl="4" indent="-317500">
              <a:lnSpc>
                <a:spcPct val="115000"/>
              </a:lnSpc>
              <a:spcBef>
                <a:spcPts val="0"/>
              </a:spcBef>
              <a:spcAft>
                <a:spcPts val="0"/>
              </a:spcAft>
              <a:buClr>
                <a:schemeClr val="lt2"/>
              </a:buClr>
              <a:buSzPts val="1400"/>
              <a:buChar char="○"/>
              <a:defRPr>
                <a:solidFill>
                  <a:schemeClr val="lt2"/>
                </a:solidFill>
              </a:defRPr>
            </a:lvl5pPr>
            <a:lvl6pPr marL="2743200" lvl="5" indent="-317500">
              <a:lnSpc>
                <a:spcPct val="115000"/>
              </a:lnSpc>
              <a:spcBef>
                <a:spcPts val="0"/>
              </a:spcBef>
              <a:spcAft>
                <a:spcPts val="0"/>
              </a:spcAft>
              <a:buClr>
                <a:schemeClr val="lt2"/>
              </a:buClr>
              <a:buSzPts val="1400"/>
              <a:buChar char="■"/>
              <a:defRPr>
                <a:solidFill>
                  <a:schemeClr val="lt2"/>
                </a:solidFill>
              </a:defRPr>
            </a:lvl6pPr>
            <a:lvl7pPr marL="3200400" lvl="6" indent="-317500">
              <a:lnSpc>
                <a:spcPct val="115000"/>
              </a:lnSpc>
              <a:spcBef>
                <a:spcPts val="0"/>
              </a:spcBef>
              <a:spcAft>
                <a:spcPts val="0"/>
              </a:spcAft>
              <a:buClr>
                <a:schemeClr val="lt2"/>
              </a:buClr>
              <a:buSzPts val="1400"/>
              <a:buChar char="●"/>
              <a:defRPr>
                <a:solidFill>
                  <a:schemeClr val="lt2"/>
                </a:solidFill>
              </a:defRPr>
            </a:lvl7pPr>
            <a:lvl8pPr marL="3657600" lvl="7" indent="-317500">
              <a:lnSpc>
                <a:spcPct val="115000"/>
              </a:lnSpc>
              <a:spcBef>
                <a:spcPts val="0"/>
              </a:spcBef>
              <a:spcAft>
                <a:spcPts val="0"/>
              </a:spcAft>
              <a:buClr>
                <a:schemeClr val="lt2"/>
              </a:buClr>
              <a:buSzPts val="1400"/>
              <a:buChar char="○"/>
              <a:defRPr>
                <a:solidFill>
                  <a:schemeClr val="lt2"/>
                </a:solidFill>
              </a:defRPr>
            </a:lvl8pPr>
            <a:lvl9pPr marL="4114800" lvl="8" indent="-317500">
              <a:lnSpc>
                <a:spcPct val="115000"/>
              </a:lnSpc>
              <a:spcBef>
                <a:spcPts val="0"/>
              </a:spcBef>
              <a:spcAft>
                <a:spcPts val="0"/>
              </a:spcAft>
              <a:buClr>
                <a:schemeClr val="lt2"/>
              </a:buClr>
              <a:buSzPts val="1400"/>
              <a:buChar char="■"/>
              <a:defRPr>
                <a:solidFill>
                  <a:schemeClr val="lt2"/>
                </a:solidFill>
              </a:defRPr>
            </a:lvl9pPr>
          </a:lstStyle>
          <a:p>
            <a:endParaRPr/>
          </a:p>
        </p:txBody>
      </p:sp>
      <p:sp>
        <p:nvSpPr>
          <p:cNvPr id="8" name="Google Shape;8;p1"/>
          <p:cNvSpPr txBox="1">
            <a:spLocks noGrp="1"/>
          </p:cNvSpPr>
          <p:nvPr>
            <p:ph type="sldNum" idx="12"/>
          </p:nvPr>
        </p:nvSpPr>
        <p:spPr>
          <a:xfrm>
            <a:off x="16944916" y="9326434"/>
            <a:ext cx="1097400" cy="787200"/>
          </a:xfrm>
          <a:prstGeom prst="rect">
            <a:avLst/>
          </a:prstGeom>
          <a:noFill/>
          <a:ln>
            <a:noFill/>
          </a:ln>
        </p:spPr>
        <p:txBody>
          <a:bodyPr spcFirstLastPara="1" wrap="square" lIns="91425" tIns="91425" rIns="91425" bIns="91425" anchor="ctr" anchorCtr="0">
            <a:normAutofit/>
          </a:bodyPr>
          <a:lstStyle>
            <a:lvl1pPr lvl="0" algn="r">
              <a:buNone/>
              <a:defRPr sz="2000">
                <a:solidFill>
                  <a:schemeClr val="lt2"/>
                </a:solidFill>
              </a:defRPr>
            </a:lvl1pPr>
            <a:lvl2pPr lvl="1" algn="r">
              <a:buNone/>
              <a:defRPr sz="2000">
                <a:solidFill>
                  <a:schemeClr val="lt2"/>
                </a:solidFill>
              </a:defRPr>
            </a:lvl2pPr>
            <a:lvl3pPr lvl="2" algn="r">
              <a:buNone/>
              <a:defRPr sz="2000">
                <a:solidFill>
                  <a:schemeClr val="lt2"/>
                </a:solidFill>
              </a:defRPr>
            </a:lvl3pPr>
            <a:lvl4pPr lvl="3" algn="r">
              <a:buNone/>
              <a:defRPr sz="2000">
                <a:solidFill>
                  <a:schemeClr val="lt2"/>
                </a:solidFill>
              </a:defRPr>
            </a:lvl4pPr>
            <a:lvl5pPr lvl="4" algn="r">
              <a:buNone/>
              <a:defRPr sz="2000">
                <a:solidFill>
                  <a:schemeClr val="lt2"/>
                </a:solidFill>
              </a:defRPr>
            </a:lvl5pPr>
            <a:lvl6pPr lvl="5" algn="r">
              <a:buNone/>
              <a:defRPr sz="2000">
                <a:solidFill>
                  <a:schemeClr val="lt2"/>
                </a:solidFill>
              </a:defRPr>
            </a:lvl6pPr>
            <a:lvl7pPr lvl="6" algn="r">
              <a:buNone/>
              <a:defRPr sz="2000">
                <a:solidFill>
                  <a:schemeClr val="lt2"/>
                </a:solidFill>
              </a:defRPr>
            </a:lvl7pPr>
            <a:lvl8pPr lvl="7" algn="r">
              <a:buNone/>
              <a:defRPr sz="2000">
                <a:solidFill>
                  <a:schemeClr val="lt2"/>
                </a:solidFill>
              </a:defRPr>
            </a:lvl8pPr>
            <a:lvl9pPr lvl="8" algn="r">
              <a:buNone/>
              <a:defRPr sz="2000">
                <a:solidFill>
                  <a:schemeClr val="lt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62058696"/>
      </p:ext>
    </p:extLst>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8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jpg"/><Relationship Id="rId3" Type="http://schemas.openxmlformats.org/officeDocument/2006/relationships/image" Target="../media/image14.jp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Title map" descr="3D map of Abu Dhabi with LocationReasoner result columns"/>
          <p:cNvPicPr>
            <a:picLocks noChangeAspect="1"/>
          </p:cNvPicPr>
          <p:nvPr/>
        </p:nvPicPr>
        <p:blipFill>
          <a:blip r:embed="rId2"/>
          <a:stretch>
            <a:fillRect/>
          </a:stretch>
        </p:blipFill>
        <p:spPr>
          <a:xfrm>
            <a:off x="7863840" y="0"/>
            <a:ext cx="10424160" cy="10287000"/>
          </a:xfrm>
          <a:prstGeom prst="rect">
            <a:avLst/>
          </a:prstGeom>
        </p:spPr>
      </p:pic>
      <p:sp>
        <p:nvSpPr>
          <p:cNvPr id="2" name="Title 1"/>
          <p:cNvSpPr>
            <a:spLocks noGrp="1"/>
          </p:cNvSpPr>
          <p:nvPr>
            <p:ph type="ctrTitle"/>
          </p:nvPr>
        </p:nvSpPr>
        <p:spPr/>
        <p:txBody>
          <a:bodyPr/>
          <a:lstStyle/>
          <a:p>
            <a:r>
              <a:t>LocationReasoner</a:t>
            </a:r>
          </a:p>
          <a:p>
            <a:pPr>
              <a:spcBef>
                <a:spcPts val="1000"/>
              </a:spcBef>
            </a:pPr>
            <a:r>
              <a:rPr sz="2200" b="0" i="0">
                <a:solidFill>
                  <a:srgbClr val="B9C2D0"/>
                </a:solidFill>
                <a:latin typeface="Arial"/>
              </a:rPr>
              <a:t>LLM reasoning for real-world site selection</a:t>
            </a:r>
          </a:p>
        </p:txBody>
      </p:sp>
      <p:sp>
        <p:nvSpPr>
          <p:cNvPr id="3" name="Subtitle 2"/>
          <p:cNvSpPr>
            <a:spLocks noGrp="1"/>
          </p:cNvSpPr>
          <p:nvPr>
            <p:ph type="subTitle" idx="1"/>
          </p:nvPr>
        </p:nvSpPr>
        <p:spPr/>
        <p:txBody>
          <a:bodyPr/>
          <a:lstStyle/>
          <a:p>
            <a:r>
              <a:t>Miho Koda</a:t>
            </a:r>
          </a:p>
          <a:p>
            <a:r>
              <a:t>Dara Varam</a:t>
            </a:r>
          </a:p>
          <a:p>
            <a:r>
              <a:t>Stefano Patiti</a:t>
            </a:r>
          </a:p>
        </p:txBody>
      </p:sp>
      <p:sp>
        <p:nvSpPr>
          <p:cNvPr id="4" name="Title 3"/>
          <p:cNvSpPr>
            <a:spLocks noGrp="1"/>
          </p:cNvSpPr>
          <p:nvPr>
            <p:ph type="title" idx="2"/>
          </p:nvPr>
        </p:nvSpPr>
        <p:spPr>
          <a:xfrm>
            <a:off x="914400" y="914400"/>
            <a:ext cx="8229600" cy="923544"/>
          </a:xfrm>
        </p:spPr>
        <p:txBody>
          <a:bodyPr/>
          <a:lstStyle/>
          <a:p>
            <a:r>
              <a:t>Stakeholder Update · October 2026</a:t>
            </a:r>
          </a:p>
        </p:txBody>
      </p:sp>
      <p:pic>
        <p:nvPicPr>
          <p:cNvPr id="6" name="Picture 5" descr="image.png"/>
          <p:cNvPicPr>
            <a:picLocks noChangeAspect="1"/>
          </p:cNvPicPr>
          <p:nvPr/>
        </p:nvPicPr>
        <p:blipFill>
          <a:blip r:embed="rId3"/>
          <a:stretch>
            <a:fillRect/>
          </a:stretch>
        </p:blipFill>
        <p:spPr>
          <a:xfrm>
            <a:off x="17373600" y="9372600"/>
            <a:ext cx="457200" cy="23134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rPr sz="1800" b="0" i="0">
                <a:solidFill>
                  <a:srgbClr val="9AA4B5"/>
                </a:solidFill>
                <a:latin typeface="Arial"/>
              </a:rPr>
              <a:t>The question</a:t>
            </a:r>
          </a:p>
        </p:txBody>
      </p:sp>
      <p:sp>
        <p:nvSpPr>
          <p:cNvPr id="3" name="Text Placeholder 2"/>
          <p:cNvSpPr>
            <a:spLocks noGrp="1"/>
          </p:cNvSpPr>
          <p:nvPr>
            <p:ph type="body" idx="1"/>
          </p:nvPr>
        </p:nvSpPr>
        <p:spPr/>
        <p:txBody>
          <a:bodyPr wrap="square"/>
          <a:lstStyle/>
          <a:p>
            <a:pPr marL="0" indent="0">
              <a:buNone/>
            </a:pPr>
            <a:r>
              <a:rPr sz="4400" b="0" i="0">
                <a:solidFill>
                  <a:srgbClr val="FFFFFF"/>
                </a:solidFill>
                <a:latin typeface="Arial"/>
              </a:rPr>
              <a:t>How can LLMs help people make strategic location decisions in cities: accurately, quickly, and in a way they can trust?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14400" y="685800"/>
            <a:ext cx="16459200" cy="822960"/>
          </a:xfrm>
        </p:spPr>
        <p:txBody>
          <a:bodyPr lIns="0" rIns="0" tIns="0" bIns="0" anchor="t" wrap="square"/>
          <a:lstStyle/>
          <a:p>
            <a:pPr marL="0" indent="0">
              <a:buNone/>
            </a:pPr>
            <a:r>
              <a:rPr sz="3600" b="1" i="0">
                <a:solidFill>
                  <a:srgbClr val="0D1117"/>
                </a:solidFill>
                <a:latin typeface="Arial"/>
              </a:rPr>
              <a:t>At a glance</a:t>
            </a:r>
          </a:p>
        </p:txBody>
      </p:sp>
      <p:sp>
        <p:nvSpPr>
          <p:cNvPr id="3" name="TextBox 2"/>
          <p:cNvSpPr txBox="1"/>
          <p:nvPr/>
        </p:nvSpPr>
        <p:spPr>
          <a:xfrm>
            <a:off x="914400" y="1536192"/>
            <a:ext cx="16459200" cy="685800"/>
          </a:xfrm>
          <a:prstGeom prst="rect">
            <a:avLst/>
          </a:prstGeom>
          <a:noFill/>
        </p:spPr>
        <p:txBody>
          <a:bodyPr wrap="square" lIns="0" rIns="0" tIns="0" bIns="0" anchor="t">
            <a:spAutoFit/>
          </a:bodyPr>
          <a:lstStyle/>
          <a:p>
            <a:pPr algn="l"/>
            <a:r>
              <a:rPr sz="2000" b="0" i="0">
                <a:solidFill>
                  <a:srgbClr val="5B6470"/>
                </a:solidFill>
                <a:latin typeface="Arial"/>
              </a:rPr>
              <a:t>We measured how well LLMs reason about real locations, then turned what worked into a working tool.</a:t>
            </a:r>
          </a:p>
        </p:txBody>
      </p:sp>
      <p:sp>
        <p:nvSpPr>
          <p:cNvPr id="4" name="Stat card 1"/>
          <p:cNvSpPr/>
          <p:nvPr/>
        </p:nvSpPr>
        <p:spPr>
          <a:xfrm>
            <a:off x="914400" y="2514600"/>
            <a:ext cx="3840480" cy="32461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280160" y="2743200"/>
            <a:ext cx="3108960" cy="1188720"/>
          </a:xfrm>
          <a:prstGeom prst="rect">
            <a:avLst/>
          </a:prstGeom>
          <a:noFill/>
        </p:spPr>
        <p:txBody>
          <a:bodyPr wrap="square" lIns="0" rIns="0" tIns="0" bIns="0" anchor="b">
            <a:spAutoFit/>
          </a:bodyPr>
          <a:lstStyle/>
          <a:p>
            <a:pPr algn="l"/>
            <a:r>
              <a:rPr sz="6600" b="1" i="0">
                <a:solidFill>
                  <a:srgbClr val="2B6DF3"/>
                </a:solidFill>
                <a:latin typeface="Arial"/>
              </a:rPr>
              <a:t>2</a:t>
            </a:r>
          </a:p>
        </p:txBody>
      </p:sp>
      <p:sp>
        <p:nvSpPr>
          <p:cNvPr id="6" name="TextBox 5"/>
          <p:cNvSpPr txBox="1"/>
          <p:nvPr/>
        </p:nvSpPr>
        <p:spPr>
          <a:xfrm>
            <a:off x="1280160" y="4069080"/>
            <a:ext cx="3108960" cy="457200"/>
          </a:xfrm>
          <a:prstGeom prst="rect">
            <a:avLst/>
          </a:prstGeom>
          <a:noFill/>
        </p:spPr>
        <p:txBody>
          <a:bodyPr wrap="square" lIns="0" rIns="0" tIns="0" bIns="0" anchor="t">
            <a:spAutoFit/>
          </a:bodyPr>
          <a:lstStyle/>
          <a:p>
            <a:pPr algn="l"/>
            <a:r>
              <a:rPr sz="2200" b="1" i="0">
                <a:solidFill>
                  <a:srgbClr val="0D1117"/>
                </a:solidFill>
                <a:latin typeface="Arial"/>
              </a:rPr>
              <a:t>cities</a:t>
            </a:r>
          </a:p>
        </p:txBody>
      </p:sp>
      <p:sp>
        <p:nvSpPr>
          <p:cNvPr id="7" name="TextBox 6"/>
          <p:cNvSpPr txBox="1"/>
          <p:nvPr/>
        </p:nvSpPr>
        <p:spPr>
          <a:xfrm>
            <a:off x="1280160" y="4572000"/>
            <a:ext cx="3108960" cy="1097280"/>
          </a:xfrm>
          <a:prstGeom prst="rect">
            <a:avLst/>
          </a:prstGeom>
          <a:noFill/>
        </p:spPr>
        <p:txBody>
          <a:bodyPr wrap="square" lIns="0" rIns="0" tIns="0" bIns="0" anchor="t">
            <a:spAutoFit/>
          </a:bodyPr>
          <a:lstStyle/>
          <a:p>
            <a:pPr algn="l"/>
            <a:r>
              <a:rPr sz="1600" b="0" i="0">
                <a:solidFill>
                  <a:srgbClr val="5B6470"/>
                </a:solidFill>
                <a:latin typeface="Arial"/>
              </a:rPr>
              <a:t>Boston (SafeGraph) and Abu Dhabi (OpenStreetMap) on one shared pipeline</a:t>
            </a:r>
          </a:p>
        </p:txBody>
      </p:sp>
      <p:sp>
        <p:nvSpPr>
          <p:cNvPr id="8" name="Stat card 2"/>
          <p:cNvSpPr/>
          <p:nvPr/>
        </p:nvSpPr>
        <p:spPr>
          <a:xfrm>
            <a:off x="5120640" y="2514600"/>
            <a:ext cx="3840480" cy="32461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0" y="2743200"/>
            <a:ext cx="3108960" cy="1188720"/>
          </a:xfrm>
          <a:prstGeom prst="rect">
            <a:avLst/>
          </a:prstGeom>
          <a:noFill/>
        </p:spPr>
        <p:txBody>
          <a:bodyPr wrap="square" lIns="0" rIns="0" tIns="0" bIns="0" anchor="b">
            <a:spAutoFit/>
          </a:bodyPr>
          <a:lstStyle/>
          <a:p>
            <a:pPr algn="l"/>
            <a:r>
              <a:rPr sz="6600" b="1" i="0">
                <a:solidFill>
                  <a:srgbClr val="2B6DF3"/>
                </a:solidFill>
                <a:latin typeface="Arial"/>
              </a:rPr>
              <a:t>382</a:t>
            </a:r>
          </a:p>
        </p:txBody>
      </p:sp>
      <p:sp>
        <p:nvSpPr>
          <p:cNvPr id="10" name="TextBox 9"/>
          <p:cNvSpPr txBox="1"/>
          <p:nvPr/>
        </p:nvSpPr>
        <p:spPr>
          <a:xfrm>
            <a:off x="5486400" y="4069080"/>
            <a:ext cx="3108960" cy="457200"/>
          </a:xfrm>
          <a:prstGeom prst="rect">
            <a:avLst/>
          </a:prstGeom>
          <a:noFill/>
        </p:spPr>
        <p:txBody>
          <a:bodyPr wrap="square" lIns="0" rIns="0" tIns="0" bIns="0" anchor="t">
            <a:spAutoFit/>
          </a:bodyPr>
          <a:lstStyle/>
          <a:p>
            <a:pPr algn="l"/>
            <a:r>
              <a:rPr sz="2200" b="1" i="0">
                <a:solidFill>
                  <a:srgbClr val="0D1117"/>
                </a:solidFill>
                <a:latin typeface="Arial"/>
              </a:rPr>
              <a:t>benchmark queries</a:t>
            </a:r>
          </a:p>
        </p:txBody>
      </p:sp>
      <p:sp>
        <p:nvSpPr>
          <p:cNvPr id="11" name="TextBox 10"/>
          <p:cNvSpPr txBox="1"/>
          <p:nvPr/>
        </p:nvSpPr>
        <p:spPr>
          <a:xfrm>
            <a:off x="5486400" y="4572000"/>
            <a:ext cx="3108960" cy="1097280"/>
          </a:xfrm>
          <a:prstGeom prst="rect">
            <a:avLst/>
          </a:prstGeom>
          <a:noFill/>
        </p:spPr>
        <p:txBody>
          <a:bodyPr wrap="square" lIns="0" rIns="0" tIns="0" bIns="0" anchor="t">
            <a:spAutoFit/>
          </a:bodyPr>
          <a:lstStyle/>
          <a:p>
            <a:pPr algn="l"/>
            <a:r>
              <a:rPr sz="1600" b="0" i="0">
                <a:solidFill>
                  <a:srgbClr val="5B6470"/>
                </a:solidFill>
                <a:latin typeface="Arial"/>
              </a:rPr>
              <a:t>306 in Boston and 76 scored in Abu Dhabi, from easy to hard</a:t>
            </a:r>
          </a:p>
        </p:txBody>
      </p:sp>
      <p:sp>
        <p:nvSpPr>
          <p:cNvPr id="12" name="Stat card 3"/>
          <p:cNvSpPr/>
          <p:nvPr/>
        </p:nvSpPr>
        <p:spPr>
          <a:xfrm>
            <a:off x="9326880" y="2514600"/>
            <a:ext cx="3840480" cy="32461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692640" y="2743200"/>
            <a:ext cx="3108960" cy="1188720"/>
          </a:xfrm>
          <a:prstGeom prst="rect">
            <a:avLst/>
          </a:prstGeom>
          <a:noFill/>
        </p:spPr>
        <p:txBody>
          <a:bodyPr wrap="square" lIns="0" rIns="0" tIns="0" bIns="0" anchor="b">
            <a:spAutoFit/>
          </a:bodyPr>
          <a:lstStyle/>
          <a:p>
            <a:pPr algn="l"/>
            <a:r>
              <a:rPr sz="6600" b="1" i="0">
                <a:solidFill>
                  <a:srgbClr val="1D9A6C"/>
                </a:solidFill>
                <a:latin typeface="Arial"/>
              </a:rPr>
              <a:t>87%</a:t>
            </a:r>
          </a:p>
        </p:txBody>
      </p:sp>
      <p:sp>
        <p:nvSpPr>
          <p:cNvPr id="14" name="TextBox 13"/>
          <p:cNvSpPr txBox="1"/>
          <p:nvPr/>
        </p:nvSpPr>
        <p:spPr>
          <a:xfrm>
            <a:off x="9692640" y="4069080"/>
            <a:ext cx="3108960" cy="457200"/>
          </a:xfrm>
          <a:prstGeom prst="rect">
            <a:avLst/>
          </a:prstGeom>
          <a:noFill/>
        </p:spPr>
        <p:txBody>
          <a:bodyPr wrap="square" lIns="0" rIns="0" tIns="0" bIns="0" anchor="t">
            <a:spAutoFit/>
          </a:bodyPr>
          <a:lstStyle/>
          <a:p>
            <a:pPr algn="l"/>
            <a:r>
              <a:rPr sz="2200" b="1" i="0">
                <a:solidFill>
                  <a:srgbClr val="0D1117"/>
                </a:solidFill>
                <a:latin typeface="Arial"/>
              </a:rPr>
              <a:t>exact-match answers</a:t>
            </a:r>
          </a:p>
        </p:txBody>
      </p:sp>
      <p:sp>
        <p:nvSpPr>
          <p:cNvPr id="15" name="TextBox 14"/>
          <p:cNvSpPr txBox="1"/>
          <p:nvPr/>
        </p:nvSpPr>
        <p:spPr>
          <a:xfrm>
            <a:off x="9692640" y="4572000"/>
            <a:ext cx="3108960" cy="1097280"/>
          </a:xfrm>
          <a:prstGeom prst="rect">
            <a:avLst/>
          </a:prstGeom>
          <a:noFill/>
        </p:spPr>
        <p:txBody>
          <a:bodyPr wrap="square" lIns="0" rIns="0" tIns="0" bIns="0" anchor="t">
            <a:spAutoFit/>
          </a:bodyPr>
          <a:lstStyle/>
          <a:p>
            <a:pPr algn="l"/>
            <a:r>
              <a:rPr sz="1600" b="0" i="0">
                <a:solidFill>
                  <a:srgbClr val="5B6470"/>
                </a:solidFill>
                <a:latin typeface="Arial"/>
              </a:rPr>
              <a:t>Single-shot GPT-4o on Abu Dhabi; 100% on easy and medium</a:t>
            </a:r>
          </a:p>
        </p:txBody>
      </p:sp>
      <p:sp>
        <p:nvSpPr>
          <p:cNvPr id="16" name="Stat card 4"/>
          <p:cNvSpPr/>
          <p:nvPr/>
        </p:nvSpPr>
        <p:spPr>
          <a:xfrm>
            <a:off x="13533119" y="2514600"/>
            <a:ext cx="3840480" cy="32461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898880" y="2743200"/>
            <a:ext cx="3108960" cy="1188720"/>
          </a:xfrm>
          <a:prstGeom prst="rect">
            <a:avLst/>
          </a:prstGeom>
          <a:noFill/>
        </p:spPr>
        <p:txBody>
          <a:bodyPr wrap="square" lIns="0" rIns="0" tIns="0" bIns="0" anchor="b">
            <a:spAutoFit/>
          </a:bodyPr>
          <a:lstStyle/>
          <a:p>
            <a:pPr algn="l"/>
            <a:r>
              <a:rPr sz="6600" b="1" i="0">
                <a:solidFill>
                  <a:srgbClr val="1D9A6C"/>
                </a:solidFill>
                <a:latin typeface="Arial"/>
              </a:rPr>
              <a:t>20–65×</a:t>
            </a:r>
          </a:p>
        </p:txBody>
      </p:sp>
      <p:sp>
        <p:nvSpPr>
          <p:cNvPr id="18" name="TextBox 17"/>
          <p:cNvSpPr txBox="1"/>
          <p:nvPr/>
        </p:nvSpPr>
        <p:spPr>
          <a:xfrm>
            <a:off x="13898880" y="4069080"/>
            <a:ext cx="3108960" cy="457200"/>
          </a:xfrm>
          <a:prstGeom prst="rect">
            <a:avLst/>
          </a:prstGeom>
          <a:noFill/>
        </p:spPr>
        <p:txBody>
          <a:bodyPr wrap="square" lIns="0" rIns="0" tIns="0" bIns="0" anchor="t">
            <a:spAutoFit/>
          </a:bodyPr>
          <a:lstStyle/>
          <a:p>
            <a:pPr algn="l"/>
            <a:r>
              <a:rPr sz="2200" b="1" i="0">
                <a:solidFill>
                  <a:srgbClr val="0D1117"/>
                </a:solidFill>
                <a:latin typeface="Arial"/>
              </a:rPr>
              <a:t>faster than agents</a:t>
            </a:r>
          </a:p>
        </p:txBody>
      </p:sp>
      <p:sp>
        <p:nvSpPr>
          <p:cNvPr id="19" name="TextBox 18"/>
          <p:cNvSpPr txBox="1"/>
          <p:nvPr/>
        </p:nvSpPr>
        <p:spPr>
          <a:xfrm>
            <a:off x="13898880" y="4572000"/>
            <a:ext cx="3108960" cy="1097280"/>
          </a:xfrm>
          <a:prstGeom prst="rect">
            <a:avLst/>
          </a:prstGeom>
          <a:noFill/>
        </p:spPr>
        <p:txBody>
          <a:bodyPr wrap="square" lIns="0" rIns="0" tIns="0" bIns="0" anchor="t">
            <a:spAutoFit/>
          </a:bodyPr>
          <a:lstStyle/>
          <a:p>
            <a:pPr algn="l"/>
            <a:r>
              <a:rPr sz="1600" b="0" i="0">
                <a:solidFill>
                  <a:srgbClr val="5B6470"/>
                </a:solidFill>
                <a:latin typeface="Arial"/>
              </a:rPr>
              <a:t>Single-shot code generation vs. ReAct / Reflexion, with higher F1</a:t>
            </a:r>
          </a:p>
        </p:txBody>
      </p:sp>
      <p:sp>
        <p:nvSpPr>
          <p:cNvPr id="20" name="Oval 19"/>
          <p:cNvSpPr/>
          <p:nvPr/>
        </p:nvSpPr>
        <p:spPr>
          <a:xfrm>
            <a:off x="914400" y="6382512"/>
            <a:ext cx="310896" cy="310896"/>
          </a:xfrm>
          <a:prstGeom prst="ellipse">
            <a:avLst/>
          </a:prstGeom>
          <a:solidFill>
            <a:srgbClr val="2B6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417320" y="6309360"/>
            <a:ext cx="4754880" cy="457200"/>
          </a:xfrm>
          <a:prstGeom prst="rect">
            <a:avLst/>
          </a:prstGeom>
          <a:noFill/>
        </p:spPr>
        <p:txBody>
          <a:bodyPr wrap="square" lIns="0" rIns="0" tIns="0" bIns="0" anchor="t">
            <a:spAutoFit/>
          </a:bodyPr>
          <a:lstStyle/>
          <a:p>
            <a:pPr algn="l"/>
            <a:r>
              <a:rPr sz="2200" b="1" i="0">
                <a:solidFill>
                  <a:srgbClr val="0D1117"/>
                </a:solidFill>
                <a:latin typeface="Arial"/>
              </a:rPr>
              <a:t>What we built</a:t>
            </a:r>
          </a:p>
        </p:txBody>
      </p:sp>
      <p:sp>
        <p:nvSpPr>
          <p:cNvPr id="22" name="TextBox 21"/>
          <p:cNvSpPr txBox="1"/>
          <p:nvPr/>
        </p:nvSpPr>
        <p:spPr>
          <a:xfrm>
            <a:off x="1417320" y="6858000"/>
            <a:ext cx="4709160" cy="2011680"/>
          </a:xfrm>
          <a:prstGeom prst="rect">
            <a:avLst/>
          </a:prstGeom>
          <a:noFill/>
        </p:spPr>
        <p:txBody>
          <a:bodyPr wrap="square" lIns="0" rIns="0" tIns="0" bIns="0" anchor="t">
            <a:spAutoFit/>
          </a:bodyPr>
          <a:lstStyle/>
          <a:p>
            <a:pPr algn="l">
              <a:lnSpc>
                <a:spcPct val="110000"/>
              </a:lnSpc>
            </a:pPr>
            <a:r>
              <a:rPr sz="1800" b="0" i="0">
                <a:solidFill>
                  <a:srgbClr val="5B6470"/>
                </a:solidFill>
                <a:latin typeface="Arial"/>
              </a:rPr>
              <a:t>An app that turns a plain-English request into a validated spec, exact zones, and ranked, explained results on a 3D city map.</a:t>
            </a:r>
          </a:p>
        </p:txBody>
      </p:sp>
      <p:sp>
        <p:nvSpPr>
          <p:cNvPr id="23" name="Oval 22"/>
          <p:cNvSpPr/>
          <p:nvPr/>
        </p:nvSpPr>
        <p:spPr>
          <a:xfrm>
            <a:off x="6524244" y="6382512"/>
            <a:ext cx="310896" cy="310896"/>
          </a:xfrm>
          <a:prstGeom prst="ellipse">
            <a:avLst/>
          </a:prstGeom>
          <a:solidFill>
            <a:srgbClr val="1D9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027164" y="6309360"/>
            <a:ext cx="4754880" cy="457200"/>
          </a:xfrm>
          <a:prstGeom prst="rect">
            <a:avLst/>
          </a:prstGeom>
          <a:noFill/>
        </p:spPr>
        <p:txBody>
          <a:bodyPr wrap="square" lIns="0" rIns="0" tIns="0" bIns="0" anchor="t">
            <a:spAutoFit/>
          </a:bodyPr>
          <a:lstStyle/>
          <a:p>
            <a:pPr algn="l"/>
            <a:r>
              <a:rPr sz="2200" b="1" i="0">
                <a:solidFill>
                  <a:srgbClr val="0D1117"/>
                </a:solidFill>
                <a:latin typeface="Arial"/>
              </a:rPr>
              <a:t>What we learned</a:t>
            </a:r>
          </a:p>
        </p:txBody>
      </p:sp>
      <p:sp>
        <p:nvSpPr>
          <p:cNvPr id="25" name="TextBox 24"/>
          <p:cNvSpPr txBox="1"/>
          <p:nvPr/>
        </p:nvSpPr>
        <p:spPr>
          <a:xfrm>
            <a:off x="7027164" y="6858000"/>
            <a:ext cx="4709160" cy="2011680"/>
          </a:xfrm>
          <a:prstGeom prst="rect">
            <a:avLst/>
          </a:prstGeom>
          <a:noFill/>
        </p:spPr>
        <p:txBody>
          <a:bodyPr wrap="square" lIns="0" rIns="0" tIns="0" bIns="0" anchor="t">
            <a:spAutoFit/>
          </a:bodyPr>
          <a:lstStyle/>
          <a:p>
            <a:pPr algn="l">
              <a:lnSpc>
                <a:spcPct val="110000"/>
              </a:lnSpc>
            </a:pPr>
            <a:r>
              <a:rPr sz="1800" b="0" i="0">
                <a:solidFill>
                  <a:srgbClr val="5B6470"/>
                </a:solidFill>
                <a:latin typeface="Arial"/>
              </a:rPr>
              <a:t>Reasoning models and agents did not beat single-shot code generation. Explanations work better in the ranking layer.</a:t>
            </a:r>
          </a:p>
        </p:txBody>
      </p:sp>
      <p:sp>
        <p:nvSpPr>
          <p:cNvPr id="26" name="Oval 25"/>
          <p:cNvSpPr/>
          <p:nvPr/>
        </p:nvSpPr>
        <p:spPr>
          <a:xfrm>
            <a:off x="12134088" y="6382512"/>
            <a:ext cx="310896" cy="310896"/>
          </a:xfrm>
          <a:prstGeom prst="ellipse">
            <a:avLst/>
          </a:prstGeom>
          <a:solidFill>
            <a:srgbClr val="F4A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2637008" y="6309360"/>
            <a:ext cx="4754880" cy="457200"/>
          </a:xfrm>
          <a:prstGeom prst="rect">
            <a:avLst/>
          </a:prstGeom>
          <a:noFill/>
        </p:spPr>
        <p:txBody>
          <a:bodyPr wrap="square" lIns="0" rIns="0" tIns="0" bIns="0" anchor="t">
            <a:spAutoFit/>
          </a:bodyPr>
          <a:lstStyle/>
          <a:p>
            <a:pPr algn="l"/>
            <a:r>
              <a:rPr sz="2200" b="1" i="0">
                <a:solidFill>
                  <a:srgbClr val="0D1117"/>
                </a:solidFill>
                <a:latin typeface="Arial"/>
              </a:rPr>
              <a:t>What's next</a:t>
            </a:r>
          </a:p>
        </p:txBody>
      </p:sp>
      <p:sp>
        <p:nvSpPr>
          <p:cNvPr id="28" name="TextBox 27"/>
          <p:cNvSpPr txBox="1"/>
          <p:nvPr/>
        </p:nvSpPr>
        <p:spPr>
          <a:xfrm>
            <a:off x="12637008" y="6858000"/>
            <a:ext cx="4709160" cy="2011680"/>
          </a:xfrm>
          <a:prstGeom prst="rect">
            <a:avLst/>
          </a:prstGeom>
          <a:noFill/>
        </p:spPr>
        <p:txBody>
          <a:bodyPr wrap="square" lIns="0" rIns="0" tIns="0" bIns="0" anchor="t">
            <a:spAutoFit/>
          </a:bodyPr>
          <a:lstStyle/>
          <a:p>
            <a:pPr algn="l">
              <a:lnSpc>
                <a:spcPct val="110000"/>
              </a:lnSpc>
            </a:pPr>
            <a:r>
              <a:rPr sz="1800" b="0" i="0">
                <a:solidFill>
                  <a:srgbClr val="5B6470"/>
                </a:solidFill>
                <a:latin typeface="Arial"/>
              </a:rPr>
              <a:t>Environmental layers, automatic relaxation for zero-match queries, regulatory rules, and an adaptive interface.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14400" y="685800"/>
            <a:ext cx="16459200" cy="822960"/>
          </a:xfrm>
        </p:spPr>
        <p:txBody>
          <a:bodyPr lIns="0" rIns="0" tIns="0" bIns="0" anchor="t" wrap="square"/>
          <a:lstStyle/>
          <a:p>
            <a:pPr marL="0" indent="0">
              <a:buNone/>
            </a:pPr>
            <a:r>
              <a:rPr sz="3600" b="1" i="0">
                <a:solidFill>
                  <a:srgbClr val="0D1117"/>
                </a:solidFill>
                <a:latin typeface="Arial"/>
              </a:rPr>
              <a:t>How it works</a:t>
            </a:r>
          </a:p>
        </p:txBody>
      </p:sp>
      <p:sp>
        <p:nvSpPr>
          <p:cNvPr id="3" name="TextBox 2"/>
          <p:cNvSpPr txBox="1"/>
          <p:nvPr/>
        </p:nvSpPr>
        <p:spPr>
          <a:xfrm>
            <a:off x="914400" y="1536192"/>
            <a:ext cx="10058400" cy="685800"/>
          </a:xfrm>
          <a:prstGeom prst="rect">
            <a:avLst/>
          </a:prstGeom>
          <a:noFill/>
        </p:spPr>
        <p:txBody>
          <a:bodyPr wrap="square" lIns="0" rIns="0" tIns="0" bIns="0" anchor="t">
            <a:spAutoFit/>
          </a:bodyPr>
          <a:lstStyle/>
          <a:p>
            <a:pPr algn="l"/>
            <a:r>
              <a:rPr sz="2000" b="0" i="0">
                <a:solidFill>
                  <a:srgbClr val="5B6470"/>
                </a:solidFill>
                <a:latin typeface="Arial"/>
              </a:rPr>
              <a:t>LLMs where language matters; deterministic code where correctness matters.</a:t>
            </a:r>
          </a:p>
        </p:txBody>
      </p:sp>
      <p:sp>
        <p:nvSpPr>
          <p:cNvPr id="4" name="Rounded Rectangle 3"/>
          <p:cNvSpPr/>
          <p:nvPr/>
        </p:nvSpPr>
        <p:spPr>
          <a:xfrm>
            <a:off x="10972800" y="1627632"/>
            <a:ext cx="292608" cy="292608"/>
          </a:xfrm>
          <a:prstGeom prst="roundRect">
            <a:avLst>
              <a:gd name="adj" fmla="val 20000"/>
            </a:avLst>
          </a:prstGeom>
          <a:solidFill>
            <a:srgbClr val="EAF0FE"/>
          </a:solidFill>
          <a:ln w="15875">
            <a:solidFill>
              <a:srgbClr val="2B6D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356848" y="1609344"/>
            <a:ext cx="1691640" cy="365760"/>
          </a:xfrm>
          <a:prstGeom prst="rect">
            <a:avLst/>
          </a:prstGeom>
          <a:noFill/>
        </p:spPr>
        <p:txBody>
          <a:bodyPr wrap="square" lIns="0" rIns="0" tIns="0" bIns="0" anchor="ctr">
            <a:spAutoFit/>
          </a:bodyPr>
          <a:lstStyle/>
          <a:p>
            <a:pPr algn="l"/>
            <a:r>
              <a:rPr sz="1400" b="0" i="0">
                <a:solidFill>
                  <a:srgbClr val="5B6470"/>
                </a:solidFill>
                <a:latin typeface="Arial"/>
              </a:rPr>
              <a:t>LLM step</a:t>
            </a:r>
          </a:p>
        </p:txBody>
      </p:sp>
      <p:sp>
        <p:nvSpPr>
          <p:cNvPr id="6" name="Rounded Rectangle 5"/>
          <p:cNvSpPr/>
          <p:nvPr/>
        </p:nvSpPr>
        <p:spPr>
          <a:xfrm>
            <a:off x="13030200" y="1627632"/>
            <a:ext cx="292608" cy="292608"/>
          </a:xfrm>
          <a:prstGeom prst="roundRect">
            <a:avLst>
              <a:gd name="adj" fmla="val 20000"/>
            </a:avLst>
          </a:prstGeom>
          <a:solidFill>
            <a:srgbClr val="E8F6F0"/>
          </a:solidFill>
          <a:ln w="15875">
            <a:solidFill>
              <a:srgbClr val="1D9A6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414248" y="1609344"/>
            <a:ext cx="1691640" cy="365760"/>
          </a:xfrm>
          <a:prstGeom prst="rect">
            <a:avLst/>
          </a:prstGeom>
          <a:noFill/>
        </p:spPr>
        <p:txBody>
          <a:bodyPr wrap="square" lIns="0" rIns="0" tIns="0" bIns="0" anchor="ctr">
            <a:spAutoFit/>
          </a:bodyPr>
          <a:lstStyle/>
          <a:p>
            <a:pPr algn="l"/>
            <a:r>
              <a:rPr sz="1400" b="0" i="0">
                <a:solidFill>
                  <a:srgbClr val="5B6470"/>
                </a:solidFill>
                <a:latin typeface="Arial"/>
              </a:rPr>
              <a:t>Deterministic step</a:t>
            </a:r>
          </a:p>
        </p:txBody>
      </p:sp>
      <p:sp>
        <p:nvSpPr>
          <p:cNvPr id="8" name="Rounded Rectangle 7"/>
          <p:cNvSpPr/>
          <p:nvPr/>
        </p:nvSpPr>
        <p:spPr>
          <a:xfrm>
            <a:off x="15087600" y="1627632"/>
            <a:ext cx="292608" cy="292608"/>
          </a:xfrm>
          <a:prstGeom prst="roundRect">
            <a:avLst>
              <a:gd name="adj" fmla="val 20000"/>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5471648" y="1609344"/>
            <a:ext cx="1691640" cy="365760"/>
          </a:xfrm>
          <a:prstGeom prst="rect">
            <a:avLst/>
          </a:prstGeom>
          <a:noFill/>
        </p:spPr>
        <p:txBody>
          <a:bodyPr wrap="square" lIns="0" rIns="0" tIns="0" bIns="0" anchor="ctr">
            <a:spAutoFit/>
          </a:bodyPr>
          <a:lstStyle/>
          <a:p>
            <a:pPr algn="l"/>
            <a:r>
              <a:rPr sz="1400" b="0" i="0">
                <a:solidFill>
                  <a:srgbClr val="5B6470"/>
                </a:solidFill>
                <a:latin typeface="Arial"/>
              </a:rPr>
              <a:t>Interface</a:t>
            </a:r>
          </a:p>
        </p:txBody>
      </p:sp>
      <p:sp>
        <p:nvSpPr>
          <p:cNvPr id="10" name="TextBox 9"/>
          <p:cNvSpPr txBox="1"/>
          <p:nvPr/>
        </p:nvSpPr>
        <p:spPr>
          <a:xfrm>
            <a:off x="914400" y="2450592"/>
            <a:ext cx="2377440" cy="365760"/>
          </a:xfrm>
          <a:prstGeom prst="rect">
            <a:avLst/>
          </a:prstGeom>
          <a:noFill/>
        </p:spPr>
        <p:txBody>
          <a:bodyPr wrap="square" lIns="0" rIns="0" tIns="0" bIns="0" anchor="t">
            <a:spAutoFit/>
          </a:bodyPr>
          <a:lstStyle/>
          <a:p>
            <a:pPr algn="l"/>
            <a:r>
              <a:rPr sz="1500" b="1" i="0">
                <a:solidFill>
                  <a:srgbClr val="5B6470"/>
                </a:solidFill>
                <a:latin typeface="Arial"/>
              </a:rPr>
              <a:t>1  ASK</a:t>
            </a:r>
          </a:p>
        </p:txBody>
      </p:sp>
      <p:sp>
        <p:nvSpPr>
          <p:cNvPr id="11" name="Plain-English request"/>
          <p:cNvSpPr/>
          <p:nvPr/>
        </p:nvSpPr>
        <p:spPr>
          <a:xfrm>
            <a:off x="914400" y="2926080"/>
            <a:ext cx="2377440" cy="1828800"/>
          </a:xfrm>
          <a:prstGeom prst="roundRect">
            <a:avLst>
              <a:gd name="adj" fmla="val 7000"/>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117043" bIns="117043" wrap="square"/>
          <a:lstStyle/>
          <a:p>
            <a:pPr algn="l">
              <a:spcAft>
                <a:spcPts val="400"/>
              </a:spcAft>
            </a:pPr>
            <a:r>
              <a:rPr sz="1700" b="1" i="0">
                <a:solidFill>
                  <a:srgbClr val="FFFFFF"/>
                </a:solidFill>
                <a:latin typeface="Arial"/>
              </a:rPr>
              <a:t>Plain-English request</a:t>
            </a:r>
          </a:p>
          <a:p>
            <a:pPr algn="l">
              <a:spcAft>
                <a:spcPts val="400"/>
              </a:spcAft>
            </a:pPr>
            <a:r>
              <a:rPr sz="1500" b="0" i="0">
                <a:solidFill>
                  <a:srgbClr val="C9D1DD"/>
                </a:solidFill>
                <a:latin typeface="Arial"/>
              </a:rPr>
              <a:t>Hard constraints plus an optional persona or priority</a:t>
            </a:r>
          </a:p>
        </p:txBody>
      </p:sp>
      <p:sp>
        <p:nvSpPr>
          <p:cNvPr id="12" name="“Urban designer who cares abou"/>
          <p:cNvSpPr/>
          <p:nvPr/>
        </p:nvSpPr>
        <p:spPr>
          <a:xfrm>
            <a:off x="914400" y="5074920"/>
            <a:ext cx="2377440" cy="1600200"/>
          </a:xfrm>
          <a:prstGeom prst="roundRect">
            <a:avLst>
              <a:gd name="adj" fmla="val 7000"/>
            </a:avLst>
          </a:prstGeom>
          <a:solidFill>
            <a:srgbClr val="FFFFFF"/>
          </a:solidFill>
          <a:ln w="19050">
            <a:solidFill>
              <a:srgbClr val="D9DEE7"/>
            </a:solidFill>
            <a:prstDash val="dash"/>
          </a:ln>
          <a:effectLst/>
        </p:spPr>
        <p:style>
          <a:lnRef idx="1">
            <a:schemeClr val="accent1"/>
          </a:lnRef>
          <a:fillRef idx="3">
            <a:schemeClr val="accent1"/>
          </a:fillRef>
          <a:effectRef idx="2">
            <a:schemeClr val="accent1"/>
          </a:effectRef>
          <a:fontRef idx="minor">
            <a:schemeClr val="lt1"/>
          </a:fontRef>
        </p:style>
        <p:txBody>
          <a:bodyPr rtlCol="0" anchor="t" lIns="146304" rIns="146304" tIns="117043" bIns="117043" wrap="square"/>
          <a:lstStyle/>
          <a:p>
            <a:pPr algn="l">
              <a:spcAft>
                <a:spcPts val="400"/>
              </a:spcAft>
            </a:pPr>
            <a:r>
              <a:rPr sz="1500" b="0" i="1">
                <a:solidFill>
                  <a:srgbClr val="5B6470"/>
                </a:solidFill>
                <a:latin typeface="Arial"/>
              </a:rPr>
              <a:t>“Urban designer who cares about greenery: zones within 800 m of a mall, ≥ 2 pharmacies”</a:t>
            </a:r>
          </a:p>
        </p:txBody>
      </p:sp>
      <p:cxnSp>
        <p:nvCxnSpPr>
          <p:cNvPr id="13" name="Connector 12"/>
          <p:cNvCxnSpPr/>
          <p:nvPr/>
        </p:nvCxnSpPr>
        <p:spPr>
          <a:xfrm>
            <a:off x="3337560" y="3840480"/>
            <a:ext cx="347472" cy="0"/>
          </a:xfrm>
          <a:prstGeom prst="line">
            <a:avLst/>
          </a:prstGeom>
          <a:ln w="25400">
            <a:solidFill>
              <a:srgbClr val="5B64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730752" y="2450592"/>
            <a:ext cx="2377440" cy="365760"/>
          </a:xfrm>
          <a:prstGeom prst="rect">
            <a:avLst/>
          </a:prstGeom>
          <a:noFill/>
        </p:spPr>
        <p:txBody>
          <a:bodyPr wrap="square" lIns="0" rIns="0" tIns="0" bIns="0" anchor="t">
            <a:spAutoFit/>
          </a:bodyPr>
          <a:lstStyle/>
          <a:p>
            <a:pPr algn="l"/>
            <a:r>
              <a:rPr sz="1500" b="1" i="0">
                <a:solidFill>
                  <a:srgbClr val="1E4FD8"/>
                </a:solidFill>
                <a:latin typeface="Arial"/>
              </a:rPr>
              <a:t>2  UNDERSTAND</a:t>
            </a:r>
          </a:p>
        </p:txBody>
      </p:sp>
      <p:sp>
        <p:nvSpPr>
          <p:cNvPr id="15" name="Spec generation"/>
          <p:cNvSpPr/>
          <p:nvPr/>
        </p:nvSpPr>
        <p:spPr>
          <a:xfrm>
            <a:off x="3730752" y="2926080"/>
            <a:ext cx="2377440" cy="1828800"/>
          </a:xfrm>
          <a:prstGeom prst="roundRect">
            <a:avLst>
              <a:gd name="adj" fmla="val 7000"/>
            </a:avLst>
          </a:prstGeom>
          <a:solidFill>
            <a:srgbClr val="EAF0FE"/>
          </a:solidFill>
          <a:ln w="19050">
            <a:solidFill>
              <a:srgbClr val="2B6DF3"/>
            </a:solidFill>
          </a:ln>
          <a:effectLst/>
        </p:spPr>
        <p:style>
          <a:lnRef idx="1">
            <a:schemeClr val="accent1"/>
          </a:lnRef>
          <a:fillRef idx="3">
            <a:schemeClr val="accent1"/>
          </a:fillRef>
          <a:effectRef idx="2">
            <a:schemeClr val="accent1"/>
          </a:effectRef>
          <a:fontRef idx="minor">
            <a:schemeClr val="lt1"/>
          </a:fontRef>
        </p:style>
        <p:txBody>
          <a:bodyPr rtlCol="0" anchor="t" lIns="146304" rIns="146304" tIns="117043" bIns="117043" wrap="square"/>
          <a:lstStyle/>
          <a:p>
            <a:pPr algn="l">
              <a:spcAft>
                <a:spcPts val="400"/>
              </a:spcAft>
            </a:pPr>
            <a:r>
              <a:rPr sz="1700" b="1" i="0">
                <a:solidFill>
                  <a:srgbClr val="1E4FD8"/>
                </a:solidFill>
                <a:latin typeface="Arial"/>
              </a:rPr>
              <a:t>Spec generation</a:t>
            </a:r>
          </a:p>
          <a:p>
            <a:pPr algn="l">
              <a:spcAft>
                <a:spcPts val="400"/>
              </a:spcAft>
            </a:pPr>
            <a:r>
              <a:rPr sz="1500" b="0" i="0">
                <a:solidFill>
                  <a:srgbClr val="0D1117"/>
                </a:solidFill>
                <a:latin typeface="Arial"/>
              </a:rPr>
              <a:t>Request becomes a JSON constraint spec (AND / OR / NOT)</a:t>
            </a:r>
          </a:p>
        </p:txBody>
      </p:sp>
      <p:sp>
        <p:nvSpPr>
          <p:cNvPr id="16" name="Priority extraction"/>
          <p:cNvSpPr/>
          <p:nvPr/>
        </p:nvSpPr>
        <p:spPr>
          <a:xfrm>
            <a:off x="3730752" y="5074920"/>
            <a:ext cx="2377440" cy="1600200"/>
          </a:xfrm>
          <a:prstGeom prst="roundRect">
            <a:avLst>
              <a:gd name="adj" fmla="val 7000"/>
            </a:avLst>
          </a:prstGeom>
          <a:solidFill>
            <a:srgbClr val="EAF0FE"/>
          </a:solidFill>
          <a:ln w="19050">
            <a:solidFill>
              <a:srgbClr val="2B6DF3"/>
            </a:solidFill>
          </a:ln>
          <a:effectLst/>
        </p:spPr>
        <p:style>
          <a:lnRef idx="1">
            <a:schemeClr val="accent1"/>
          </a:lnRef>
          <a:fillRef idx="3">
            <a:schemeClr val="accent1"/>
          </a:fillRef>
          <a:effectRef idx="2">
            <a:schemeClr val="accent1"/>
          </a:effectRef>
          <a:fontRef idx="minor">
            <a:schemeClr val="lt1"/>
          </a:fontRef>
        </p:style>
        <p:txBody>
          <a:bodyPr rtlCol="0" anchor="t" lIns="146304" rIns="146304" tIns="117043" bIns="117043" wrap="square"/>
          <a:lstStyle/>
          <a:p>
            <a:pPr algn="l">
              <a:spcAft>
                <a:spcPts val="400"/>
              </a:spcAft>
            </a:pPr>
            <a:r>
              <a:rPr sz="1700" b="1" i="0">
                <a:solidFill>
                  <a:srgbClr val="1E4FD8"/>
                </a:solidFill>
                <a:latin typeface="Arial"/>
              </a:rPr>
              <a:t>Priority extraction</a:t>
            </a:r>
          </a:p>
          <a:p>
            <a:pPr algn="l">
              <a:spcAft>
                <a:spcPts val="400"/>
              </a:spcAft>
            </a:pPr>
            <a:r>
              <a:rPr sz="1500" b="0" i="0">
                <a:solidFill>
                  <a:srgbClr val="0D1117"/>
                </a:solidFill>
                <a:latin typeface="Arial"/>
              </a:rPr>
              <a:t>Persona becomes a ranking dimension, e.g. greenery</a:t>
            </a:r>
          </a:p>
        </p:txBody>
      </p:sp>
      <p:cxnSp>
        <p:nvCxnSpPr>
          <p:cNvPr id="17" name="Connector 16"/>
          <p:cNvCxnSpPr/>
          <p:nvPr/>
        </p:nvCxnSpPr>
        <p:spPr>
          <a:xfrm>
            <a:off x="6153912" y="3840480"/>
            <a:ext cx="347472" cy="0"/>
          </a:xfrm>
          <a:prstGeom prst="line">
            <a:avLst/>
          </a:prstGeom>
          <a:ln w="25400">
            <a:solidFill>
              <a:srgbClr val="5B64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547104" y="2450592"/>
            <a:ext cx="2377440" cy="365760"/>
          </a:xfrm>
          <a:prstGeom prst="rect">
            <a:avLst/>
          </a:prstGeom>
          <a:noFill/>
        </p:spPr>
        <p:txBody>
          <a:bodyPr wrap="square" lIns="0" rIns="0" tIns="0" bIns="0" anchor="t">
            <a:spAutoFit/>
          </a:bodyPr>
          <a:lstStyle/>
          <a:p>
            <a:pPr algn="l"/>
            <a:r>
              <a:rPr sz="1500" b="1" i="0">
                <a:solidFill>
                  <a:srgbClr val="0F7A55"/>
                </a:solidFill>
                <a:latin typeface="Arial"/>
              </a:rPr>
              <a:t>3  CHECK</a:t>
            </a:r>
          </a:p>
        </p:txBody>
      </p:sp>
      <p:sp>
        <p:nvSpPr>
          <p:cNvPr id="19" name="Validation"/>
          <p:cNvSpPr/>
          <p:nvPr/>
        </p:nvSpPr>
        <p:spPr>
          <a:xfrm>
            <a:off x="6547104" y="2926080"/>
            <a:ext cx="2377440" cy="1828800"/>
          </a:xfrm>
          <a:prstGeom prst="roundRect">
            <a:avLst>
              <a:gd name="adj" fmla="val 7000"/>
            </a:avLst>
          </a:prstGeom>
          <a:solidFill>
            <a:srgbClr val="E8F6F0"/>
          </a:solidFill>
          <a:ln w="19050">
            <a:solidFill>
              <a:srgbClr val="1D9A6C"/>
            </a:solidFill>
          </a:ln>
          <a:effectLst/>
        </p:spPr>
        <p:style>
          <a:lnRef idx="1">
            <a:schemeClr val="accent1"/>
          </a:lnRef>
          <a:fillRef idx="3">
            <a:schemeClr val="accent1"/>
          </a:fillRef>
          <a:effectRef idx="2">
            <a:schemeClr val="accent1"/>
          </a:effectRef>
          <a:fontRef idx="minor">
            <a:schemeClr val="lt1"/>
          </a:fontRef>
        </p:style>
        <p:txBody>
          <a:bodyPr rtlCol="0" anchor="t" lIns="146304" rIns="146304" tIns="117043" bIns="117043" wrap="square"/>
          <a:lstStyle/>
          <a:p>
            <a:pPr algn="l">
              <a:spcAft>
                <a:spcPts val="400"/>
              </a:spcAft>
            </a:pPr>
            <a:r>
              <a:rPr sz="1700" b="1" i="0">
                <a:solidFill>
                  <a:srgbClr val="0F7A55"/>
                </a:solidFill>
                <a:latin typeface="Arial"/>
              </a:rPr>
              <a:t>Validation</a:t>
            </a:r>
          </a:p>
          <a:p>
            <a:pPr algn="l">
              <a:spcAft>
                <a:spcPts val="400"/>
              </a:spcAft>
            </a:pPr>
            <a:r>
              <a:rPr sz="1500" b="0" i="0">
                <a:solidFill>
                  <a:srgbClr val="0D1117"/>
                </a:solidFill>
                <a:latin typeface="Arial"/>
              </a:rPr>
              <a:t>Every metric in the spec must exist in this city’s data</a:t>
            </a:r>
          </a:p>
        </p:txBody>
      </p:sp>
      <p:sp>
        <p:nvSpPr>
          <p:cNvPr id="20" name="Unsupported request? Stop and "/>
          <p:cNvSpPr/>
          <p:nvPr/>
        </p:nvSpPr>
        <p:spPr>
          <a:xfrm>
            <a:off x="6547104" y="5074920"/>
            <a:ext cx="2377440" cy="1600200"/>
          </a:xfrm>
          <a:prstGeom prst="roundRect">
            <a:avLst>
              <a:gd name="adj" fmla="val 7000"/>
            </a:avLst>
          </a:prstGeom>
          <a:solidFill>
            <a:srgbClr val="FFFFFF"/>
          </a:solidFill>
          <a:ln w="19050">
            <a:solidFill>
              <a:srgbClr val="D9DEE7"/>
            </a:solidFill>
            <a:prstDash val="dash"/>
          </a:ln>
          <a:effectLst/>
        </p:spPr>
        <p:style>
          <a:lnRef idx="1">
            <a:schemeClr val="accent1"/>
          </a:lnRef>
          <a:fillRef idx="3">
            <a:schemeClr val="accent1"/>
          </a:fillRef>
          <a:effectRef idx="2">
            <a:schemeClr val="accent1"/>
          </a:effectRef>
          <a:fontRef idx="minor">
            <a:schemeClr val="lt1"/>
          </a:fontRef>
        </p:style>
        <p:txBody>
          <a:bodyPr rtlCol="0" anchor="t" lIns="146304" rIns="146304" tIns="117043" bIns="117043" wrap="square"/>
          <a:lstStyle/>
          <a:p>
            <a:pPr algn="l">
              <a:spcAft>
                <a:spcPts val="400"/>
              </a:spcAft>
            </a:pPr>
            <a:r>
              <a:rPr sz="1500" b="0" i="0">
                <a:solidFill>
                  <a:srgbClr val="5B6470"/>
                </a:solidFill>
                <a:latin typeface="Arial"/>
              </a:rPr>
              <a:t>Unsupported request? Stop and say why. Never guess.</a:t>
            </a:r>
          </a:p>
        </p:txBody>
      </p:sp>
      <p:cxnSp>
        <p:nvCxnSpPr>
          <p:cNvPr id="21" name="Connector 20"/>
          <p:cNvCxnSpPr/>
          <p:nvPr/>
        </p:nvCxnSpPr>
        <p:spPr>
          <a:xfrm>
            <a:off x="8970264" y="3840480"/>
            <a:ext cx="347472" cy="0"/>
          </a:xfrm>
          <a:prstGeom prst="line">
            <a:avLst/>
          </a:prstGeom>
          <a:ln w="25400">
            <a:solidFill>
              <a:srgbClr val="5B64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363456" y="2450592"/>
            <a:ext cx="2377440" cy="365760"/>
          </a:xfrm>
          <a:prstGeom prst="rect">
            <a:avLst/>
          </a:prstGeom>
          <a:noFill/>
        </p:spPr>
        <p:txBody>
          <a:bodyPr wrap="square" lIns="0" rIns="0" tIns="0" bIns="0" anchor="t">
            <a:spAutoFit/>
          </a:bodyPr>
          <a:lstStyle/>
          <a:p>
            <a:pPr algn="l"/>
            <a:r>
              <a:rPr sz="1500" b="1" i="0">
                <a:solidFill>
                  <a:srgbClr val="0F7A55"/>
                </a:solidFill>
                <a:latin typeface="Arial"/>
              </a:rPr>
              <a:t>4  SOLVE</a:t>
            </a:r>
          </a:p>
        </p:txBody>
      </p:sp>
      <p:sp>
        <p:nvSpPr>
          <p:cNvPr id="23" name="Rules engine"/>
          <p:cNvSpPr/>
          <p:nvPr/>
        </p:nvSpPr>
        <p:spPr>
          <a:xfrm>
            <a:off x="9363456" y="2926080"/>
            <a:ext cx="2377440" cy="1828800"/>
          </a:xfrm>
          <a:prstGeom prst="roundRect">
            <a:avLst>
              <a:gd name="adj" fmla="val 7000"/>
            </a:avLst>
          </a:prstGeom>
          <a:solidFill>
            <a:srgbClr val="E8F6F0"/>
          </a:solidFill>
          <a:ln w="19050">
            <a:solidFill>
              <a:srgbClr val="1D9A6C"/>
            </a:solidFill>
          </a:ln>
          <a:effectLst/>
        </p:spPr>
        <p:style>
          <a:lnRef idx="1">
            <a:schemeClr val="accent1"/>
          </a:lnRef>
          <a:fillRef idx="3">
            <a:schemeClr val="accent1"/>
          </a:fillRef>
          <a:effectRef idx="2">
            <a:schemeClr val="accent1"/>
          </a:effectRef>
          <a:fontRef idx="minor">
            <a:schemeClr val="lt1"/>
          </a:fontRef>
        </p:style>
        <p:txBody>
          <a:bodyPr rtlCol="0" anchor="t" lIns="146304" rIns="146304" tIns="117043" bIns="117043" wrap="square"/>
          <a:lstStyle/>
          <a:p>
            <a:pPr algn="l">
              <a:spcAft>
                <a:spcPts val="400"/>
              </a:spcAft>
            </a:pPr>
            <a:r>
              <a:rPr sz="1700" b="1" i="0">
                <a:solidFill>
                  <a:srgbClr val="0F7A55"/>
                </a:solidFill>
                <a:latin typeface="Arial"/>
              </a:rPr>
              <a:t>Rules engine</a:t>
            </a:r>
          </a:p>
          <a:p>
            <a:pPr algn="l">
              <a:spcAft>
                <a:spcPts val="400"/>
              </a:spcAft>
            </a:pPr>
            <a:r>
              <a:rPr sz="1500" b="0" i="0">
                <a:solidFill>
                  <a:srgbClr val="0D1117"/>
                </a:solidFill>
                <a:latin typeface="Arial"/>
              </a:rPr>
              <a:t>Exact zone set, computed deterministically (ground truth)</a:t>
            </a:r>
          </a:p>
        </p:txBody>
      </p:sp>
      <p:sp>
        <p:nvSpPr>
          <p:cNvPr id="24" name="LLM solver"/>
          <p:cNvSpPr/>
          <p:nvPr/>
        </p:nvSpPr>
        <p:spPr>
          <a:xfrm>
            <a:off x="9363456" y="5074920"/>
            <a:ext cx="2377440" cy="1600200"/>
          </a:xfrm>
          <a:prstGeom prst="roundRect">
            <a:avLst>
              <a:gd name="adj" fmla="val 7000"/>
            </a:avLst>
          </a:prstGeom>
          <a:solidFill>
            <a:srgbClr val="EAF0FE"/>
          </a:solidFill>
          <a:ln w="19050">
            <a:solidFill>
              <a:srgbClr val="2B6DF3"/>
            </a:solidFill>
          </a:ln>
          <a:effectLst/>
        </p:spPr>
        <p:style>
          <a:lnRef idx="1">
            <a:schemeClr val="accent1"/>
          </a:lnRef>
          <a:fillRef idx="3">
            <a:schemeClr val="accent1"/>
          </a:fillRef>
          <a:effectRef idx="2">
            <a:schemeClr val="accent1"/>
          </a:effectRef>
          <a:fontRef idx="minor">
            <a:schemeClr val="lt1"/>
          </a:fontRef>
        </p:style>
        <p:txBody>
          <a:bodyPr rtlCol="0" anchor="t" lIns="146304" rIns="146304" tIns="117043" bIns="117043" wrap="square"/>
          <a:lstStyle/>
          <a:p>
            <a:pPr algn="l">
              <a:spcAft>
                <a:spcPts val="400"/>
              </a:spcAft>
            </a:pPr>
            <a:r>
              <a:rPr sz="1700" b="1" i="0">
                <a:solidFill>
                  <a:srgbClr val="1E4FD8"/>
                </a:solidFill>
                <a:latin typeface="Arial"/>
              </a:rPr>
              <a:t>LLM solver</a:t>
            </a:r>
          </a:p>
          <a:p>
            <a:pPr algn="l">
              <a:spcAft>
                <a:spcPts val="400"/>
              </a:spcAft>
            </a:pPr>
            <a:r>
              <a:rPr sz="1500" b="0" i="0">
                <a:solidFill>
                  <a:srgbClr val="0D1117"/>
                </a:solidFill>
                <a:latin typeface="Arial"/>
              </a:rPr>
              <a:t>Code-gen, ReAct or Reflexion, checked against the rules engine</a:t>
            </a:r>
          </a:p>
        </p:txBody>
      </p:sp>
      <p:cxnSp>
        <p:nvCxnSpPr>
          <p:cNvPr id="25" name="Connector 24"/>
          <p:cNvCxnSpPr/>
          <p:nvPr/>
        </p:nvCxnSpPr>
        <p:spPr>
          <a:xfrm>
            <a:off x="11786616" y="3840480"/>
            <a:ext cx="347472" cy="0"/>
          </a:xfrm>
          <a:prstGeom prst="line">
            <a:avLst/>
          </a:prstGeom>
          <a:ln w="25400">
            <a:solidFill>
              <a:srgbClr val="5B64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2179808" y="2450592"/>
            <a:ext cx="2377440" cy="365760"/>
          </a:xfrm>
          <a:prstGeom prst="rect">
            <a:avLst/>
          </a:prstGeom>
          <a:noFill/>
        </p:spPr>
        <p:txBody>
          <a:bodyPr wrap="square" lIns="0" rIns="0" tIns="0" bIns="0" anchor="t">
            <a:spAutoFit/>
          </a:bodyPr>
          <a:lstStyle/>
          <a:p>
            <a:pPr algn="l"/>
            <a:r>
              <a:rPr sz="1500" b="1" i="0">
                <a:solidFill>
                  <a:srgbClr val="0F7A55"/>
                </a:solidFill>
                <a:latin typeface="Arial"/>
              </a:rPr>
              <a:t>5  RANK</a:t>
            </a:r>
          </a:p>
        </p:txBody>
      </p:sp>
      <p:sp>
        <p:nvSpPr>
          <p:cNvPr id="27" name="Constraint scoring"/>
          <p:cNvSpPr/>
          <p:nvPr/>
        </p:nvSpPr>
        <p:spPr>
          <a:xfrm>
            <a:off x="12179808" y="2926080"/>
            <a:ext cx="2377440" cy="1828800"/>
          </a:xfrm>
          <a:prstGeom prst="roundRect">
            <a:avLst>
              <a:gd name="adj" fmla="val 7000"/>
            </a:avLst>
          </a:prstGeom>
          <a:solidFill>
            <a:srgbClr val="E8F6F0"/>
          </a:solidFill>
          <a:ln w="19050">
            <a:solidFill>
              <a:srgbClr val="1D9A6C"/>
            </a:solidFill>
          </a:ln>
          <a:effectLst/>
        </p:spPr>
        <p:style>
          <a:lnRef idx="1">
            <a:schemeClr val="accent1"/>
          </a:lnRef>
          <a:fillRef idx="3">
            <a:schemeClr val="accent1"/>
          </a:fillRef>
          <a:effectRef idx="2">
            <a:schemeClr val="accent1"/>
          </a:effectRef>
          <a:fontRef idx="minor">
            <a:schemeClr val="lt1"/>
          </a:fontRef>
        </p:style>
        <p:txBody>
          <a:bodyPr rtlCol="0" anchor="t" lIns="146304" rIns="146304" tIns="117043" bIns="117043" wrap="square"/>
          <a:lstStyle/>
          <a:p>
            <a:pPr algn="l">
              <a:spcAft>
                <a:spcPts val="400"/>
              </a:spcAft>
            </a:pPr>
            <a:r>
              <a:rPr sz="1700" b="1" i="0">
                <a:solidFill>
                  <a:srgbClr val="0F7A55"/>
                </a:solidFill>
                <a:latin typeface="Arial"/>
              </a:rPr>
              <a:t>Constraint scoring</a:t>
            </a:r>
          </a:p>
          <a:p>
            <a:pPr algn="l">
              <a:spcAft>
                <a:spcPts val="400"/>
              </a:spcAft>
            </a:pPr>
            <a:r>
              <a:rPr sz="1500" b="0" i="0">
                <a:solidFill>
                  <a:srgbClr val="0D1117"/>
                </a:solidFill>
                <a:latin typeface="Arial"/>
              </a:rPr>
              <a:t>0–100% match, so near-misses still surface</a:t>
            </a:r>
          </a:p>
        </p:txBody>
      </p:sp>
      <p:sp>
        <p:nvSpPr>
          <p:cNvPr id="28" name="Context re-rank"/>
          <p:cNvSpPr/>
          <p:nvPr/>
        </p:nvSpPr>
        <p:spPr>
          <a:xfrm>
            <a:off x="12179808" y="5074920"/>
            <a:ext cx="2377440" cy="1600200"/>
          </a:xfrm>
          <a:prstGeom prst="roundRect">
            <a:avLst>
              <a:gd name="adj" fmla="val 7000"/>
            </a:avLst>
          </a:prstGeom>
          <a:solidFill>
            <a:srgbClr val="EAF0FE"/>
          </a:solidFill>
          <a:ln w="19050">
            <a:solidFill>
              <a:srgbClr val="2B6DF3"/>
            </a:solidFill>
          </a:ln>
          <a:effectLst/>
        </p:spPr>
        <p:style>
          <a:lnRef idx="1">
            <a:schemeClr val="accent1"/>
          </a:lnRef>
          <a:fillRef idx="3">
            <a:schemeClr val="accent1"/>
          </a:fillRef>
          <a:effectRef idx="2">
            <a:schemeClr val="accent1"/>
          </a:effectRef>
          <a:fontRef idx="minor">
            <a:schemeClr val="lt1"/>
          </a:fontRef>
        </p:style>
        <p:txBody>
          <a:bodyPr rtlCol="0" anchor="t" lIns="146304" rIns="146304" tIns="117043" bIns="117043" wrap="square"/>
          <a:lstStyle/>
          <a:p>
            <a:pPr algn="l">
              <a:spcAft>
                <a:spcPts val="400"/>
              </a:spcAft>
            </a:pPr>
            <a:r>
              <a:rPr sz="1700" b="1" i="0">
                <a:solidFill>
                  <a:srgbClr val="1E4FD8"/>
                </a:solidFill>
                <a:latin typeface="Arial"/>
              </a:rPr>
              <a:t>Context re-rank</a:t>
            </a:r>
          </a:p>
          <a:p>
            <a:pPr algn="l">
              <a:spcAft>
                <a:spcPts val="400"/>
              </a:spcAft>
            </a:pPr>
            <a:r>
              <a:rPr sz="1500" b="0" i="0">
                <a:solidFill>
                  <a:srgbClr val="0D1117"/>
                </a:solidFill>
                <a:latin typeface="Arial"/>
              </a:rPr>
              <a:t>0–100 per zone on the step-2 priority, with a reason</a:t>
            </a:r>
          </a:p>
        </p:txBody>
      </p:sp>
      <p:cxnSp>
        <p:nvCxnSpPr>
          <p:cNvPr id="29" name="Connector 28"/>
          <p:cNvCxnSpPr/>
          <p:nvPr/>
        </p:nvCxnSpPr>
        <p:spPr>
          <a:xfrm>
            <a:off x="14602968" y="3840480"/>
            <a:ext cx="347471" cy="0"/>
          </a:xfrm>
          <a:prstGeom prst="line">
            <a:avLst/>
          </a:prstGeom>
          <a:ln w="25400">
            <a:solidFill>
              <a:srgbClr val="5B64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4996159" y="2450592"/>
            <a:ext cx="2377440" cy="365760"/>
          </a:xfrm>
          <a:prstGeom prst="rect">
            <a:avLst/>
          </a:prstGeom>
          <a:noFill/>
        </p:spPr>
        <p:txBody>
          <a:bodyPr wrap="square" lIns="0" rIns="0" tIns="0" bIns="0" anchor="t">
            <a:spAutoFit/>
          </a:bodyPr>
          <a:lstStyle/>
          <a:p>
            <a:pPr algn="l"/>
            <a:r>
              <a:rPr sz="1500" b="1" i="0">
                <a:solidFill>
                  <a:srgbClr val="5B6470"/>
                </a:solidFill>
                <a:latin typeface="Arial"/>
              </a:rPr>
              <a:t>6  SHOW</a:t>
            </a:r>
          </a:p>
        </p:txBody>
      </p:sp>
      <p:sp>
        <p:nvSpPr>
          <p:cNvPr id="31" name="3D map + zone card"/>
          <p:cNvSpPr/>
          <p:nvPr/>
        </p:nvSpPr>
        <p:spPr>
          <a:xfrm>
            <a:off x="14996159" y="2926080"/>
            <a:ext cx="2377440" cy="1828800"/>
          </a:xfrm>
          <a:prstGeom prst="roundRect">
            <a:avLst>
              <a:gd name="adj" fmla="val 7000"/>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117043" bIns="117043" wrap="square"/>
          <a:lstStyle/>
          <a:p>
            <a:pPr algn="l">
              <a:spcAft>
                <a:spcPts val="400"/>
              </a:spcAft>
            </a:pPr>
            <a:r>
              <a:rPr sz="1700" b="1" i="0">
                <a:solidFill>
                  <a:srgbClr val="FFFFFF"/>
                </a:solidFill>
                <a:latin typeface="Arial"/>
              </a:rPr>
              <a:t>3D map + zone card</a:t>
            </a:r>
          </a:p>
          <a:p>
            <a:pPr algn="l">
              <a:spcAft>
                <a:spcPts val="400"/>
              </a:spcAft>
            </a:pPr>
            <a:r>
              <a:rPr sz="1500" b="0" i="0">
                <a:solidFill>
                  <a:srgbClr val="C9D1DD"/>
                </a:solidFill>
                <a:latin typeface="Arial"/>
              </a:rPr>
              <a:t>Address (OSM), live weather (Open-Meteo), reasons</a:t>
            </a:r>
          </a:p>
        </p:txBody>
      </p:sp>
      <p:sp>
        <p:nvSpPr>
          <p:cNvPr id="32" name="Two views"/>
          <p:cNvSpPr/>
          <p:nvPr/>
        </p:nvSpPr>
        <p:spPr>
          <a:xfrm>
            <a:off x="14996159" y="5074920"/>
            <a:ext cx="2377440" cy="1600200"/>
          </a:xfrm>
          <a:prstGeom prst="roundRect">
            <a:avLst>
              <a:gd name="adj" fmla="val 7000"/>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117043" bIns="117043" wrap="square"/>
          <a:lstStyle/>
          <a:p>
            <a:pPr algn="l">
              <a:spcAft>
                <a:spcPts val="400"/>
              </a:spcAft>
            </a:pPr>
            <a:r>
              <a:rPr sz="1700" b="1" i="0">
                <a:solidFill>
                  <a:srgbClr val="FFFFFF"/>
                </a:solidFill>
                <a:latin typeface="Arial"/>
              </a:rPr>
              <a:t>Two views</a:t>
            </a:r>
          </a:p>
          <a:p>
            <a:pPr algn="l">
              <a:spcAft>
                <a:spcPts val="400"/>
              </a:spcAft>
            </a:pPr>
            <a:r>
              <a:rPr sz="1500" b="0" i="0">
                <a:solidFill>
                  <a:srgbClr val="C9D1DD"/>
                </a:solidFill>
                <a:latin typeface="Arial"/>
              </a:rPr>
              <a:t>Consumer for decision-makers, ML for evaluation</a:t>
            </a:r>
          </a:p>
        </p:txBody>
      </p:sp>
      <p:cxnSp>
        <p:nvCxnSpPr>
          <p:cNvPr id="33" name="Connector 32"/>
          <p:cNvCxnSpPr/>
          <p:nvPr/>
        </p:nvCxnSpPr>
        <p:spPr>
          <a:xfrm flipV="1">
            <a:off x="10552176" y="4782312"/>
            <a:ext cx="0" cy="265176"/>
          </a:xfrm>
          <a:prstGeom prst="line">
            <a:avLst/>
          </a:prstGeom>
          <a:ln w="22225">
            <a:solidFill>
              <a:srgbClr val="1D9A6C"/>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0625328" y="4773168"/>
            <a:ext cx="1097280" cy="274320"/>
          </a:xfrm>
          <a:prstGeom prst="rect">
            <a:avLst/>
          </a:prstGeom>
          <a:noFill/>
        </p:spPr>
        <p:txBody>
          <a:bodyPr wrap="square" lIns="0" rIns="0" tIns="0" bIns="0" anchor="t">
            <a:spAutoFit/>
          </a:bodyPr>
          <a:lstStyle/>
          <a:p>
            <a:pPr algn="l"/>
            <a:r>
              <a:rPr sz="1200" b="1" i="0">
                <a:solidFill>
                  <a:srgbClr val="0F7A55"/>
                </a:solidFill>
                <a:latin typeface="Arial"/>
              </a:rPr>
              <a:t>compare</a:t>
            </a:r>
          </a:p>
        </p:txBody>
      </p:sp>
      <p:sp>
        <p:nvSpPr>
          <p:cNvPr id="35" name="Data layer"/>
          <p:cNvSpPr/>
          <p:nvPr/>
        </p:nvSpPr>
        <p:spPr>
          <a:xfrm>
            <a:off x="914400" y="7315200"/>
            <a:ext cx="16459200" cy="1600200"/>
          </a:xfrm>
          <a:prstGeom prst="roundRect">
            <a:avLst>
              <a:gd name="adj" fmla="val 8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234440" y="7516368"/>
            <a:ext cx="5120640" cy="411480"/>
          </a:xfrm>
          <a:prstGeom prst="rect">
            <a:avLst/>
          </a:prstGeom>
          <a:noFill/>
        </p:spPr>
        <p:txBody>
          <a:bodyPr wrap="square" lIns="0" rIns="0" tIns="0" bIns="0" anchor="t">
            <a:spAutoFit/>
          </a:bodyPr>
          <a:lstStyle/>
          <a:p>
            <a:pPr algn="l"/>
            <a:r>
              <a:rPr sz="1900" b="1" i="0">
                <a:solidFill>
                  <a:srgbClr val="0D1117"/>
                </a:solidFill>
                <a:latin typeface="Arial"/>
              </a:rPr>
              <a:t>City feature store</a:t>
            </a:r>
          </a:p>
        </p:txBody>
      </p:sp>
      <p:sp>
        <p:nvSpPr>
          <p:cNvPr id="37" name="TextBox 36"/>
          <p:cNvSpPr txBox="1"/>
          <p:nvPr/>
        </p:nvSpPr>
        <p:spPr>
          <a:xfrm>
            <a:off x="1234440" y="7973568"/>
            <a:ext cx="5120640" cy="822960"/>
          </a:xfrm>
          <a:prstGeom prst="rect">
            <a:avLst/>
          </a:prstGeom>
          <a:noFill/>
        </p:spPr>
        <p:txBody>
          <a:bodyPr wrap="square" lIns="0" rIns="0" tIns="0" bIns="0" anchor="t">
            <a:spAutoFit/>
          </a:bodyPr>
          <a:lstStyle/>
          <a:p>
            <a:pPr algn="l"/>
            <a:r>
              <a:rPr sz="1500" b="0" i="0">
                <a:solidFill>
                  <a:srgbClr val="5B6470"/>
                </a:solidFill>
                <a:latin typeface="Arial"/>
              </a:rPr>
              <a:t>H3 hexagonal zones × features derived from points of interest</a:t>
            </a:r>
          </a:p>
        </p:txBody>
      </p:sp>
      <p:sp>
        <p:nvSpPr>
          <p:cNvPr id="38" name="Rounded Rectangle 37"/>
          <p:cNvSpPr/>
          <p:nvPr/>
        </p:nvSpPr>
        <p:spPr>
          <a:xfrm>
            <a:off x="6629400" y="7543800"/>
            <a:ext cx="5257800" cy="1143000"/>
          </a:xfrm>
          <a:prstGeom prst="roundRect">
            <a:avLst>
              <a:gd name="adj" fmla="val 12000"/>
            </a:avLst>
          </a:prstGeom>
          <a:solidFill>
            <a:srgbClr val="FFFFFF"/>
          </a:solidFill>
          <a:ln w="1587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31673" bIns="131673" wrap="square"/>
          <a:lstStyle/>
          <a:p>
            <a:pPr algn="l"/>
            <a:r>
              <a:rPr sz="1700" b="1" i="0">
                <a:solidFill>
                  <a:srgbClr val="0D1117"/>
                </a:solidFill>
                <a:latin typeface="Arial"/>
              </a:rPr>
              <a:t>Boston</a:t>
            </a:r>
          </a:p>
          <a:p>
            <a:pPr algn="l"/>
            <a:r>
              <a:rPr sz="1500" b="0" i="0">
                <a:solidFill>
                  <a:srgbClr val="5B6470"/>
                </a:solidFill>
                <a:latin typeface="Arial"/>
              </a:rPr>
              <a:t>255 zones · 48 features · SafeGraph POIs, spending, population</a:t>
            </a:r>
          </a:p>
        </p:txBody>
      </p:sp>
      <p:sp>
        <p:nvSpPr>
          <p:cNvPr id="39" name="Rounded Rectangle 38"/>
          <p:cNvSpPr/>
          <p:nvPr/>
        </p:nvSpPr>
        <p:spPr>
          <a:xfrm>
            <a:off x="12070080" y="7543800"/>
            <a:ext cx="5074920" cy="1143000"/>
          </a:xfrm>
          <a:prstGeom prst="roundRect">
            <a:avLst>
              <a:gd name="adj" fmla="val 12000"/>
            </a:avLst>
          </a:prstGeom>
          <a:solidFill>
            <a:srgbClr val="FFFFFF"/>
          </a:solidFill>
          <a:ln w="1587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31673" bIns="131673" wrap="square"/>
          <a:lstStyle/>
          <a:p>
            <a:pPr algn="l"/>
            <a:r>
              <a:rPr sz="1700" b="1" i="0">
                <a:solidFill>
                  <a:srgbClr val="0D1117"/>
                </a:solidFill>
                <a:latin typeface="Arial"/>
              </a:rPr>
              <a:t>Abu Dhabi</a:t>
            </a:r>
          </a:p>
          <a:p>
            <a:pPr algn="l"/>
            <a:r>
              <a:rPr sz="1500" b="0" i="0">
                <a:solidFill>
                  <a:srgbClr val="5B6470"/>
                </a:solidFill>
                <a:latin typeface="Arial"/>
              </a:rPr>
              <a:t>471 zones · 27 features · OpenStreetMap POIs</a:t>
            </a:r>
          </a:p>
        </p:txBody>
      </p:sp>
      <p:cxnSp>
        <p:nvCxnSpPr>
          <p:cNvPr id="40" name="Connector 39"/>
          <p:cNvCxnSpPr/>
          <p:nvPr/>
        </p:nvCxnSpPr>
        <p:spPr>
          <a:xfrm flipV="1">
            <a:off x="7735824" y="6720840"/>
            <a:ext cx="0" cy="594360"/>
          </a:xfrm>
          <a:prstGeom prst="line">
            <a:avLst/>
          </a:prstGeom>
          <a:ln w="19050">
            <a:solidFill>
              <a:srgbClr val="A3ACB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0552176" y="6720840"/>
            <a:ext cx="0" cy="594360"/>
          </a:xfrm>
          <a:prstGeom prst="line">
            <a:avLst/>
          </a:prstGeom>
          <a:ln w="19050">
            <a:solidFill>
              <a:srgbClr val="A3ACB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3368528" y="6720840"/>
            <a:ext cx="0" cy="594360"/>
          </a:xfrm>
          <a:prstGeom prst="line">
            <a:avLst/>
          </a:prstGeom>
          <a:ln w="19050">
            <a:solidFill>
              <a:srgbClr val="A3ACB9"/>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rPr sz="1800" b="0" i="0">
                <a:solidFill>
                  <a:srgbClr val="9AA4B5"/>
                </a:solidFill>
                <a:latin typeface="Arial"/>
              </a:rPr>
              <a:t>01 · Benchmarking</a:t>
            </a:r>
          </a:p>
        </p:txBody>
      </p:sp>
      <p:sp>
        <p:nvSpPr>
          <p:cNvPr id="3" name="Text Placeholder 2"/>
          <p:cNvSpPr>
            <a:spLocks noGrp="1"/>
          </p:cNvSpPr>
          <p:nvPr>
            <p:ph type="body" idx="1"/>
          </p:nvPr>
        </p:nvSpPr>
        <p:spPr/>
        <p:txBody>
          <a:bodyPr wrap="square"/>
          <a:lstStyle/>
          <a:p>
            <a:pPr marL="0" indent="0">
              <a:buNone/>
            </a:pPr>
            <a:r>
              <a:rPr sz="4800" b="0" i="0">
                <a:solidFill>
                  <a:srgbClr val="FFFFFF"/>
                </a:solidFill>
                <a:latin typeface="Arial"/>
              </a:rPr>
              <a:t>Can LLMs actually reason about real locations?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14400" y="685800"/>
            <a:ext cx="16459200" cy="822960"/>
          </a:xfrm>
        </p:spPr>
        <p:txBody>
          <a:bodyPr lIns="0" rIns="0" tIns="0" bIns="0" anchor="t" wrap="square"/>
          <a:lstStyle/>
          <a:p>
            <a:pPr marL="0" indent="0">
              <a:buNone/>
            </a:pPr>
            <a:r>
              <a:rPr sz="3600" b="1" i="0">
                <a:solidFill>
                  <a:srgbClr val="0D1117"/>
                </a:solidFill>
                <a:latin typeface="Arial"/>
              </a:rPr>
              <a:t>How we benchmark</a:t>
            </a:r>
          </a:p>
        </p:txBody>
      </p:sp>
      <p:sp>
        <p:nvSpPr>
          <p:cNvPr id="3" name="TextBox 2"/>
          <p:cNvSpPr txBox="1"/>
          <p:nvPr/>
        </p:nvSpPr>
        <p:spPr>
          <a:xfrm>
            <a:off x="914400" y="1536192"/>
            <a:ext cx="16459200" cy="685800"/>
          </a:xfrm>
          <a:prstGeom prst="rect">
            <a:avLst/>
          </a:prstGeom>
          <a:noFill/>
        </p:spPr>
        <p:txBody>
          <a:bodyPr wrap="square" lIns="0" rIns="0" tIns="0" bIns="0" anchor="t">
            <a:spAutoFit/>
          </a:bodyPr>
          <a:lstStyle/>
          <a:p>
            <a:pPr algn="l"/>
            <a:r>
              <a:rPr sz="2000" b="0" i="0">
                <a:solidFill>
                  <a:srgbClr val="5B6470"/>
                </a:solidFill>
                <a:latin typeface="Arial"/>
              </a:rPr>
              <a:t>Every query has one correct answer, computed by a deterministic rules engine. The LLM's zones are scored against it.</a:t>
            </a:r>
          </a:p>
        </p:txBody>
      </p:sp>
      <p:sp>
        <p:nvSpPr>
          <p:cNvPr id="4" name="Easy tier"/>
          <p:cNvSpPr/>
          <p:nvPr/>
        </p:nvSpPr>
        <p:spPr>
          <a:xfrm>
            <a:off x="914400" y="2514600"/>
            <a:ext cx="5239512" cy="548640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234440" y="2743200"/>
            <a:ext cx="4572000" cy="502920"/>
          </a:xfrm>
          <a:prstGeom prst="rect">
            <a:avLst/>
          </a:prstGeom>
          <a:noFill/>
        </p:spPr>
        <p:txBody>
          <a:bodyPr wrap="square" lIns="0" rIns="0" tIns="0" bIns="0" anchor="t">
            <a:spAutoFit/>
          </a:bodyPr>
          <a:lstStyle/>
          <a:p>
            <a:pPr algn="l"/>
            <a:r>
              <a:rPr sz="2800" b="1" i="0">
                <a:solidFill>
                  <a:srgbClr val="0D1117"/>
                </a:solidFill>
                <a:latin typeface="Arial"/>
              </a:rPr>
              <a:t>Easy</a:t>
            </a:r>
          </a:p>
        </p:txBody>
      </p:sp>
      <p:sp>
        <p:nvSpPr>
          <p:cNvPr id="6" name="TextBox 5"/>
          <p:cNvSpPr txBox="1"/>
          <p:nvPr/>
        </p:nvSpPr>
        <p:spPr>
          <a:xfrm>
            <a:off x="1234440" y="3310128"/>
            <a:ext cx="4572000" cy="365760"/>
          </a:xfrm>
          <a:prstGeom prst="rect">
            <a:avLst/>
          </a:prstGeom>
          <a:noFill/>
        </p:spPr>
        <p:txBody>
          <a:bodyPr wrap="square" lIns="0" rIns="0" tIns="0" bIns="0" anchor="t">
            <a:spAutoFit/>
          </a:bodyPr>
          <a:lstStyle/>
          <a:p>
            <a:pPr algn="l"/>
            <a:r>
              <a:rPr sz="1500" b="0" i="0">
                <a:solidFill>
                  <a:srgbClr val="5B6470"/>
                </a:solidFill>
                <a:latin typeface="Arial"/>
              </a:rPr>
              <a:t>Boston 108 · Abu Dhabi 30</a:t>
            </a:r>
          </a:p>
        </p:txBody>
      </p:sp>
      <p:sp>
        <p:nvSpPr>
          <p:cNvPr id="7" name="TextBox 6"/>
          <p:cNvSpPr txBox="1"/>
          <p:nvPr/>
        </p:nvSpPr>
        <p:spPr>
          <a:xfrm>
            <a:off x="1234440" y="3730752"/>
            <a:ext cx="4572000" cy="411480"/>
          </a:xfrm>
          <a:prstGeom prst="rect">
            <a:avLst/>
          </a:prstGeom>
          <a:noFill/>
        </p:spPr>
        <p:txBody>
          <a:bodyPr wrap="square" lIns="0" rIns="0" tIns="0" bIns="0" anchor="t">
            <a:spAutoFit/>
          </a:bodyPr>
          <a:lstStyle/>
          <a:p>
            <a:pPr algn="l"/>
            <a:r>
              <a:rPr sz="1800" b="1" i="0">
                <a:solidFill>
                  <a:srgbClr val="1E4FD8"/>
                </a:solidFill>
                <a:latin typeface="Arial"/>
              </a:rPr>
              <a:t>Single clause</a:t>
            </a:r>
          </a:p>
        </p:txBody>
      </p:sp>
      <p:sp>
        <p:nvSpPr>
          <p:cNvPr id="8" name="TextBox 7"/>
          <p:cNvSpPr txBox="1"/>
          <p:nvPr/>
        </p:nvSpPr>
        <p:spPr>
          <a:xfrm>
            <a:off x="1234440" y="4224528"/>
            <a:ext cx="4617720" cy="1371600"/>
          </a:xfrm>
          <a:prstGeom prst="rect">
            <a:avLst/>
          </a:prstGeom>
          <a:noFill/>
        </p:spPr>
        <p:txBody>
          <a:bodyPr wrap="square" lIns="0" rIns="0" tIns="0" bIns="0" anchor="t">
            <a:spAutoFit/>
          </a:bodyPr>
          <a:lstStyle/>
          <a:p>
            <a:pPr algn="l">
              <a:lnSpc>
                <a:spcPct val="108000"/>
              </a:lnSpc>
            </a:pPr>
            <a:r>
              <a:rPr sz="1700" b="0" i="0">
                <a:solidFill>
                  <a:srgbClr val="0D1117"/>
                </a:solidFill>
                <a:latin typeface="Arial"/>
              </a:rPr>
              <a:t>“Find a zone with at least 5 restaurants.”</a:t>
            </a:r>
          </a:p>
        </p:txBody>
      </p:sp>
      <p:sp>
        <p:nvSpPr>
          <p:cNvPr id="9" name="Easy spec"/>
          <p:cNvSpPr/>
          <p:nvPr/>
        </p:nvSpPr>
        <p:spPr>
          <a:xfrm>
            <a:off x="1188720" y="5806440"/>
            <a:ext cx="4690872" cy="1965960"/>
          </a:xfrm>
          <a:prstGeom prst="roundRect">
            <a:avLst>
              <a:gd name="adj" fmla="val 6000"/>
            </a:avLst>
          </a:prstGeom>
          <a:solidFill>
            <a:srgbClr val="FFFFFF"/>
          </a:solidFill>
          <a:ln w="1587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146304" bIns="146304" wrap="square"/>
          <a:lstStyle/>
          <a:p>
            <a:pPr algn="l"/>
            <a:r>
              <a:rPr sz="1500" b="0" i="0">
                <a:solidFill>
                  <a:srgbClr val="0D1117"/>
                </a:solidFill>
                <a:latin typeface="Courier New"/>
              </a:rPr>
              <a:t>cnt_restaurants ≥ 5</a:t>
            </a:r>
          </a:p>
        </p:txBody>
      </p:sp>
      <p:sp>
        <p:nvSpPr>
          <p:cNvPr id="10" name="Medium tier"/>
          <p:cNvSpPr/>
          <p:nvPr/>
        </p:nvSpPr>
        <p:spPr>
          <a:xfrm>
            <a:off x="6524244" y="2514600"/>
            <a:ext cx="5239512" cy="548640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44283" y="2743200"/>
            <a:ext cx="4572000" cy="502920"/>
          </a:xfrm>
          <a:prstGeom prst="rect">
            <a:avLst/>
          </a:prstGeom>
          <a:noFill/>
        </p:spPr>
        <p:txBody>
          <a:bodyPr wrap="square" lIns="0" rIns="0" tIns="0" bIns="0" anchor="t">
            <a:spAutoFit/>
          </a:bodyPr>
          <a:lstStyle/>
          <a:p>
            <a:pPr algn="l"/>
            <a:r>
              <a:rPr sz="2800" b="1" i="0">
                <a:solidFill>
                  <a:srgbClr val="0D1117"/>
                </a:solidFill>
                <a:latin typeface="Arial"/>
              </a:rPr>
              <a:t>Medium</a:t>
            </a:r>
          </a:p>
        </p:txBody>
      </p:sp>
      <p:sp>
        <p:nvSpPr>
          <p:cNvPr id="12" name="TextBox 11"/>
          <p:cNvSpPr txBox="1"/>
          <p:nvPr/>
        </p:nvSpPr>
        <p:spPr>
          <a:xfrm>
            <a:off x="6844283" y="3310128"/>
            <a:ext cx="4572000" cy="365760"/>
          </a:xfrm>
          <a:prstGeom prst="rect">
            <a:avLst/>
          </a:prstGeom>
          <a:noFill/>
        </p:spPr>
        <p:txBody>
          <a:bodyPr wrap="square" lIns="0" rIns="0" tIns="0" bIns="0" anchor="t">
            <a:spAutoFit/>
          </a:bodyPr>
          <a:lstStyle/>
          <a:p>
            <a:pPr algn="l"/>
            <a:r>
              <a:rPr sz="1500" b="0" i="0">
                <a:solidFill>
                  <a:srgbClr val="5B6470"/>
                </a:solidFill>
                <a:latin typeface="Arial"/>
              </a:rPr>
              <a:t>Boston 96 · Abu Dhabi 30</a:t>
            </a:r>
          </a:p>
        </p:txBody>
      </p:sp>
      <p:sp>
        <p:nvSpPr>
          <p:cNvPr id="13" name="TextBox 12"/>
          <p:cNvSpPr txBox="1"/>
          <p:nvPr/>
        </p:nvSpPr>
        <p:spPr>
          <a:xfrm>
            <a:off x="6844283" y="3730752"/>
            <a:ext cx="4572000" cy="411480"/>
          </a:xfrm>
          <a:prstGeom prst="rect">
            <a:avLst/>
          </a:prstGeom>
          <a:noFill/>
        </p:spPr>
        <p:txBody>
          <a:bodyPr wrap="square" lIns="0" rIns="0" tIns="0" bIns="0" anchor="t">
            <a:spAutoFit/>
          </a:bodyPr>
          <a:lstStyle/>
          <a:p>
            <a:pPr algn="l"/>
            <a:r>
              <a:rPr sz="1800" b="1" i="0">
                <a:solidFill>
                  <a:srgbClr val="1E4FD8"/>
                </a:solidFill>
                <a:latin typeface="Arial"/>
              </a:rPr>
              <a:t>2–3 clauses, AND / OR</a:t>
            </a:r>
          </a:p>
        </p:txBody>
      </p:sp>
      <p:sp>
        <p:nvSpPr>
          <p:cNvPr id="14" name="TextBox 13"/>
          <p:cNvSpPr txBox="1"/>
          <p:nvPr/>
        </p:nvSpPr>
        <p:spPr>
          <a:xfrm>
            <a:off x="6844283" y="4224528"/>
            <a:ext cx="4617720" cy="1371600"/>
          </a:xfrm>
          <a:prstGeom prst="rect">
            <a:avLst/>
          </a:prstGeom>
          <a:noFill/>
        </p:spPr>
        <p:txBody>
          <a:bodyPr wrap="square" lIns="0" rIns="0" tIns="0" bIns="0" anchor="t">
            <a:spAutoFit/>
          </a:bodyPr>
          <a:lstStyle/>
          <a:p>
            <a:pPr algn="l">
              <a:lnSpc>
                <a:spcPct val="108000"/>
              </a:lnSpc>
            </a:pPr>
            <a:r>
              <a:rPr sz="1700" b="0" i="0">
                <a:solidFill>
                  <a:srgbClr val="0D1117"/>
                </a:solidFill>
                <a:latin typeface="Arial"/>
              </a:rPr>
              <a:t>“Find zones with at least 1 tourist landmark and at least 2 parks.”</a:t>
            </a:r>
          </a:p>
        </p:txBody>
      </p:sp>
      <p:sp>
        <p:nvSpPr>
          <p:cNvPr id="15" name="Medium spec"/>
          <p:cNvSpPr/>
          <p:nvPr/>
        </p:nvSpPr>
        <p:spPr>
          <a:xfrm>
            <a:off x="6798564" y="5806440"/>
            <a:ext cx="4690872" cy="1965960"/>
          </a:xfrm>
          <a:prstGeom prst="roundRect">
            <a:avLst>
              <a:gd name="adj" fmla="val 6000"/>
            </a:avLst>
          </a:prstGeom>
          <a:solidFill>
            <a:srgbClr val="FFFFFF"/>
          </a:solidFill>
          <a:ln w="1587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146304" bIns="146304" wrap="square"/>
          <a:lstStyle/>
          <a:p>
            <a:pPr algn="l"/>
            <a:r>
              <a:rPr sz="1500" b="0" i="0">
                <a:solidFill>
                  <a:srgbClr val="0D1117"/>
                </a:solidFill>
                <a:latin typeface="Courier New"/>
              </a:rPr>
              <a:t>all_of:</a:t>
            </a:r>
          </a:p>
          <a:p>
            <a:pPr algn="l"/>
            <a:r>
              <a:rPr sz="1500" b="0" i="0">
                <a:solidFill>
                  <a:srgbClr val="0D1117"/>
                </a:solidFill>
                <a:latin typeface="Courier New"/>
              </a:rPr>
              <a:t>  cnt_tourist_landmarks ≥ 1</a:t>
            </a:r>
          </a:p>
          <a:p>
            <a:pPr algn="l"/>
            <a:r>
              <a:rPr sz="1500" b="0" i="0">
                <a:solidFill>
                  <a:srgbClr val="0D1117"/>
                </a:solidFill>
                <a:latin typeface="Courier New"/>
              </a:rPr>
              <a:t>  cnt_parks ≥ 2</a:t>
            </a:r>
          </a:p>
        </p:txBody>
      </p:sp>
      <p:sp>
        <p:nvSpPr>
          <p:cNvPr id="16" name="Hard tier"/>
          <p:cNvSpPr/>
          <p:nvPr/>
        </p:nvSpPr>
        <p:spPr>
          <a:xfrm>
            <a:off x="12134088" y="2514600"/>
            <a:ext cx="5239512" cy="548640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454128" y="2743200"/>
            <a:ext cx="4572000" cy="502920"/>
          </a:xfrm>
          <a:prstGeom prst="rect">
            <a:avLst/>
          </a:prstGeom>
          <a:noFill/>
        </p:spPr>
        <p:txBody>
          <a:bodyPr wrap="square" lIns="0" rIns="0" tIns="0" bIns="0" anchor="t">
            <a:spAutoFit/>
          </a:bodyPr>
          <a:lstStyle/>
          <a:p>
            <a:pPr algn="l"/>
            <a:r>
              <a:rPr sz="2800" b="1" i="0">
                <a:solidFill>
                  <a:srgbClr val="0D1117"/>
                </a:solidFill>
                <a:latin typeface="Arial"/>
              </a:rPr>
              <a:t>Hard</a:t>
            </a:r>
          </a:p>
        </p:txBody>
      </p:sp>
      <p:sp>
        <p:nvSpPr>
          <p:cNvPr id="18" name="TextBox 17"/>
          <p:cNvSpPr txBox="1"/>
          <p:nvPr/>
        </p:nvSpPr>
        <p:spPr>
          <a:xfrm>
            <a:off x="12454128" y="3310128"/>
            <a:ext cx="4572000" cy="365760"/>
          </a:xfrm>
          <a:prstGeom prst="rect">
            <a:avLst/>
          </a:prstGeom>
          <a:noFill/>
        </p:spPr>
        <p:txBody>
          <a:bodyPr wrap="square" lIns="0" rIns="0" tIns="0" bIns="0" anchor="t">
            <a:spAutoFit/>
          </a:bodyPr>
          <a:lstStyle/>
          <a:p>
            <a:pPr algn="l"/>
            <a:r>
              <a:rPr sz="1500" b="0" i="0">
                <a:solidFill>
                  <a:srgbClr val="5B6470"/>
                </a:solidFill>
                <a:latin typeface="Arial"/>
              </a:rPr>
              <a:t>Boston 102 · Abu Dhabi 16</a:t>
            </a:r>
          </a:p>
        </p:txBody>
      </p:sp>
      <p:sp>
        <p:nvSpPr>
          <p:cNvPr id="19" name="TextBox 18"/>
          <p:cNvSpPr txBox="1"/>
          <p:nvPr/>
        </p:nvSpPr>
        <p:spPr>
          <a:xfrm>
            <a:off x="12454128" y="3730752"/>
            <a:ext cx="4572000" cy="411480"/>
          </a:xfrm>
          <a:prstGeom prst="rect">
            <a:avLst/>
          </a:prstGeom>
          <a:noFill/>
        </p:spPr>
        <p:txBody>
          <a:bodyPr wrap="square" lIns="0" rIns="0" tIns="0" bIns="0" anchor="t">
            <a:spAutoFit/>
          </a:bodyPr>
          <a:lstStyle/>
          <a:p>
            <a:pPr algn="l"/>
            <a:r>
              <a:rPr sz="1800" b="1" i="0">
                <a:solidFill>
                  <a:srgbClr val="1E4FD8"/>
                </a:solidFill>
                <a:latin typeface="Arial"/>
              </a:rPr>
              <a:t>3–6 clauses, AND / OR / NOT</a:t>
            </a:r>
          </a:p>
        </p:txBody>
      </p:sp>
      <p:sp>
        <p:nvSpPr>
          <p:cNvPr id="20" name="TextBox 19"/>
          <p:cNvSpPr txBox="1"/>
          <p:nvPr/>
        </p:nvSpPr>
        <p:spPr>
          <a:xfrm>
            <a:off x="12454128" y="4224528"/>
            <a:ext cx="4617720" cy="1371600"/>
          </a:xfrm>
          <a:prstGeom prst="rect">
            <a:avLst/>
          </a:prstGeom>
          <a:noFill/>
        </p:spPr>
        <p:txBody>
          <a:bodyPr wrap="square" lIns="0" rIns="0" tIns="0" bIns="0" anchor="t">
            <a:spAutoFit/>
          </a:bodyPr>
          <a:lstStyle/>
          <a:p>
            <a:pPr algn="l">
              <a:lnSpc>
                <a:spcPct val="108000"/>
              </a:lnSpc>
            </a:pPr>
            <a:r>
              <a:rPr sz="1700" b="0" i="0">
                <a:solidFill>
                  <a:srgbClr val="0D1117"/>
                </a:solidFill>
                <a:latin typeface="Arial"/>
              </a:rPr>
              <a:t>“Find zones with at least 2 pharmacies, within 800 m of a mall, with at least 1 parking location and no more than 5 coffee shops.”</a:t>
            </a:r>
          </a:p>
        </p:txBody>
      </p:sp>
      <p:sp>
        <p:nvSpPr>
          <p:cNvPr id="21" name="Hard spec"/>
          <p:cNvSpPr/>
          <p:nvPr/>
        </p:nvSpPr>
        <p:spPr>
          <a:xfrm>
            <a:off x="12408408" y="5806440"/>
            <a:ext cx="4690872" cy="1965960"/>
          </a:xfrm>
          <a:prstGeom prst="roundRect">
            <a:avLst>
              <a:gd name="adj" fmla="val 6000"/>
            </a:avLst>
          </a:prstGeom>
          <a:solidFill>
            <a:srgbClr val="FFFFFF"/>
          </a:solidFill>
          <a:ln w="15875">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146304" bIns="146304" wrap="square"/>
          <a:lstStyle/>
          <a:p>
            <a:pPr algn="l"/>
            <a:r>
              <a:rPr sz="1500" b="0" i="0">
                <a:solidFill>
                  <a:srgbClr val="0D1117"/>
                </a:solidFill>
                <a:latin typeface="Courier New"/>
              </a:rPr>
              <a:t>all_of:</a:t>
            </a:r>
          </a:p>
          <a:p>
            <a:pPr algn="l"/>
            <a:r>
              <a:rPr sz="1500" b="0" i="0">
                <a:solidFill>
                  <a:srgbClr val="0D1117"/>
                </a:solidFill>
                <a:latin typeface="Courier New"/>
              </a:rPr>
              <a:t>  cnt_pharmacies ≥ 2</a:t>
            </a:r>
          </a:p>
          <a:p>
            <a:pPr algn="l"/>
            <a:r>
              <a:rPr sz="1500" b="0" i="0">
                <a:solidFill>
                  <a:srgbClr val="0D1117"/>
                </a:solidFill>
                <a:latin typeface="Courier New"/>
              </a:rPr>
              <a:t>  dist_to_malls_m ≤ 800</a:t>
            </a:r>
          </a:p>
          <a:p>
            <a:pPr algn="l"/>
            <a:r>
              <a:rPr sz="1500" b="0" i="0">
                <a:solidFill>
                  <a:srgbClr val="0D1117"/>
                </a:solidFill>
                <a:latin typeface="Courier New"/>
              </a:rPr>
              <a:t>  cnt_parking ≥ 1</a:t>
            </a:r>
          </a:p>
          <a:p>
            <a:pPr algn="l"/>
            <a:r>
              <a:rPr sz="1500" b="0" i="0">
                <a:solidFill>
                  <a:srgbClr val="0D1117"/>
                </a:solidFill>
                <a:latin typeface="Courier New"/>
              </a:rPr>
              <a:t>  cnt_coffee_shops ≤ 5</a:t>
            </a:r>
          </a:p>
        </p:txBody>
      </p:sp>
      <p:sp>
        <p:nvSpPr>
          <p:cNvPr id="22" name="TextBox 21"/>
          <p:cNvSpPr txBox="1"/>
          <p:nvPr/>
        </p:nvSpPr>
        <p:spPr>
          <a:xfrm>
            <a:off x="914400" y="8321040"/>
            <a:ext cx="16459200" cy="548640"/>
          </a:xfrm>
          <a:prstGeom prst="rect">
            <a:avLst/>
          </a:prstGeom>
          <a:noFill/>
        </p:spPr>
        <p:txBody>
          <a:bodyPr wrap="square" lIns="0" rIns="0" tIns="0" bIns="0" anchor="t">
            <a:spAutoFit/>
          </a:bodyPr>
          <a:lstStyle/>
          <a:p>
            <a:pPr algn="l"/>
            <a:r>
              <a:rPr sz="1700" b="1" i="0">
                <a:solidFill>
                  <a:srgbClr val="0D1117"/>
                </a:solidFill>
                <a:latin typeface="Arial"/>
              </a:rPr>
              <a:t>Scored on:  </a:t>
            </a:r>
            <a:r>
              <a:rPr sz="1700" b="1" i="0">
                <a:solidFill>
                  <a:srgbClr val="0F7A55"/>
                </a:solidFill>
                <a:latin typeface="Arial"/>
              </a:rPr>
              <a:t>exact match</a:t>
            </a:r>
            <a:r>
              <a:rPr sz="1700" b="0" i="0">
                <a:solidFill>
                  <a:srgbClr val="5B6470"/>
                </a:solidFill>
                <a:latin typeface="Arial"/>
              </a:rPr>
              <a:t> (predicted set = ground truth)   ·   </a:t>
            </a:r>
            <a:r>
              <a:rPr sz="1700" b="1" i="0">
                <a:solidFill>
                  <a:srgbClr val="0F7A55"/>
                </a:solidFill>
                <a:latin typeface="Arial"/>
              </a:rPr>
              <a:t>precision / recall / F1</a:t>
            </a:r>
            <a:r>
              <a:rPr sz="1700" b="0" i="0">
                <a:solidFill>
                  <a:srgbClr val="5B6470"/>
                </a:solidFill>
                <a:latin typeface="Arial"/>
              </a:rPr>
              <a:t> (partial credit)   ·   </a:t>
            </a:r>
            <a:r>
              <a:rPr sz="1700" b="1" i="0">
                <a:solidFill>
                  <a:srgbClr val="0F7A55"/>
                </a:solidFill>
                <a:latin typeface="Arial"/>
              </a:rPr>
              <a:t>runtime</a:t>
            </a:r>
            <a:r>
              <a:rPr sz="1700" b="0" i="0">
                <a:solidFill>
                  <a:srgbClr val="5B6470"/>
                </a:solidFill>
                <a:latin typeface="Arial"/>
              </a:rPr>
              <a:t> (wall-clock per query)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14400" y="685800"/>
            <a:ext cx="16459200" cy="822960"/>
          </a:xfrm>
        </p:spPr>
        <p:txBody>
          <a:bodyPr lIns="0" rIns="0" tIns="0" bIns="0" anchor="t" wrap="square"/>
          <a:lstStyle/>
          <a:p>
            <a:pPr marL="0" indent="0">
              <a:buNone/>
            </a:pPr>
            <a:r>
              <a:rPr sz="3600" b="1" i="0">
                <a:solidFill>
                  <a:srgbClr val="0D1117"/>
                </a:solidFill>
                <a:latin typeface="Arial"/>
              </a:rPr>
              <a:t>A reasoning model did not beat its non-reasoning counterpart</a:t>
            </a:r>
          </a:p>
        </p:txBody>
      </p:sp>
      <p:sp>
        <p:nvSpPr>
          <p:cNvPr id="3" name="TextBox 2"/>
          <p:cNvSpPr txBox="1"/>
          <p:nvPr/>
        </p:nvSpPr>
        <p:spPr>
          <a:xfrm>
            <a:off x="914400" y="1536192"/>
            <a:ext cx="16459200" cy="685800"/>
          </a:xfrm>
          <a:prstGeom prst="rect">
            <a:avLst/>
          </a:prstGeom>
          <a:noFill/>
        </p:spPr>
        <p:txBody>
          <a:bodyPr wrap="square" lIns="0" rIns="0" tIns="0" bIns="0" anchor="t">
            <a:spAutoFit/>
          </a:bodyPr>
          <a:lstStyle/>
          <a:p>
            <a:pPr algn="l"/>
            <a:r>
              <a:rPr sz="2000" b="0" i="0">
                <a:solidFill>
                  <a:srgbClr val="5B6470"/>
                </a:solidFill>
                <a:latin typeface="Arial"/>
              </a:rPr>
              <a:t>Abu Dhabi, single-shot code generation. Consistent with the original Boston benchmark.</a:t>
            </a:r>
          </a:p>
        </p:txBody>
      </p:sp>
      <p:sp>
        <p:nvSpPr>
          <p:cNvPr id="4" name="TextBox 3"/>
          <p:cNvSpPr txBox="1"/>
          <p:nvPr/>
        </p:nvSpPr>
        <p:spPr>
          <a:xfrm>
            <a:off x="914400" y="2468880"/>
            <a:ext cx="9875520" cy="411480"/>
          </a:xfrm>
          <a:prstGeom prst="rect">
            <a:avLst/>
          </a:prstGeom>
          <a:noFill/>
        </p:spPr>
        <p:txBody>
          <a:bodyPr wrap="square" lIns="0" rIns="0" tIns="0" bIns="0" anchor="t">
            <a:spAutoFit/>
          </a:bodyPr>
          <a:lstStyle/>
          <a:p>
            <a:pPr algn="l"/>
            <a:r>
              <a:rPr sz="1800" b="1" i="0">
                <a:solidFill>
                  <a:srgbClr val="0D1117"/>
                </a:solidFill>
                <a:latin typeface="Arial"/>
              </a:rPr>
              <a:t>Exact-match answers by query difficulty</a:t>
            </a:r>
          </a:p>
        </p:txBody>
      </p:sp>
      <p:graphicFrame>
        <p:nvGraphicFramePr>
          <p:cNvPr id="5" name="Exact match chart"/>
          <p:cNvGraphicFramePr>
            <a:graphicFrameLocks noGrp="1"/>
          </p:cNvGraphicFramePr>
          <p:nvPr/>
        </p:nvGraphicFramePr>
        <p:xfrm>
          <a:off x="914400" y="2880360"/>
          <a:ext cx="9875520" cy="5989320"/>
        </p:xfrm>
        <a:graphic>
          <a:graphicData uri="http://schemas.openxmlformats.org/drawingml/2006/chart">
            <c:chart xmlns:c="http://schemas.openxmlformats.org/drawingml/2006/chart" r:id="rId2"/>
          </a:graphicData>
        </a:graphic>
      </p:graphicFrame>
      <p:sp>
        <p:nvSpPr>
          <p:cNvPr id="6" name="GPT-4o · non-reasoning"/>
          <p:cNvSpPr/>
          <p:nvPr/>
        </p:nvSpPr>
        <p:spPr>
          <a:xfrm>
            <a:off x="11521440" y="2468880"/>
            <a:ext cx="5852160" cy="3063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41480" y="2743200"/>
            <a:ext cx="5303520" cy="365760"/>
          </a:xfrm>
          <a:prstGeom prst="rect">
            <a:avLst/>
          </a:prstGeom>
          <a:noFill/>
        </p:spPr>
        <p:txBody>
          <a:bodyPr wrap="square" lIns="0" rIns="0" tIns="0" bIns="0" anchor="t">
            <a:spAutoFit/>
          </a:bodyPr>
          <a:lstStyle/>
          <a:p>
            <a:pPr algn="l"/>
            <a:r>
              <a:rPr sz="1600" b="1" i="0">
                <a:solidFill>
                  <a:srgbClr val="1E4FD8"/>
                </a:solidFill>
                <a:latin typeface="Arial"/>
              </a:rPr>
              <a:t>GPT-4o · non-reasoning</a:t>
            </a:r>
          </a:p>
        </p:txBody>
      </p:sp>
      <p:sp>
        <p:nvSpPr>
          <p:cNvPr id="8" name="TextBox 7"/>
          <p:cNvSpPr txBox="1"/>
          <p:nvPr/>
        </p:nvSpPr>
        <p:spPr>
          <a:xfrm>
            <a:off x="11841480" y="3154680"/>
            <a:ext cx="5303520" cy="914400"/>
          </a:xfrm>
          <a:prstGeom prst="rect">
            <a:avLst/>
          </a:prstGeom>
          <a:noFill/>
        </p:spPr>
        <p:txBody>
          <a:bodyPr wrap="square" lIns="0" rIns="0" tIns="0" bIns="0" anchor="t">
            <a:spAutoFit/>
          </a:bodyPr>
          <a:lstStyle/>
          <a:p>
            <a:pPr algn="l"/>
            <a:r>
              <a:rPr sz="5400" b="1" i="0">
                <a:solidFill>
                  <a:srgbClr val="0D1117"/>
                </a:solidFill>
                <a:latin typeface="Arial"/>
              </a:rPr>
              <a:t>66 / 76</a:t>
            </a:r>
          </a:p>
        </p:txBody>
      </p:sp>
      <p:sp>
        <p:nvSpPr>
          <p:cNvPr id="9" name="TextBox 8"/>
          <p:cNvSpPr txBox="1"/>
          <p:nvPr/>
        </p:nvSpPr>
        <p:spPr>
          <a:xfrm>
            <a:off x="11841480" y="4160520"/>
            <a:ext cx="5257800" cy="1280160"/>
          </a:xfrm>
          <a:prstGeom prst="rect">
            <a:avLst/>
          </a:prstGeom>
          <a:noFill/>
        </p:spPr>
        <p:txBody>
          <a:bodyPr wrap="square" lIns="0" rIns="0" tIns="0" bIns="0" anchor="t">
            <a:spAutoFit/>
          </a:bodyPr>
          <a:lstStyle/>
          <a:p>
            <a:pPr algn="l">
              <a:lnSpc>
                <a:spcPct val="108000"/>
              </a:lnSpc>
            </a:pPr>
            <a:r>
              <a:rPr sz="1700" b="0" i="0">
                <a:solidFill>
                  <a:srgbClr val="5B6470"/>
                </a:solidFill>
                <a:latin typeface="Arial"/>
              </a:rPr>
              <a:t>exact answers. All-or-nothing: no partial answers; all 10 misses are on hard queries.</a:t>
            </a:r>
          </a:p>
        </p:txBody>
      </p:sp>
      <p:sp>
        <p:nvSpPr>
          <p:cNvPr id="10" name="o4-mini · reasoning"/>
          <p:cNvSpPr/>
          <p:nvPr/>
        </p:nvSpPr>
        <p:spPr>
          <a:xfrm>
            <a:off x="11521440" y="5760720"/>
            <a:ext cx="5852160" cy="30632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841480" y="6035040"/>
            <a:ext cx="5303520" cy="365760"/>
          </a:xfrm>
          <a:prstGeom prst="rect">
            <a:avLst/>
          </a:prstGeom>
          <a:noFill/>
        </p:spPr>
        <p:txBody>
          <a:bodyPr wrap="square" lIns="0" rIns="0" tIns="0" bIns="0" anchor="t">
            <a:spAutoFit/>
          </a:bodyPr>
          <a:lstStyle/>
          <a:p>
            <a:pPr algn="l"/>
            <a:r>
              <a:rPr sz="1600" b="1" i="0">
                <a:solidFill>
                  <a:srgbClr val="B8661C"/>
                </a:solidFill>
                <a:latin typeface="Arial"/>
              </a:rPr>
              <a:t>o4-mini · reasoning</a:t>
            </a:r>
          </a:p>
        </p:txBody>
      </p:sp>
      <p:sp>
        <p:nvSpPr>
          <p:cNvPr id="12" name="TextBox 11"/>
          <p:cNvSpPr txBox="1"/>
          <p:nvPr/>
        </p:nvSpPr>
        <p:spPr>
          <a:xfrm>
            <a:off x="11841480" y="6446520"/>
            <a:ext cx="5303520" cy="914400"/>
          </a:xfrm>
          <a:prstGeom prst="rect">
            <a:avLst/>
          </a:prstGeom>
          <a:noFill/>
        </p:spPr>
        <p:txBody>
          <a:bodyPr wrap="square" lIns="0" rIns="0" tIns="0" bIns="0" anchor="t">
            <a:spAutoFit/>
          </a:bodyPr>
          <a:lstStyle/>
          <a:p>
            <a:pPr algn="l"/>
            <a:r>
              <a:rPr sz="5400" b="1" i="0">
                <a:solidFill>
                  <a:srgbClr val="0D1117"/>
                </a:solidFill>
                <a:latin typeface="Arial"/>
              </a:rPr>
              <a:t>0.43</a:t>
            </a:r>
          </a:p>
        </p:txBody>
      </p:sp>
      <p:sp>
        <p:nvSpPr>
          <p:cNvPr id="13" name="TextBox 12"/>
          <p:cNvSpPr txBox="1"/>
          <p:nvPr/>
        </p:nvSpPr>
        <p:spPr>
          <a:xfrm>
            <a:off x="11841480" y="7452360"/>
            <a:ext cx="5257800" cy="1280160"/>
          </a:xfrm>
          <a:prstGeom prst="rect">
            <a:avLst/>
          </a:prstGeom>
          <a:noFill/>
        </p:spPr>
        <p:txBody>
          <a:bodyPr wrap="square" lIns="0" rIns="0" tIns="0" bIns="0" anchor="t">
            <a:spAutoFit/>
          </a:bodyPr>
          <a:lstStyle/>
          <a:p>
            <a:pPr algn="l">
              <a:lnSpc>
                <a:spcPct val="108000"/>
              </a:lnSpc>
            </a:pPr>
            <a:r>
              <a:rPr sz="1700" b="0" i="0">
                <a:solidFill>
                  <a:srgbClr val="5B6470"/>
                </a:solidFill>
                <a:latin typeface="Arial"/>
              </a:rPr>
              <a:t>precision vs. 0.92 recall. It over-reasons and returns too many zones (14 partial answers).</a:t>
            </a:r>
          </a:p>
        </p:txBody>
      </p:sp>
      <p:sp>
        <p:nvSpPr>
          <p:cNvPr id="14" name="TextBox 13"/>
          <p:cNvSpPr txBox="1"/>
          <p:nvPr/>
        </p:nvSpPr>
        <p:spPr>
          <a:xfrm>
            <a:off x="914400" y="9006840"/>
            <a:ext cx="10058400" cy="365760"/>
          </a:xfrm>
          <a:prstGeom prst="rect">
            <a:avLst/>
          </a:prstGeom>
          <a:noFill/>
        </p:spPr>
        <p:txBody>
          <a:bodyPr wrap="square" lIns="0" rIns="0" tIns="0" bIns="0" anchor="t">
            <a:spAutoFit/>
          </a:bodyPr>
          <a:lstStyle/>
          <a:p>
            <a:pPr algn="l"/>
            <a:r>
              <a:rPr sz="1400" b="0" i="0">
                <a:solidFill>
                  <a:srgbClr val="5B6470"/>
                </a:solidFill>
                <a:latin typeface="Arial"/>
              </a:rPr>
              <a:t>76 Abu Dhabi queries. Precision and recall micro-averaged over predicted and true zones.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14400" y="685800"/>
            <a:ext cx="16459200" cy="822960"/>
          </a:xfrm>
        </p:spPr>
        <p:txBody>
          <a:bodyPr lIns="0" rIns="0" tIns="0" bIns="0" anchor="t" wrap="square"/>
          <a:lstStyle/>
          <a:p>
            <a:pPr marL="0" indent="0">
              <a:buNone/>
            </a:pPr>
            <a:r>
              <a:rPr sz="3600" b="1" i="0">
                <a:solidFill>
                  <a:srgbClr val="0D1117"/>
                </a:solidFill>
                <a:latin typeface="Arial"/>
              </a:rPr>
              <a:t>Single-shot code generation was the most accurate, and 20–65× faster</a:t>
            </a:r>
          </a:p>
        </p:txBody>
      </p:sp>
      <p:sp>
        <p:nvSpPr>
          <p:cNvPr id="3" name="TextBox 2"/>
          <p:cNvSpPr txBox="1"/>
          <p:nvPr/>
        </p:nvSpPr>
        <p:spPr>
          <a:xfrm>
            <a:off x="914400" y="1536192"/>
            <a:ext cx="16459200" cy="685800"/>
          </a:xfrm>
          <a:prstGeom prst="rect">
            <a:avLst/>
          </a:prstGeom>
          <a:noFill/>
        </p:spPr>
        <p:txBody>
          <a:bodyPr wrap="square" lIns="0" rIns="0" tIns="0" bIns="0" anchor="t">
            <a:spAutoFit/>
          </a:bodyPr>
          <a:lstStyle/>
          <a:p>
            <a:pPr algn="l"/>
            <a:r>
              <a:rPr sz="2000" b="0" i="0">
                <a:solidFill>
                  <a:srgbClr val="5B6470"/>
                </a:solidFill>
                <a:latin typeface="Arial"/>
              </a:rPr>
              <a:t>Abu Dhabi, 30 medium-tier queries per model and strategy.</a:t>
            </a:r>
          </a:p>
        </p:txBody>
      </p:sp>
      <p:sp>
        <p:nvSpPr>
          <p:cNvPr id="4" name="TextBox 3"/>
          <p:cNvSpPr txBox="1"/>
          <p:nvPr/>
        </p:nvSpPr>
        <p:spPr>
          <a:xfrm>
            <a:off x="914400" y="2468880"/>
            <a:ext cx="7863840" cy="411480"/>
          </a:xfrm>
          <a:prstGeom prst="rect">
            <a:avLst/>
          </a:prstGeom>
          <a:noFill/>
        </p:spPr>
        <p:txBody>
          <a:bodyPr wrap="square" lIns="0" rIns="0" tIns="0" bIns="0" anchor="t">
            <a:spAutoFit/>
          </a:bodyPr>
          <a:lstStyle/>
          <a:p>
            <a:pPr algn="l"/>
            <a:r>
              <a:rPr sz="1800" b="1" i="0">
                <a:solidFill>
                  <a:srgbClr val="0D1117"/>
                </a:solidFill>
                <a:latin typeface="Arial"/>
              </a:rPr>
              <a:t>Mean F1 (higher is better)</a:t>
            </a:r>
          </a:p>
        </p:txBody>
      </p:sp>
      <p:graphicFrame>
        <p:nvGraphicFramePr>
          <p:cNvPr id="5" name="Mean F1 (higher is better)"/>
          <p:cNvGraphicFramePr>
            <a:graphicFrameLocks noGrp="1"/>
          </p:cNvGraphicFramePr>
          <p:nvPr/>
        </p:nvGraphicFramePr>
        <p:xfrm>
          <a:off x="914400" y="2880360"/>
          <a:ext cx="7863840" cy="5440680"/>
        </p:xfrm>
        <a:graphic>
          <a:graphicData uri="http://schemas.openxmlformats.org/drawingml/2006/chart">
            <c:chart xmlns:c="http://schemas.openxmlformats.org/drawingml/2006/chart" r:id="rId2"/>
          </a:graphicData>
        </a:graphic>
      </p:graphicFrame>
      <p:sp>
        <p:nvSpPr>
          <p:cNvPr id="6" name="TextBox 5"/>
          <p:cNvSpPr txBox="1"/>
          <p:nvPr/>
        </p:nvSpPr>
        <p:spPr>
          <a:xfrm>
            <a:off x="9509760" y="2468880"/>
            <a:ext cx="7863840" cy="411480"/>
          </a:xfrm>
          <a:prstGeom prst="rect">
            <a:avLst/>
          </a:prstGeom>
          <a:noFill/>
        </p:spPr>
        <p:txBody>
          <a:bodyPr wrap="square" lIns="0" rIns="0" tIns="0" bIns="0" anchor="t">
            <a:spAutoFit/>
          </a:bodyPr>
          <a:lstStyle/>
          <a:p>
            <a:pPr algn="l"/>
            <a:r>
              <a:rPr sz="1800" b="1" i="0">
                <a:solidFill>
                  <a:srgbClr val="0D1117"/>
                </a:solidFill>
                <a:latin typeface="Arial"/>
              </a:rPr>
              <a:t>Mean runtime per query, seconds (lower is better)</a:t>
            </a:r>
          </a:p>
        </p:txBody>
      </p:sp>
      <p:graphicFrame>
        <p:nvGraphicFramePr>
          <p:cNvPr id="7" name="Mean runtime per query, seconds (lower is better)"/>
          <p:cNvGraphicFramePr>
            <a:graphicFrameLocks noGrp="1"/>
          </p:cNvGraphicFramePr>
          <p:nvPr/>
        </p:nvGraphicFramePr>
        <p:xfrm>
          <a:off x="9509760" y="2880360"/>
          <a:ext cx="7863840" cy="5440680"/>
        </p:xfrm>
        <a:graphic>
          <a:graphicData uri="http://schemas.openxmlformats.org/drawingml/2006/chart">
            <c:chart xmlns:c="http://schemas.openxmlformats.org/drawingml/2006/chart" r:id="rId3"/>
          </a:graphicData>
        </a:graphic>
      </p:graphicFrame>
      <p:sp>
        <p:nvSpPr>
          <p:cNvPr id="8" name="TextBox 7"/>
          <p:cNvSpPr txBox="1"/>
          <p:nvPr/>
        </p:nvSpPr>
        <p:spPr>
          <a:xfrm>
            <a:off x="914400" y="8503920"/>
            <a:ext cx="16459200" cy="457200"/>
          </a:xfrm>
          <a:prstGeom prst="rect">
            <a:avLst/>
          </a:prstGeom>
          <a:noFill/>
        </p:spPr>
        <p:txBody>
          <a:bodyPr wrap="square" lIns="0" rIns="0" tIns="0" bIns="0" anchor="t">
            <a:spAutoFit/>
          </a:bodyPr>
          <a:lstStyle/>
          <a:p>
            <a:pPr algn="l"/>
            <a:r>
              <a:rPr sz="1800" b="1" i="0">
                <a:solidFill>
                  <a:srgbClr val="0D1117"/>
                </a:solidFill>
                <a:latin typeface="Arial"/>
              </a:rPr>
              <a:t>Trade-off: </a:t>
            </a:r>
            <a:r>
              <a:rPr sz="1800" b="0" i="0">
                <a:solidFill>
                  <a:srgbClr val="5B6470"/>
                </a:solidFill>
                <a:latin typeface="Arial"/>
              </a:rPr>
              <a:t>agents add step-by-step traces, but cost accuracy, time and tokens. We keep them for inspection in the ML view.</a:t>
            </a:r>
          </a:p>
        </p:txBody>
      </p:sp>
      <p:sp>
        <p:nvSpPr>
          <p:cNvPr id="9" name="TextBox 8"/>
          <p:cNvSpPr txBox="1"/>
          <p:nvPr/>
        </p:nvSpPr>
        <p:spPr>
          <a:xfrm>
            <a:off x="914400" y="9052560"/>
            <a:ext cx="13716000" cy="365760"/>
          </a:xfrm>
          <a:prstGeom prst="rect">
            <a:avLst/>
          </a:prstGeom>
          <a:noFill/>
        </p:spPr>
        <p:txBody>
          <a:bodyPr wrap="square" lIns="0" rIns="0" tIns="0" bIns="0" anchor="t">
            <a:spAutoFit/>
          </a:bodyPr>
          <a:lstStyle/>
          <a:p>
            <a:pPr algn="l"/>
            <a:r>
              <a:rPr sz="1400" b="0" i="0">
                <a:solidFill>
                  <a:srgbClr val="5B6470"/>
                </a:solidFill>
                <a:latin typeface="Arial"/>
              </a:rPr>
              <a:t>March 2026 runs. The o4-mini agentic run failed and is excluded.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14400" y="685800"/>
            <a:ext cx="16459200" cy="822960"/>
          </a:xfrm>
        </p:spPr>
        <p:txBody>
          <a:bodyPr lIns="0" rIns="0" tIns="0" bIns="0" anchor="t" wrap="square"/>
          <a:lstStyle/>
          <a:p>
            <a:pPr marL="0" indent="0">
              <a:buNone/>
            </a:pPr>
            <a:r>
              <a:rPr sz="3600" b="1" i="0">
                <a:solidFill>
                  <a:srgbClr val="0D1117"/>
                </a:solidFill>
                <a:latin typeface="Arial"/>
              </a:rPr>
              <a:t>Interpretability vs. cost: where we chose to sit</a:t>
            </a:r>
          </a:p>
        </p:txBody>
      </p:sp>
      <p:sp>
        <p:nvSpPr>
          <p:cNvPr id="3" name="TextBox 2"/>
          <p:cNvSpPr txBox="1"/>
          <p:nvPr/>
        </p:nvSpPr>
        <p:spPr>
          <a:xfrm>
            <a:off x="914400" y="1536192"/>
            <a:ext cx="16459200" cy="685800"/>
          </a:xfrm>
          <a:prstGeom prst="rect">
            <a:avLst/>
          </a:prstGeom>
          <a:noFill/>
        </p:spPr>
        <p:txBody>
          <a:bodyPr wrap="square" lIns="0" rIns="0" tIns="0" bIns="0" anchor="t">
            <a:spAutoFit/>
          </a:bodyPr>
          <a:lstStyle/>
          <a:p>
            <a:pPr algn="l"/>
            <a:r>
              <a:rPr sz="2000" b="0" i="0">
                <a:solidFill>
                  <a:srgbClr val="5B6470"/>
                </a:solidFill>
                <a:latin typeface="Arial"/>
              </a:rPr>
              <a:t>More visible reasoning costs time and, in our tests, accuracy.</a:t>
            </a:r>
          </a:p>
        </p:txBody>
      </p:sp>
      <p:cxnSp>
        <p:nvCxnSpPr>
          <p:cNvPr id="4" name="Connector 3"/>
          <p:cNvCxnSpPr/>
          <p:nvPr/>
        </p:nvCxnSpPr>
        <p:spPr>
          <a:xfrm flipH="1">
            <a:off x="1280160" y="2514600"/>
            <a:ext cx="15727680" cy="0"/>
          </a:xfrm>
          <a:prstGeom prst="line">
            <a:avLst/>
          </a:prstGeom>
          <a:ln w="28575">
            <a:solidFill>
              <a:srgbClr val="5B64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80160" y="2606040"/>
            <a:ext cx="4572000" cy="365760"/>
          </a:xfrm>
          <a:prstGeom prst="rect">
            <a:avLst/>
          </a:prstGeom>
          <a:noFill/>
        </p:spPr>
        <p:txBody>
          <a:bodyPr wrap="square" lIns="0" rIns="0" tIns="0" bIns="0" anchor="t">
            <a:spAutoFit/>
          </a:bodyPr>
          <a:lstStyle/>
          <a:p>
            <a:pPr algn="l"/>
            <a:r>
              <a:rPr sz="1500" b="1" i="0">
                <a:solidFill>
                  <a:srgbClr val="5B6470"/>
                </a:solidFill>
                <a:latin typeface="Arial"/>
              </a:rPr>
              <a:t>Cheaper and faster</a:t>
            </a:r>
          </a:p>
        </p:txBody>
      </p:sp>
      <p:cxnSp>
        <p:nvCxnSpPr>
          <p:cNvPr id="6" name="Connector 5"/>
          <p:cNvCxnSpPr/>
          <p:nvPr/>
        </p:nvCxnSpPr>
        <p:spPr>
          <a:xfrm>
            <a:off x="1280160" y="5989320"/>
            <a:ext cx="15727680" cy="0"/>
          </a:xfrm>
          <a:prstGeom prst="line">
            <a:avLst/>
          </a:prstGeom>
          <a:ln w="28575">
            <a:solidFill>
              <a:srgbClr val="0D1117"/>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2435840" y="6126480"/>
            <a:ext cx="4572000" cy="365760"/>
          </a:xfrm>
          <a:prstGeom prst="rect">
            <a:avLst/>
          </a:prstGeom>
          <a:noFill/>
        </p:spPr>
        <p:txBody>
          <a:bodyPr wrap="square" lIns="0" rIns="0" tIns="0" bIns="0" anchor="t">
            <a:spAutoFit/>
          </a:bodyPr>
          <a:lstStyle/>
          <a:p>
            <a:pPr algn="r"/>
            <a:r>
              <a:rPr sz="1500" b="1" i="0">
                <a:solidFill>
                  <a:srgbClr val="0D1117"/>
                </a:solidFill>
                <a:latin typeface="Arial"/>
              </a:rPr>
              <a:t>More interpretable</a:t>
            </a:r>
          </a:p>
        </p:txBody>
      </p:sp>
      <p:sp>
        <p:nvSpPr>
          <p:cNvPr id="8" name="Direct analysis"/>
          <p:cNvSpPr/>
          <p:nvPr/>
        </p:nvSpPr>
        <p:spPr>
          <a:xfrm>
            <a:off x="1188720" y="3246120"/>
            <a:ext cx="3566160" cy="1874519"/>
          </a:xfrm>
          <a:prstGeom prst="roundRect">
            <a:avLst>
              <a:gd name="adj" fmla="val 7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60934" bIns="160934" wrap="square"/>
          <a:lstStyle/>
          <a:p>
            <a:pPr algn="l">
              <a:spcAft>
                <a:spcPts val="400"/>
              </a:spcAft>
            </a:pPr>
            <a:r>
              <a:rPr sz="1900" b="1" i="0">
                <a:solidFill>
                  <a:srgbClr val="0D1117"/>
                </a:solidFill>
                <a:latin typeface="Arial"/>
              </a:rPr>
              <a:t>Direct analysis</a:t>
            </a:r>
          </a:p>
          <a:p>
            <a:pPr algn="l">
              <a:spcAft>
                <a:spcPts val="400"/>
              </a:spcAft>
            </a:pPr>
            <a:r>
              <a:rPr sz="1600" b="0" i="0">
                <a:solidFill>
                  <a:srgbClr val="5B6470"/>
                </a:solidFill>
                <a:latin typeface="Arial"/>
              </a:rPr>
              <a:t>A function reads a structured spec. No visible reasoning.</a:t>
            </a:r>
          </a:p>
        </p:txBody>
      </p:sp>
      <p:cxnSp>
        <p:nvCxnSpPr>
          <p:cNvPr id="9" name="Connector 8"/>
          <p:cNvCxnSpPr/>
          <p:nvPr/>
        </p:nvCxnSpPr>
        <p:spPr>
          <a:xfrm>
            <a:off x="2971800" y="5120640"/>
            <a:ext cx="0" cy="713232"/>
          </a:xfrm>
          <a:prstGeom prst="line">
            <a:avLst/>
          </a:prstGeom>
          <a:ln w="19050">
            <a:solidFill>
              <a:srgbClr val="A3ACB9"/>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816352" y="5833872"/>
            <a:ext cx="310896" cy="310896"/>
          </a:xfrm>
          <a:prstGeom prst="ellipse">
            <a:avLst/>
          </a:prstGeom>
          <a:solidFill>
            <a:srgbClr val="A3AC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ingle-shot LLM"/>
          <p:cNvSpPr/>
          <p:nvPr/>
        </p:nvSpPr>
        <p:spPr>
          <a:xfrm>
            <a:off x="5257800" y="3246120"/>
            <a:ext cx="3566160" cy="1874519"/>
          </a:xfrm>
          <a:prstGeom prst="roundRect">
            <a:avLst>
              <a:gd name="adj" fmla="val 7000"/>
            </a:avLst>
          </a:prstGeom>
          <a:solidFill>
            <a:srgbClr val="E8F6F0"/>
          </a:solidFill>
          <a:ln w="28575">
            <a:solidFill>
              <a:srgbClr val="1D9A6C"/>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60934" bIns="160934" wrap="square"/>
          <a:lstStyle/>
          <a:p>
            <a:pPr algn="l">
              <a:spcAft>
                <a:spcPts val="400"/>
              </a:spcAft>
            </a:pPr>
            <a:r>
              <a:rPr sz="1900" b="1" i="0">
                <a:solidFill>
                  <a:srgbClr val="0F7A55"/>
                </a:solidFill>
                <a:latin typeface="Arial"/>
              </a:rPr>
              <a:t>Single-shot LLM</a:t>
            </a:r>
          </a:p>
          <a:p>
            <a:pPr algn="l">
              <a:spcAft>
                <a:spcPts val="400"/>
              </a:spcAft>
            </a:pPr>
            <a:r>
              <a:rPr sz="1600" b="0" i="0">
                <a:solidFill>
                  <a:srgbClr val="0D1117"/>
                </a:solidFill>
                <a:latin typeface="Arial"/>
              </a:rPr>
              <a:t>Writes the analysis code in one pass. Fastest and most accurate in our tests.</a:t>
            </a:r>
          </a:p>
        </p:txBody>
      </p:sp>
      <p:cxnSp>
        <p:nvCxnSpPr>
          <p:cNvPr id="12" name="Connector 11"/>
          <p:cNvCxnSpPr/>
          <p:nvPr/>
        </p:nvCxnSpPr>
        <p:spPr>
          <a:xfrm>
            <a:off x="7040880" y="5120640"/>
            <a:ext cx="0" cy="713232"/>
          </a:xfrm>
          <a:prstGeom prst="line">
            <a:avLst/>
          </a:prstGeom>
          <a:ln w="19050">
            <a:solidFill>
              <a:srgbClr val="1D9A6C"/>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885432" y="5833872"/>
            <a:ext cx="310896" cy="310896"/>
          </a:xfrm>
          <a:prstGeom prst="ellipse">
            <a:avLst/>
          </a:prstGeom>
          <a:solidFill>
            <a:srgbClr val="1D9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6172200" y="2971800"/>
            <a:ext cx="1737360" cy="438912"/>
          </a:xfrm>
          <a:prstGeom prst="roundRect">
            <a:avLst>
              <a:gd name="adj" fmla="val 50000"/>
            </a:avLst>
          </a:prstGeom>
          <a:solidFill>
            <a:srgbClr val="1D9A6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square"/>
          <a:lstStyle/>
          <a:p>
            <a:pPr algn="ctr"/>
            <a:r>
              <a:rPr sz="1400" b="1" i="0">
                <a:solidFill>
                  <a:srgbClr val="FFFFFF"/>
                </a:solidFill>
                <a:latin typeface="Arial"/>
              </a:rPr>
              <a:t>Our solver</a:t>
            </a:r>
          </a:p>
        </p:txBody>
      </p:sp>
      <p:sp>
        <p:nvSpPr>
          <p:cNvPr id="15" name="Single-shot reasoning LLM"/>
          <p:cNvSpPr/>
          <p:nvPr/>
        </p:nvSpPr>
        <p:spPr>
          <a:xfrm>
            <a:off x="9326880" y="3246120"/>
            <a:ext cx="3566160" cy="1874519"/>
          </a:xfrm>
          <a:prstGeom prst="roundRect">
            <a:avLst>
              <a:gd name="adj" fmla="val 7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60934" bIns="160934" wrap="square"/>
          <a:lstStyle/>
          <a:p>
            <a:pPr algn="l">
              <a:spcAft>
                <a:spcPts val="400"/>
              </a:spcAft>
            </a:pPr>
            <a:r>
              <a:rPr sz="1900" b="1" i="0">
                <a:solidFill>
                  <a:srgbClr val="0D1117"/>
                </a:solidFill>
                <a:latin typeface="Arial"/>
              </a:rPr>
              <a:t>Single-shot reasoning LLM</a:t>
            </a:r>
          </a:p>
          <a:p>
            <a:pPr algn="l">
              <a:spcAft>
                <a:spcPts val="400"/>
              </a:spcAft>
            </a:pPr>
            <a:r>
              <a:rPr sz="1600" b="0" i="0">
                <a:solidFill>
                  <a:srgbClr val="5B6470"/>
                </a:solidFill>
                <a:latin typeface="Arial"/>
              </a:rPr>
              <a:t>Shows its reasoning, but tended to over-reason and over-include.</a:t>
            </a:r>
          </a:p>
        </p:txBody>
      </p:sp>
      <p:cxnSp>
        <p:nvCxnSpPr>
          <p:cNvPr id="16" name="Connector 15"/>
          <p:cNvCxnSpPr/>
          <p:nvPr/>
        </p:nvCxnSpPr>
        <p:spPr>
          <a:xfrm>
            <a:off x="11109960" y="5120640"/>
            <a:ext cx="0" cy="713232"/>
          </a:xfrm>
          <a:prstGeom prst="line">
            <a:avLst/>
          </a:prstGeom>
          <a:ln w="19050">
            <a:solidFill>
              <a:srgbClr val="A3ACB9"/>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10954512" y="5833872"/>
            <a:ext cx="310896" cy="310896"/>
          </a:xfrm>
          <a:prstGeom prst="ellipse">
            <a:avLst/>
          </a:prstGeom>
          <a:solidFill>
            <a:srgbClr val="A3AC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Agentic LLM"/>
          <p:cNvSpPr/>
          <p:nvPr/>
        </p:nvSpPr>
        <p:spPr>
          <a:xfrm>
            <a:off x="13395960" y="3246120"/>
            <a:ext cx="3566160" cy="1874519"/>
          </a:xfrm>
          <a:prstGeom prst="roundRect">
            <a:avLst>
              <a:gd name="adj" fmla="val 7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60934" bIns="160934" wrap="square"/>
          <a:lstStyle/>
          <a:p>
            <a:pPr algn="l">
              <a:spcAft>
                <a:spcPts val="400"/>
              </a:spcAft>
            </a:pPr>
            <a:r>
              <a:rPr sz="1900" b="1" i="0">
                <a:solidFill>
                  <a:srgbClr val="0D1117"/>
                </a:solidFill>
                <a:latin typeface="Arial"/>
              </a:rPr>
              <a:t>Agentic LLM</a:t>
            </a:r>
          </a:p>
          <a:p>
            <a:pPr algn="l">
              <a:spcAft>
                <a:spcPts val="400"/>
              </a:spcAft>
            </a:pPr>
            <a:r>
              <a:rPr sz="1600" b="0" i="0">
                <a:solidFill>
                  <a:srgbClr val="5B6470"/>
                </a:solidFill>
                <a:latin typeface="Arial"/>
              </a:rPr>
              <a:t>ReAct / Reflexion: thought → action → observation traces.</a:t>
            </a:r>
          </a:p>
          <a:p>
            <a:pPr algn="l">
              <a:spcAft>
                <a:spcPts val="400"/>
              </a:spcAft>
            </a:pPr>
            <a:r>
              <a:rPr sz="1600" b="0" i="0">
                <a:solidFill>
                  <a:srgbClr val="5B6470"/>
                </a:solidFill>
                <a:latin typeface="Arial"/>
              </a:rPr>
              <a:t>20–65× slower.</a:t>
            </a:r>
          </a:p>
        </p:txBody>
      </p:sp>
      <p:cxnSp>
        <p:nvCxnSpPr>
          <p:cNvPr id="19" name="Connector 18"/>
          <p:cNvCxnSpPr/>
          <p:nvPr/>
        </p:nvCxnSpPr>
        <p:spPr>
          <a:xfrm>
            <a:off x="15179040" y="5120640"/>
            <a:ext cx="0" cy="713232"/>
          </a:xfrm>
          <a:prstGeom prst="line">
            <a:avLst/>
          </a:prstGeom>
          <a:ln w="19050">
            <a:solidFill>
              <a:srgbClr val="A3ACB9"/>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15023592" y="5833872"/>
            <a:ext cx="310896" cy="310896"/>
          </a:xfrm>
          <a:prstGeom prst="ellipse">
            <a:avLst/>
          </a:prstGeom>
          <a:solidFill>
            <a:srgbClr val="A3AC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esign choice"/>
          <p:cNvSpPr/>
          <p:nvPr/>
        </p:nvSpPr>
        <p:spPr>
          <a:xfrm>
            <a:off x="914400" y="6812280"/>
            <a:ext cx="16459200" cy="2011680"/>
          </a:xfrm>
          <a:prstGeom prst="roundRect">
            <a:avLst>
              <a:gd name="adj" fmla="val 7000"/>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rIns="320040" tIns="256031" bIns="256031" wrap="square"/>
          <a:lstStyle/>
          <a:p>
            <a:pPr algn="l">
              <a:spcAft>
                <a:spcPts val="600"/>
              </a:spcAft>
            </a:pPr>
            <a:r>
              <a:rPr sz="2000" b="1" i="0">
                <a:solidFill>
                  <a:srgbClr val="7EE2B8"/>
                </a:solidFill>
                <a:latin typeface="Arial"/>
              </a:rPr>
              <a:t>Our design choice</a:t>
            </a:r>
          </a:p>
          <a:p>
            <a:pPr algn="l">
              <a:spcAft>
                <a:spcPts val="600"/>
              </a:spcAft>
            </a:pPr>
            <a:r>
              <a:rPr sz="2000" b="0" i="0">
                <a:solidFill>
                  <a:srgbClr val="FFFFFF"/>
                </a:solidFill>
                <a:latin typeface="Arial"/>
              </a:rPr>
              <a:t>Keep the fast, accurate single-shot solver for the answer. Add interpretability where people actually look: per-zone scores, constraint checks and plain-English reasons in the ranking layer.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rPr sz="1800" b="0" i="0">
                <a:solidFill>
                  <a:srgbClr val="9AA4B5"/>
                </a:solidFill>
                <a:latin typeface="Arial"/>
              </a:rPr>
              <a:t>02 · The platform</a:t>
            </a:r>
          </a:p>
        </p:txBody>
      </p:sp>
      <p:sp>
        <p:nvSpPr>
          <p:cNvPr id="3" name="Text Placeholder 2"/>
          <p:cNvSpPr>
            <a:spLocks noGrp="1"/>
          </p:cNvSpPr>
          <p:nvPr>
            <p:ph type="body" idx="1"/>
          </p:nvPr>
        </p:nvSpPr>
        <p:spPr/>
        <p:txBody>
          <a:bodyPr wrap="square"/>
          <a:lstStyle/>
          <a:p>
            <a:pPr marL="0" indent="0">
              <a:buNone/>
            </a:pPr>
            <a:r>
              <a:rPr sz="4800" b="0" i="0">
                <a:solidFill>
                  <a:srgbClr val="FFFFFF"/>
                </a:solidFill>
                <a:latin typeface="Arial"/>
              </a:rPr>
              <a:t>From correct answers to useful decisions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14400" y="685800"/>
            <a:ext cx="16459200" cy="822960"/>
          </a:xfrm>
        </p:spPr>
        <p:txBody>
          <a:bodyPr lIns="0" rIns="0" tIns="0" bIns="0" anchor="t" wrap="square"/>
          <a:lstStyle/>
          <a:p>
            <a:pPr marL="0" indent="0">
              <a:buNone/>
            </a:pPr>
            <a:r>
              <a:rPr sz="3600" b="1" i="0">
                <a:solidFill>
                  <a:srgbClr val="E7ECF3"/>
                </a:solidFill>
                <a:latin typeface="Arial"/>
              </a:rPr>
              <a:t>Ask in plain language, see ranked zones on a 3D city model</a:t>
            </a:r>
          </a:p>
        </p:txBody>
      </p:sp>
      <p:pic>
        <p:nvPicPr>
          <p:cNvPr id="3" name="Hero screenshot" descr="LocationReasoner app: greenery-ranked zones as 3D columns over Abu Dhabi"/>
          <p:cNvPicPr>
            <a:picLocks noChangeAspect="1"/>
          </p:cNvPicPr>
          <p:nvPr/>
        </p:nvPicPr>
        <p:blipFill>
          <a:blip r:embed="rId2"/>
          <a:stretch>
            <a:fillRect/>
          </a:stretch>
        </p:blipFill>
        <p:spPr>
          <a:xfrm>
            <a:off x="914400" y="1828800"/>
            <a:ext cx="12801600" cy="7200900"/>
          </a:xfrm>
          <a:prstGeom prst="roundRect">
            <a:avLst>
              <a:gd name="adj" fmla="val 2200"/>
            </a:avLst>
          </a:prstGeom>
          <a:ln w="12700">
            <a:solidFill>
              <a:srgbClr val="2A3342"/>
            </a:solidFill>
          </a:ln>
        </p:spPr>
      </p:pic>
      <p:sp>
        <p:nvSpPr>
          <p:cNvPr id="4" name="Oval 3"/>
          <p:cNvSpPr/>
          <p:nvPr/>
        </p:nvSpPr>
        <p:spPr>
          <a:xfrm>
            <a:off x="14218920" y="1965960"/>
            <a:ext cx="457200" cy="457200"/>
          </a:xfrm>
          <a:prstGeom prst="ellipse">
            <a:avLst/>
          </a:prstGeom>
          <a:solidFill>
            <a:srgbClr val="1D9A6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800" b="1" i="0">
                <a:solidFill>
                  <a:srgbClr val="FFFFFF"/>
                </a:solidFill>
                <a:latin typeface="Arial"/>
              </a:rPr>
              <a:t>1</a:t>
            </a:r>
          </a:p>
        </p:txBody>
      </p:sp>
      <p:sp>
        <p:nvSpPr>
          <p:cNvPr id="5" name="TextBox 4"/>
          <p:cNvSpPr txBox="1"/>
          <p:nvPr/>
        </p:nvSpPr>
        <p:spPr>
          <a:xfrm>
            <a:off x="14859000" y="1947672"/>
            <a:ext cx="2606040" cy="1920240"/>
          </a:xfrm>
          <a:prstGeom prst="rect">
            <a:avLst/>
          </a:prstGeom>
          <a:noFill/>
        </p:spPr>
        <p:txBody>
          <a:bodyPr wrap="square" lIns="0" rIns="0" tIns="0" bIns="0" anchor="t">
            <a:spAutoFit/>
          </a:bodyPr>
          <a:lstStyle/>
          <a:p>
            <a:pPr algn="l">
              <a:lnSpc>
                <a:spcPct val="110000"/>
              </a:lnSpc>
            </a:pPr>
            <a:r>
              <a:rPr sz="1800" b="0" i="0">
                <a:solidFill>
                  <a:srgbClr val="E7ECF3"/>
                </a:solidFill>
                <a:latin typeface="Arial"/>
              </a:rPr>
              <a:t>Type a request in plain English, with an optional persona.</a:t>
            </a:r>
          </a:p>
        </p:txBody>
      </p:sp>
      <p:sp>
        <p:nvSpPr>
          <p:cNvPr id="6" name="Oval 5"/>
          <p:cNvSpPr/>
          <p:nvPr/>
        </p:nvSpPr>
        <p:spPr>
          <a:xfrm>
            <a:off x="14218920" y="4114800"/>
            <a:ext cx="457200" cy="457200"/>
          </a:xfrm>
          <a:prstGeom prst="ellipse">
            <a:avLst/>
          </a:prstGeom>
          <a:solidFill>
            <a:srgbClr val="1D9A6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800" b="1" i="0">
                <a:solidFill>
                  <a:srgbClr val="FFFFFF"/>
                </a:solidFill>
                <a:latin typeface="Arial"/>
              </a:rPr>
              <a:t>2</a:t>
            </a:r>
          </a:p>
        </p:txBody>
      </p:sp>
      <p:sp>
        <p:nvSpPr>
          <p:cNvPr id="7" name="TextBox 6"/>
          <p:cNvSpPr txBox="1"/>
          <p:nvPr/>
        </p:nvSpPr>
        <p:spPr>
          <a:xfrm>
            <a:off x="14859000" y="4096512"/>
            <a:ext cx="2606040" cy="1920240"/>
          </a:xfrm>
          <a:prstGeom prst="rect">
            <a:avLst/>
          </a:prstGeom>
          <a:noFill/>
        </p:spPr>
        <p:txBody>
          <a:bodyPr wrap="square" lIns="0" rIns="0" tIns="0" bIns="0" anchor="t">
            <a:spAutoFit/>
          </a:bodyPr>
          <a:lstStyle/>
          <a:p>
            <a:pPr algn="l">
              <a:lnSpc>
                <a:spcPct val="110000"/>
              </a:lnSpc>
            </a:pPr>
            <a:r>
              <a:rPr sz="1800" b="0" i="0">
                <a:solidFill>
                  <a:srgbClr val="E7ECF3"/>
                </a:solidFill>
                <a:latin typeface="Arial"/>
              </a:rPr>
              <a:t>Only zones that meet every hard constraint are kept: 21 of 471 here.</a:t>
            </a:r>
          </a:p>
        </p:txBody>
      </p:sp>
      <p:sp>
        <p:nvSpPr>
          <p:cNvPr id="8" name="Oval 7"/>
          <p:cNvSpPr/>
          <p:nvPr/>
        </p:nvSpPr>
        <p:spPr>
          <a:xfrm>
            <a:off x="14218920" y="6263640"/>
            <a:ext cx="457200" cy="457200"/>
          </a:xfrm>
          <a:prstGeom prst="ellipse">
            <a:avLst/>
          </a:prstGeom>
          <a:solidFill>
            <a:srgbClr val="1D9A6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800" b="1" i="0">
                <a:solidFill>
                  <a:srgbClr val="FFFFFF"/>
                </a:solidFill>
                <a:latin typeface="Arial"/>
              </a:rPr>
              <a:t>3</a:t>
            </a:r>
          </a:p>
        </p:txBody>
      </p:sp>
      <p:sp>
        <p:nvSpPr>
          <p:cNvPr id="9" name="TextBox 8"/>
          <p:cNvSpPr txBox="1"/>
          <p:nvPr/>
        </p:nvSpPr>
        <p:spPr>
          <a:xfrm>
            <a:off x="14859000" y="6245352"/>
            <a:ext cx="2606040" cy="1920240"/>
          </a:xfrm>
          <a:prstGeom prst="rect">
            <a:avLst/>
          </a:prstGeom>
          <a:noFill/>
        </p:spPr>
        <p:txBody>
          <a:bodyPr wrap="square" lIns="0" rIns="0" tIns="0" bIns="0" anchor="t">
            <a:spAutoFit/>
          </a:bodyPr>
          <a:lstStyle/>
          <a:p>
            <a:pPr algn="l">
              <a:lnSpc>
                <a:spcPct val="110000"/>
              </a:lnSpc>
            </a:pPr>
            <a:r>
              <a:rPr sz="1800" b="0" i="0">
                <a:solidFill>
                  <a:srgbClr val="E7ECF3"/>
                </a:solidFill>
                <a:latin typeface="Arial"/>
              </a:rPr>
              <a:t>Column height and colour show fit to your priority, with a reason for each zone.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14400" y="685800"/>
            <a:ext cx="16459200" cy="822960"/>
          </a:xfrm>
        </p:spPr>
        <p:txBody>
          <a:bodyPr lIns="0" rIns="0" tIns="0" bIns="0" anchor="t" wrap="square"/>
          <a:lstStyle/>
          <a:p>
            <a:pPr marL="0" indent="0">
              <a:buNone/>
            </a:pPr>
            <a:r>
              <a:rPr sz="3600" b="1" i="0">
                <a:solidFill>
                  <a:srgbClr val="E7ECF3"/>
                </a:solidFill>
                <a:latin typeface="Arial"/>
              </a:rPr>
              <a:t>One system, two very different cities</a:t>
            </a:r>
          </a:p>
        </p:txBody>
      </p:sp>
      <p:pic>
        <p:nvPicPr>
          <p:cNvPr id="3" name="Abu Dhabi screenshot" descr="Abu Dhabi results"/>
          <p:cNvPicPr>
            <a:picLocks noChangeAspect="1"/>
          </p:cNvPicPr>
          <p:nvPr/>
        </p:nvPicPr>
        <p:blipFill>
          <a:blip r:embed="rId2"/>
          <a:stretch>
            <a:fillRect/>
          </a:stretch>
        </p:blipFill>
        <p:spPr>
          <a:xfrm>
            <a:off x="914400" y="1828800"/>
            <a:ext cx="8046720" cy="4526280"/>
          </a:xfrm>
          <a:prstGeom prst="roundRect">
            <a:avLst>
              <a:gd name="adj" fmla="val 2200"/>
            </a:avLst>
          </a:prstGeom>
          <a:ln w="12700">
            <a:solidFill>
              <a:srgbClr val="2A3342"/>
            </a:solidFill>
          </a:ln>
        </p:spPr>
      </p:pic>
      <p:sp>
        <p:nvSpPr>
          <p:cNvPr id="4" name="TextBox 3"/>
          <p:cNvSpPr txBox="1"/>
          <p:nvPr/>
        </p:nvSpPr>
        <p:spPr>
          <a:xfrm>
            <a:off x="914400" y="6629400"/>
            <a:ext cx="8046720" cy="457200"/>
          </a:xfrm>
          <a:prstGeom prst="rect">
            <a:avLst/>
          </a:prstGeom>
          <a:noFill/>
        </p:spPr>
        <p:txBody>
          <a:bodyPr wrap="square" lIns="0" rIns="0" tIns="0" bIns="0" anchor="t">
            <a:spAutoFit/>
          </a:bodyPr>
          <a:lstStyle/>
          <a:p>
            <a:pPr algn="l"/>
            <a:r>
              <a:rPr sz="2400" b="1" i="0">
                <a:solidFill>
                  <a:srgbClr val="E7ECF3"/>
                </a:solidFill>
                <a:latin typeface="Arial"/>
              </a:rPr>
              <a:t>Abu Dhabi</a:t>
            </a:r>
          </a:p>
        </p:txBody>
      </p:sp>
      <p:sp>
        <p:nvSpPr>
          <p:cNvPr id="5" name="TextBox 4"/>
          <p:cNvSpPr txBox="1"/>
          <p:nvPr/>
        </p:nvSpPr>
        <p:spPr>
          <a:xfrm>
            <a:off x="914400" y="7132320"/>
            <a:ext cx="8046720" cy="411480"/>
          </a:xfrm>
          <a:prstGeom prst="rect">
            <a:avLst/>
          </a:prstGeom>
          <a:noFill/>
        </p:spPr>
        <p:txBody>
          <a:bodyPr wrap="square" lIns="0" rIns="0" tIns="0" bIns="0" anchor="t">
            <a:spAutoFit/>
          </a:bodyPr>
          <a:lstStyle/>
          <a:p>
            <a:pPr algn="l"/>
            <a:r>
              <a:rPr sz="1700" b="0" i="0">
                <a:solidFill>
                  <a:srgbClr val="7EE2B8"/>
                </a:solidFill>
                <a:latin typeface="Arial"/>
              </a:rPr>
              <a:t>471 H3 zones · 27 features · OpenStreetMap points of interest</a:t>
            </a:r>
          </a:p>
        </p:txBody>
      </p:sp>
      <p:sp>
        <p:nvSpPr>
          <p:cNvPr id="6" name="TextBox 5"/>
          <p:cNvSpPr txBox="1"/>
          <p:nvPr/>
        </p:nvSpPr>
        <p:spPr>
          <a:xfrm>
            <a:off x="914400" y="7589520"/>
            <a:ext cx="8046720" cy="822960"/>
          </a:xfrm>
          <a:prstGeom prst="rect">
            <a:avLst/>
          </a:prstGeom>
          <a:noFill/>
        </p:spPr>
        <p:txBody>
          <a:bodyPr wrap="square" lIns="0" rIns="0" tIns="0" bIns="0" anchor="t">
            <a:spAutoFit/>
          </a:bodyPr>
          <a:lstStyle/>
          <a:p>
            <a:pPr algn="l"/>
            <a:r>
              <a:rPr sz="1700" b="0" i="0">
                <a:solidFill>
                  <a:srgbClr val="9AA4B5"/>
                </a:solidFill>
                <a:latin typeface="Arial"/>
              </a:rPr>
              <a:t>Open data only, so questions are about amenities and distances.</a:t>
            </a:r>
          </a:p>
        </p:txBody>
      </p:sp>
      <p:pic>
        <p:nvPicPr>
          <p:cNvPr id="7" name="Boston screenshot" descr="Boston results"/>
          <p:cNvPicPr>
            <a:picLocks noChangeAspect="1"/>
          </p:cNvPicPr>
          <p:nvPr/>
        </p:nvPicPr>
        <p:blipFill>
          <a:blip r:embed="rId3"/>
          <a:stretch>
            <a:fillRect/>
          </a:stretch>
        </p:blipFill>
        <p:spPr>
          <a:xfrm>
            <a:off x="9326880" y="1828800"/>
            <a:ext cx="8046720" cy="4526280"/>
          </a:xfrm>
          <a:prstGeom prst="roundRect">
            <a:avLst>
              <a:gd name="adj" fmla="val 2200"/>
            </a:avLst>
          </a:prstGeom>
          <a:ln w="12700">
            <a:solidFill>
              <a:srgbClr val="2A3342"/>
            </a:solidFill>
          </a:ln>
        </p:spPr>
      </p:pic>
      <p:sp>
        <p:nvSpPr>
          <p:cNvPr id="8" name="TextBox 7"/>
          <p:cNvSpPr txBox="1"/>
          <p:nvPr/>
        </p:nvSpPr>
        <p:spPr>
          <a:xfrm>
            <a:off x="9326880" y="6629400"/>
            <a:ext cx="8046720" cy="457200"/>
          </a:xfrm>
          <a:prstGeom prst="rect">
            <a:avLst/>
          </a:prstGeom>
          <a:noFill/>
        </p:spPr>
        <p:txBody>
          <a:bodyPr wrap="square" lIns="0" rIns="0" tIns="0" bIns="0" anchor="t">
            <a:spAutoFit/>
          </a:bodyPr>
          <a:lstStyle/>
          <a:p>
            <a:pPr algn="l"/>
            <a:r>
              <a:rPr sz="2400" b="1" i="0">
                <a:solidFill>
                  <a:srgbClr val="E7ECF3"/>
                </a:solidFill>
                <a:latin typeface="Arial"/>
              </a:rPr>
              <a:t>Boston</a:t>
            </a:r>
          </a:p>
        </p:txBody>
      </p:sp>
      <p:sp>
        <p:nvSpPr>
          <p:cNvPr id="9" name="TextBox 8"/>
          <p:cNvSpPr txBox="1"/>
          <p:nvPr/>
        </p:nvSpPr>
        <p:spPr>
          <a:xfrm>
            <a:off x="9326880" y="7132320"/>
            <a:ext cx="8046720" cy="411480"/>
          </a:xfrm>
          <a:prstGeom prst="rect">
            <a:avLst/>
          </a:prstGeom>
          <a:noFill/>
        </p:spPr>
        <p:txBody>
          <a:bodyPr wrap="square" lIns="0" rIns="0" tIns="0" bIns="0" anchor="t">
            <a:spAutoFit/>
          </a:bodyPr>
          <a:lstStyle/>
          <a:p>
            <a:pPr algn="l"/>
            <a:r>
              <a:rPr sz="1700" b="0" i="0">
                <a:solidFill>
                  <a:srgbClr val="7EE2B8"/>
                </a:solidFill>
                <a:latin typeface="Arial"/>
              </a:rPr>
              <a:t>255 H3 zones · 48 features · SafeGraph POIs, spending, population</a:t>
            </a:r>
          </a:p>
        </p:txBody>
      </p:sp>
      <p:sp>
        <p:nvSpPr>
          <p:cNvPr id="10" name="TextBox 9"/>
          <p:cNvSpPr txBox="1"/>
          <p:nvPr/>
        </p:nvSpPr>
        <p:spPr>
          <a:xfrm>
            <a:off x="9326880" y="7589520"/>
            <a:ext cx="8046720" cy="822960"/>
          </a:xfrm>
          <a:prstGeom prst="rect">
            <a:avLst/>
          </a:prstGeom>
          <a:noFill/>
        </p:spPr>
        <p:txBody>
          <a:bodyPr wrap="square" lIns="0" rIns="0" tIns="0" bIns="0" anchor="t">
            <a:spAutoFit/>
          </a:bodyPr>
          <a:lstStyle/>
          <a:p>
            <a:pPr algn="l"/>
            <a:r>
              <a:rPr sz="1700" b="0" i="0">
                <a:solidFill>
                  <a:srgbClr val="9AA4B5"/>
                </a:solidFill>
                <a:latin typeface="Arial"/>
              </a:rPr>
              <a:t>Richer data supports harder questions, such as spending patterns and demographics.</a:t>
            </a:r>
          </a:p>
        </p:txBody>
      </p:sp>
      <p:sp>
        <p:nvSpPr>
          <p:cNvPr id="11" name="TextBox 10"/>
          <p:cNvSpPr txBox="1"/>
          <p:nvPr/>
        </p:nvSpPr>
        <p:spPr>
          <a:xfrm>
            <a:off x="914400" y="8732520"/>
            <a:ext cx="16002000" cy="411480"/>
          </a:xfrm>
          <a:prstGeom prst="rect">
            <a:avLst/>
          </a:prstGeom>
          <a:noFill/>
        </p:spPr>
        <p:txBody>
          <a:bodyPr wrap="square" lIns="0" rIns="0" tIns="0" bIns="0" anchor="t">
            <a:spAutoFit/>
          </a:bodyPr>
          <a:lstStyle/>
          <a:p>
            <a:pPr algn="l"/>
            <a:r>
              <a:rPr sz="1600" b="0" i="0">
                <a:solidFill>
                  <a:srgbClr val="9AA4B5"/>
                </a:solidFill>
                <a:latin typeface="Arial"/>
              </a:rPr>
              <a:t>Boston also anchors the original LocationReasoner benchmark (306 queries).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14400" y="685800"/>
            <a:ext cx="16459200" cy="822960"/>
          </a:xfrm>
        </p:spPr>
        <p:txBody>
          <a:bodyPr lIns="0" rIns="0" tIns="0" bIns="0" anchor="t" wrap="square"/>
          <a:lstStyle/>
          <a:p>
            <a:pPr marL="0" indent="0">
              <a:buNone/>
            </a:pPr>
            <a:r>
              <a:rPr sz="3600" b="1" i="0">
                <a:solidFill>
                  <a:srgbClr val="E7ECF3"/>
                </a:solidFill>
                <a:latin typeface="Arial"/>
              </a:rPr>
              <a:t>Same constraints, different priorities, different answers</a:t>
            </a:r>
          </a:p>
        </p:txBody>
      </p:sp>
      <p:sp>
        <p:nvSpPr>
          <p:cNvPr id="3" name="TextBox 2"/>
          <p:cNvSpPr txBox="1"/>
          <p:nvPr/>
        </p:nvSpPr>
        <p:spPr>
          <a:xfrm>
            <a:off x="914400" y="1536192"/>
            <a:ext cx="16459200" cy="685800"/>
          </a:xfrm>
          <a:prstGeom prst="rect">
            <a:avLst/>
          </a:prstGeom>
          <a:noFill/>
        </p:spPr>
        <p:txBody>
          <a:bodyPr wrap="square" lIns="0" rIns="0" tIns="0" bIns="0" anchor="t">
            <a:spAutoFit/>
          </a:bodyPr>
          <a:lstStyle/>
          <a:p>
            <a:pPr algn="l"/>
            <a:r>
              <a:rPr sz="2000" b="0" i="0">
                <a:solidFill>
                  <a:srgbClr val="9AA4B5"/>
                </a:solidFill>
                <a:latin typeface="Arial"/>
              </a:rPr>
              <a:t>“…zones within 800 m of a mall, with at least 2 pharmacies” returns the same 21 zones each time. Only the stated priority changes.</a:t>
            </a:r>
          </a:p>
        </p:txBody>
      </p:sp>
      <p:sp>
        <p:nvSpPr>
          <p:cNvPr id="4" name="TextBox 3"/>
          <p:cNvSpPr txBox="1"/>
          <p:nvPr/>
        </p:nvSpPr>
        <p:spPr>
          <a:xfrm>
            <a:off x="914400" y="2377440"/>
            <a:ext cx="5239512" cy="411480"/>
          </a:xfrm>
          <a:prstGeom prst="rect">
            <a:avLst/>
          </a:prstGeom>
          <a:noFill/>
        </p:spPr>
        <p:txBody>
          <a:bodyPr wrap="square" lIns="0" rIns="0" tIns="0" bIns="0" anchor="t">
            <a:spAutoFit/>
          </a:bodyPr>
          <a:lstStyle/>
          <a:p>
            <a:pPr algn="l"/>
            <a:r>
              <a:rPr sz="2200" b="1" i="0">
                <a:solidFill>
                  <a:srgbClr val="7EE2B8"/>
                </a:solidFill>
                <a:latin typeface="Arial"/>
              </a:rPr>
              <a:t>Greenery</a:t>
            </a:r>
          </a:p>
        </p:txBody>
      </p:sp>
      <p:sp>
        <p:nvSpPr>
          <p:cNvPr id="5" name="TextBox 4"/>
          <p:cNvSpPr txBox="1"/>
          <p:nvPr/>
        </p:nvSpPr>
        <p:spPr>
          <a:xfrm>
            <a:off x="914400" y="2788920"/>
            <a:ext cx="5239512" cy="365760"/>
          </a:xfrm>
          <a:prstGeom prst="rect">
            <a:avLst/>
          </a:prstGeom>
          <a:noFill/>
        </p:spPr>
        <p:txBody>
          <a:bodyPr wrap="square" lIns="0" rIns="0" tIns="0" bIns="0" anchor="t">
            <a:spAutoFit/>
          </a:bodyPr>
          <a:lstStyle/>
          <a:p>
            <a:pPr algn="l"/>
            <a:r>
              <a:rPr sz="1500" b="0" i="0">
                <a:solidFill>
                  <a:srgbClr val="9AA4B5"/>
                </a:solidFill>
                <a:latin typeface="Arial"/>
              </a:rPr>
              <a:t>“urban designer who cares about greenery”</a:t>
            </a:r>
          </a:p>
        </p:txBody>
      </p:sp>
      <p:pic>
        <p:nvPicPr>
          <p:cNvPr id="6" name="Greenery map" descr="Zones ranked by Greenery"/>
          <p:cNvPicPr>
            <a:picLocks noChangeAspect="1"/>
          </p:cNvPicPr>
          <p:nvPr/>
        </p:nvPicPr>
        <p:blipFill>
          <a:blip r:embed="rId2"/>
          <a:stretch>
            <a:fillRect/>
          </a:stretch>
        </p:blipFill>
        <p:spPr>
          <a:xfrm>
            <a:off x="914400" y="3246120"/>
            <a:ext cx="5239512" cy="2697480"/>
          </a:xfrm>
          <a:prstGeom prst="roundRect">
            <a:avLst>
              <a:gd name="adj" fmla="val 2200"/>
            </a:avLst>
          </a:prstGeom>
          <a:ln w="12700">
            <a:solidFill>
              <a:srgbClr val="2A3342"/>
            </a:solidFill>
          </a:ln>
        </p:spPr>
      </p:pic>
      <p:sp>
        <p:nvSpPr>
          <p:cNvPr id="7" name="Rounded Rectangle 6"/>
          <p:cNvSpPr/>
          <p:nvPr/>
        </p:nvSpPr>
        <p:spPr>
          <a:xfrm>
            <a:off x="914400" y="6190488"/>
            <a:ext cx="457200" cy="384048"/>
          </a:xfrm>
          <a:prstGeom prst="roundRect">
            <a:avLst>
              <a:gd name="adj" fmla="val 25000"/>
            </a:avLst>
          </a:prstGeom>
          <a:solidFill>
            <a:srgbClr val="121823"/>
          </a:solidFill>
          <a:ln w="15875">
            <a:solidFill>
              <a:srgbClr val="2A334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4630" bIns="14630" wrap="square"/>
          <a:lstStyle/>
          <a:p>
            <a:pPr algn="ctr"/>
            <a:r>
              <a:rPr sz="1500" b="1" i="0">
                <a:solidFill>
                  <a:srgbClr val="E7ECF3"/>
                </a:solidFill>
                <a:latin typeface="Arial"/>
              </a:rPr>
              <a:t>A</a:t>
            </a:r>
          </a:p>
        </p:txBody>
      </p:sp>
      <p:sp>
        <p:nvSpPr>
          <p:cNvPr id="8" name="TextBox 7"/>
          <p:cNvSpPr txBox="1"/>
          <p:nvPr/>
        </p:nvSpPr>
        <p:spPr>
          <a:xfrm>
            <a:off x="1508760" y="6172200"/>
            <a:ext cx="3794760" cy="914400"/>
          </a:xfrm>
          <a:prstGeom prst="rect">
            <a:avLst/>
          </a:prstGeom>
          <a:noFill/>
        </p:spPr>
        <p:txBody>
          <a:bodyPr wrap="square" lIns="0" rIns="0" tIns="0" bIns="0" anchor="t">
            <a:spAutoFit/>
          </a:bodyPr>
          <a:lstStyle/>
          <a:p>
            <a:pPr algn="l">
              <a:lnSpc>
                <a:spcPct val="105000"/>
              </a:lnSpc>
            </a:pPr>
            <a:r>
              <a:rPr sz="1500" b="0" i="0">
                <a:solidFill>
                  <a:srgbClr val="E7ECF3"/>
                </a:solidFill>
                <a:latin typeface="Arial"/>
              </a:rPr>
              <a:t>Contains 10 parks, indicating significant greenery.</a:t>
            </a:r>
          </a:p>
        </p:txBody>
      </p:sp>
      <p:sp>
        <p:nvSpPr>
          <p:cNvPr id="9" name="TextBox 8"/>
          <p:cNvSpPr txBox="1"/>
          <p:nvPr/>
        </p:nvSpPr>
        <p:spPr>
          <a:xfrm>
            <a:off x="5349240" y="6153912"/>
            <a:ext cx="804672" cy="457200"/>
          </a:xfrm>
          <a:prstGeom prst="rect">
            <a:avLst/>
          </a:prstGeom>
          <a:noFill/>
        </p:spPr>
        <p:txBody>
          <a:bodyPr wrap="square" lIns="0" rIns="0" tIns="0" bIns="0" anchor="t">
            <a:spAutoFit/>
          </a:bodyPr>
          <a:lstStyle/>
          <a:p>
            <a:pPr algn="r"/>
            <a:r>
              <a:rPr sz="2200" b="1" i="0">
                <a:solidFill>
                  <a:srgbClr val="7EE2B8"/>
                </a:solidFill>
                <a:latin typeface="Arial"/>
              </a:rPr>
              <a:t>100</a:t>
            </a:r>
          </a:p>
        </p:txBody>
      </p:sp>
      <p:sp>
        <p:nvSpPr>
          <p:cNvPr id="10" name="Rounded Rectangle 9"/>
          <p:cNvSpPr/>
          <p:nvPr/>
        </p:nvSpPr>
        <p:spPr>
          <a:xfrm>
            <a:off x="914400" y="7150607"/>
            <a:ext cx="457200" cy="384048"/>
          </a:xfrm>
          <a:prstGeom prst="roundRect">
            <a:avLst>
              <a:gd name="adj" fmla="val 25000"/>
            </a:avLst>
          </a:prstGeom>
          <a:solidFill>
            <a:srgbClr val="121823"/>
          </a:solidFill>
          <a:ln w="15875">
            <a:solidFill>
              <a:srgbClr val="2A334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4630" bIns="14630" wrap="square"/>
          <a:lstStyle/>
          <a:p>
            <a:pPr algn="ctr"/>
            <a:r>
              <a:rPr sz="1500" b="1" i="0">
                <a:solidFill>
                  <a:srgbClr val="E7ECF3"/>
                </a:solidFill>
                <a:latin typeface="Arial"/>
              </a:rPr>
              <a:t>B</a:t>
            </a:r>
          </a:p>
        </p:txBody>
      </p:sp>
      <p:sp>
        <p:nvSpPr>
          <p:cNvPr id="11" name="TextBox 10"/>
          <p:cNvSpPr txBox="1"/>
          <p:nvPr/>
        </p:nvSpPr>
        <p:spPr>
          <a:xfrm>
            <a:off x="1508760" y="7132320"/>
            <a:ext cx="3794760" cy="914400"/>
          </a:xfrm>
          <a:prstGeom prst="rect">
            <a:avLst/>
          </a:prstGeom>
          <a:noFill/>
        </p:spPr>
        <p:txBody>
          <a:bodyPr wrap="square" lIns="0" rIns="0" tIns="0" bIns="0" anchor="t">
            <a:spAutoFit/>
          </a:bodyPr>
          <a:lstStyle/>
          <a:p>
            <a:pPr algn="l">
              <a:lnSpc>
                <a:spcPct val="105000"/>
              </a:lnSpc>
            </a:pPr>
            <a:r>
              <a:rPr sz="1500" b="0" i="0">
                <a:solidFill>
                  <a:srgbClr val="E7ECF3"/>
                </a:solidFill>
                <a:latin typeface="Arial"/>
              </a:rPr>
              <a:t>Contains 2 parks, indicating some greenery.</a:t>
            </a:r>
          </a:p>
        </p:txBody>
      </p:sp>
      <p:sp>
        <p:nvSpPr>
          <p:cNvPr id="12" name="TextBox 11"/>
          <p:cNvSpPr txBox="1"/>
          <p:nvPr/>
        </p:nvSpPr>
        <p:spPr>
          <a:xfrm>
            <a:off x="5349240" y="7114032"/>
            <a:ext cx="804672" cy="457200"/>
          </a:xfrm>
          <a:prstGeom prst="rect">
            <a:avLst/>
          </a:prstGeom>
          <a:noFill/>
        </p:spPr>
        <p:txBody>
          <a:bodyPr wrap="square" lIns="0" rIns="0" tIns="0" bIns="0" anchor="t">
            <a:spAutoFit/>
          </a:bodyPr>
          <a:lstStyle/>
          <a:p>
            <a:pPr algn="r"/>
            <a:r>
              <a:rPr sz="2200" b="1" i="0">
                <a:solidFill>
                  <a:srgbClr val="F4A259"/>
                </a:solidFill>
                <a:latin typeface="Arial"/>
              </a:rPr>
              <a:t>60</a:t>
            </a:r>
          </a:p>
        </p:txBody>
      </p:sp>
      <p:sp>
        <p:nvSpPr>
          <p:cNvPr id="13" name="Rounded Rectangle 12"/>
          <p:cNvSpPr/>
          <p:nvPr/>
        </p:nvSpPr>
        <p:spPr>
          <a:xfrm>
            <a:off x="914400" y="8110727"/>
            <a:ext cx="457200" cy="384048"/>
          </a:xfrm>
          <a:prstGeom prst="roundRect">
            <a:avLst>
              <a:gd name="adj" fmla="val 25000"/>
            </a:avLst>
          </a:prstGeom>
          <a:solidFill>
            <a:srgbClr val="121823"/>
          </a:solidFill>
          <a:ln w="15875">
            <a:solidFill>
              <a:srgbClr val="2A334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4630" bIns="14630" wrap="square"/>
          <a:lstStyle/>
          <a:p>
            <a:pPr algn="ctr"/>
            <a:r>
              <a:rPr sz="1500" b="1" i="0">
                <a:solidFill>
                  <a:srgbClr val="E7ECF3"/>
                </a:solidFill>
                <a:latin typeface="Arial"/>
              </a:rPr>
              <a:t>C</a:t>
            </a:r>
          </a:p>
        </p:txBody>
      </p:sp>
      <p:sp>
        <p:nvSpPr>
          <p:cNvPr id="14" name="TextBox 13"/>
          <p:cNvSpPr txBox="1"/>
          <p:nvPr/>
        </p:nvSpPr>
        <p:spPr>
          <a:xfrm>
            <a:off x="1508760" y="8092440"/>
            <a:ext cx="3794760" cy="914400"/>
          </a:xfrm>
          <a:prstGeom prst="rect">
            <a:avLst/>
          </a:prstGeom>
          <a:noFill/>
        </p:spPr>
        <p:txBody>
          <a:bodyPr wrap="square" lIns="0" rIns="0" tIns="0" bIns="0" anchor="t">
            <a:spAutoFit/>
          </a:bodyPr>
          <a:lstStyle/>
          <a:p>
            <a:pPr algn="l">
              <a:lnSpc>
                <a:spcPct val="105000"/>
              </a:lnSpc>
            </a:pPr>
            <a:r>
              <a:rPr sz="1500" b="0" i="0">
                <a:solidFill>
                  <a:srgbClr val="E7ECF3"/>
                </a:solidFill>
                <a:latin typeface="Arial"/>
              </a:rPr>
              <a:t>Contains 2 parks, indicating some greenery.</a:t>
            </a:r>
          </a:p>
        </p:txBody>
      </p:sp>
      <p:sp>
        <p:nvSpPr>
          <p:cNvPr id="15" name="TextBox 14"/>
          <p:cNvSpPr txBox="1"/>
          <p:nvPr/>
        </p:nvSpPr>
        <p:spPr>
          <a:xfrm>
            <a:off x="5349240" y="8074152"/>
            <a:ext cx="804672" cy="457200"/>
          </a:xfrm>
          <a:prstGeom prst="rect">
            <a:avLst/>
          </a:prstGeom>
          <a:noFill/>
        </p:spPr>
        <p:txBody>
          <a:bodyPr wrap="square" lIns="0" rIns="0" tIns="0" bIns="0" anchor="t">
            <a:spAutoFit/>
          </a:bodyPr>
          <a:lstStyle/>
          <a:p>
            <a:pPr algn="r"/>
            <a:r>
              <a:rPr sz="2200" b="1" i="0">
                <a:solidFill>
                  <a:srgbClr val="F4A259"/>
                </a:solidFill>
                <a:latin typeface="Arial"/>
              </a:rPr>
              <a:t>60</a:t>
            </a:r>
          </a:p>
        </p:txBody>
      </p:sp>
      <p:sp>
        <p:nvSpPr>
          <p:cNvPr id="16" name="TextBox 15"/>
          <p:cNvSpPr txBox="1"/>
          <p:nvPr/>
        </p:nvSpPr>
        <p:spPr>
          <a:xfrm>
            <a:off x="6524244" y="2377440"/>
            <a:ext cx="5239512" cy="411480"/>
          </a:xfrm>
          <a:prstGeom prst="rect">
            <a:avLst/>
          </a:prstGeom>
          <a:noFill/>
        </p:spPr>
        <p:txBody>
          <a:bodyPr wrap="square" lIns="0" rIns="0" tIns="0" bIns="0" anchor="t">
            <a:spAutoFit/>
          </a:bodyPr>
          <a:lstStyle/>
          <a:p>
            <a:pPr algn="l"/>
            <a:r>
              <a:rPr sz="2200" b="1" i="0">
                <a:solidFill>
                  <a:srgbClr val="7EE2B8"/>
                </a:solidFill>
                <a:latin typeface="Arial"/>
              </a:rPr>
              <a:t>Tourist landmarks</a:t>
            </a:r>
          </a:p>
        </p:txBody>
      </p:sp>
      <p:sp>
        <p:nvSpPr>
          <p:cNvPr id="17" name="TextBox 16"/>
          <p:cNvSpPr txBox="1"/>
          <p:nvPr/>
        </p:nvSpPr>
        <p:spPr>
          <a:xfrm>
            <a:off x="6524244" y="2788920"/>
            <a:ext cx="5239512" cy="365760"/>
          </a:xfrm>
          <a:prstGeom prst="rect">
            <a:avLst/>
          </a:prstGeom>
          <a:noFill/>
        </p:spPr>
        <p:txBody>
          <a:bodyPr wrap="square" lIns="0" rIns="0" tIns="0" bIns="0" anchor="t">
            <a:spAutoFit/>
          </a:bodyPr>
          <a:lstStyle/>
          <a:p>
            <a:pPr algn="l"/>
            <a:r>
              <a:rPr sz="1500" b="0" i="0">
                <a:solidFill>
                  <a:srgbClr val="9AA4B5"/>
                </a:solidFill>
                <a:latin typeface="Arial"/>
              </a:rPr>
              <a:t>“tourism business owner”</a:t>
            </a:r>
          </a:p>
        </p:txBody>
      </p:sp>
      <p:pic>
        <p:nvPicPr>
          <p:cNvPr id="18" name="Tourist landmarks map" descr="Zones ranked by Tourist landmarks"/>
          <p:cNvPicPr>
            <a:picLocks noChangeAspect="1"/>
          </p:cNvPicPr>
          <p:nvPr/>
        </p:nvPicPr>
        <p:blipFill>
          <a:blip r:embed="rId3"/>
          <a:stretch>
            <a:fillRect/>
          </a:stretch>
        </p:blipFill>
        <p:spPr>
          <a:xfrm>
            <a:off x="6524244" y="3246120"/>
            <a:ext cx="5239512" cy="2697480"/>
          </a:xfrm>
          <a:prstGeom prst="roundRect">
            <a:avLst>
              <a:gd name="adj" fmla="val 2200"/>
            </a:avLst>
          </a:prstGeom>
          <a:ln w="12700">
            <a:solidFill>
              <a:srgbClr val="2A3342"/>
            </a:solidFill>
          </a:ln>
        </p:spPr>
      </p:pic>
      <p:sp>
        <p:nvSpPr>
          <p:cNvPr id="19" name="Rounded Rectangle 18"/>
          <p:cNvSpPr/>
          <p:nvPr/>
        </p:nvSpPr>
        <p:spPr>
          <a:xfrm>
            <a:off x="6524244" y="6190488"/>
            <a:ext cx="457200" cy="384048"/>
          </a:xfrm>
          <a:prstGeom prst="roundRect">
            <a:avLst>
              <a:gd name="adj" fmla="val 25000"/>
            </a:avLst>
          </a:prstGeom>
          <a:solidFill>
            <a:srgbClr val="121823"/>
          </a:solidFill>
          <a:ln w="15875">
            <a:solidFill>
              <a:srgbClr val="2A334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4630" bIns="14630" wrap="square"/>
          <a:lstStyle/>
          <a:p>
            <a:pPr algn="ctr"/>
            <a:r>
              <a:rPr sz="1500" b="1" i="0">
                <a:solidFill>
                  <a:srgbClr val="E7ECF3"/>
                </a:solidFill>
                <a:latin typeface="Arial"/>
              </a:rPr>
              <a:t>D</a:t>
            </a:r>
          </a:p>
        </p:txBody>
      </p:sp>
      <p:sp>
        <p:nvSpPr>
          <p:cNvPr id="20" name="TextBox 19"/>
          <p:cNvSpPr txBox="1"/>
          <p:nvPr/>
        </p:nvSpPr>
        <p:spPr>
          <a:xfrm>
            <a:off x="7118604" y="6172200"/>
            <a:ext cx="3794760" cy="914400"/>
          </a:xfrm>
          <a:prstGeom prst="rect">
            <a:avLst/>
          </a:prstGeom>
          <a:noFill/>
        </p:spPr>
        <p:txBody>
          <a:bodyPr wrap="square" lIns="0" rIns="0" tIns="0" bIns="0" anchor="t">
            <a:spAutoFit/>
          </a:bodyPr>
          <a:lstStyle/>
          <a:p>
            <a:pPr algn="l">
              <a:lnSpc>
                <a:spcPct val="105000"/>
              </a:lnSpc>
            </a:pPr>
            <a:r>
              <a:rPr sz="1500" b="0" i="0">
                <a:solidFill>
                  <a:srgbClr val="E7ECF3"/>
                </a:solidFill>
                <a:latin typeface="Arial"/>
              </a:rPr>
              <a:t>Very close to tourist landmarks and has the highest number of landmarks in the zone.</a:t>
            </a:r>
          </a:p>
        </p:txBody>
      </p:sp>
      <p:sp>
        <p:nvSpPr>
          <p:cNvPr id="21" name="TextBox 20"/>
          <p:cNvSpPr txBox="1"/>
          <p:nvPr/>
        </p:nvSpPr>
        <p:spPr>
          <a:xfrm>
            <a:off x="10959084" y="6153912"/>
            <a:ext cx="804672" cy="457200"/>
          </a:xfrm>
          <a:prstGeom prst="rect">
            <a:avLst/>
          </a:prstGeom>
          <a:noFill/>
        </p:spPr>
        <p:txBody>
          <a:bodyPr wrap="square" lIns="0" rIns="0" tIns="0" bIns="0" anchor="t">
            <a:spAutoFit/>
          </a:bodyPr>
          <a:lstStyle/>
          <a:p>
            <a:pPr algn="r"/>
            <a:r>
              <a:rPr sz="2200" b="1" i="0">
                <a:solidFill>
                  <a:srgbClr val="7EE2B8"/>
                </a:solidFill>
                <a:latin typeface="Arial"/>
              </a:rPr>
              <a:t>90</a:t>
            </a:r>
          </a:p>
        </p:txBody>
      </p:sp>
      <p:sp>
        <p:nvSpPr>
          <p:cNvPr id="22" name="Rounded Rectangle 21"/>
          <p:cNvSpPr/>
          <p:nvPr/>
        </p:nvSpPr>
        <p:spPr>
          <a:xfrm>
            <a:off x="6524244" y="7150607"/>
            <a:ext cx="457200" cy="384048"/>
          </a:xfrm>
          <a:prstGeom prst="roundRect">
            <a:avLst>
              <a:gd name="adj" fmla="val 25000"/>
            </a:avLst>
          </a:prstGeom>
          <a:solidFill>
            <a:srgbClr val="121823"/>
          </a:solidFill>
          <a:ln w="15875">
            <a:solidFill>
              <a:srgbClr val="2A334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4630" bIns="14630" wrap="square"/>
          <a:lstStyle/>
          <a:p>
            <a:pPr algn="ctr"/>
            <a:r>
              <a:rPr sz="1500" b="1" i="0">
                <a:solidFill>
                  <a:srgbClr val="E7ECF3"/>
                </a:solidFill>
                <a:latin typeface="Arial"/>
              </a:rPr>
              <a:t>E</a:t>
            </a:r>
          </a:p>
        </p:txBody>
      </p:sp>
      <p:sp>
        <p:nvSpPr>
          <p:cNvPr id="23" name="TextBox 22"/>
          <p:cNvSpPr txBox="1"/>
          <p:nvPr/>
        </p:nvSpPr>
        <p:spPr>
          <a:xfrm>
            <a:off x="7118604" y="7132320"/>
            <a:ext cx="3794760" cy="914400"/>
          </a:xfrm>
          <a:prstGeom prst="rect">
            <a:avLst/>
          </a:prstGeom>
          <a:noFill/>
        </p:spPr>
        <p:txBody>
          <a:bodyPr wrap="square" lIns="0" rIns="0" tIns="0" bIns="0" anchor="t">
            <a:spAutoFit/>
          </a:bodyPr>
          <a:lstStyle/>
          <a:p>
            <a:pPr algn="l">
              <a:lnSpc>
                <a:spcPct val="105000"/>
              </a:lnSpc>
            </a:pPr>
            <a:r>
              <a:rPr sz="1500" b="0" i="0">
                <a:solidFill>
                  <a:srgbClr val="E7ECF3"/>
                </a:solidFill>
                <a:latin typeface="Arial"/>
              </a:rPr>
              <a:t>Close proximity to tourist landmarks, with landmarks inside the zone.</a:t>
            </a:r>
          </a:p>
        </p:txBody>
      </p:sp>
      <p:sp>
        <p:nvSpPr>
          <p:cNvPr id="24" name="TextBox 23"/>
          <p:cNvSpPr txBox="1"/>
          <p:nvPr/>
        </p:nvSpPr>
        <p:spPr>
          <a:xfrm>
            <a:off x="10959084" y="7114032"/>
            <a:ext cx="804672" cy="457200"/>
          </a:xfrm>
          <a:prstGeom prst="rect">
            <a:avLst/>
          </a:prstGeom>
          <a:noFill/>
        </p:spPr>
        <p:txBody>
          <a:bodyPr wrap="square" lIns="0" rIns="0" tIns="0" bIns="0" anchor="t">
            <a:spAutoFit/>
          </a:bodyPr>
          <a:lstStyle/>
          <a:p>
            <a:pPr algn="r"/>
            <a:r>
              <a:rPr sz="2200" b="1" i="0">
                <a:solidFill>
                  <a:srgbClr val="7EE2B8"/>
                </a:solidFill>
                <a:latin typeface="Arial"/>
              </a:rPr>
              <a:t>88</a:t>
            </a:r>
          </a:p>
        </p:txBody>
      </p:sp>
      <p:sp>
        <p:nvSpPr>
          <p:cNvPr id="25" name="Rounded Rectangle 24"/>
          <p:cNvSpPr/>
          <p:nvPr/>
        </p:nvSpPr>
        <p:spPr>
          <a:xfrm>
            <a:off x="6524244" y="8110727"/>
            <a:ext cx="457200" cy="384048"/>
          </a:xfrm>
          <a:prstGeom prst="roundRect">
            <a:avLst>
              <a:gd name="adj" fmla="val 25000"/>
            </a:avLst>
          </a:prstGeom>
          <a:solidFill>
            <a:srgbClr val="121823"/>
          </a:solidFill>
          <a:ln w="15875">
            <a:solidFill>
              <a:srgbClr val="2A334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4630" bIns="14630" wrap="square"/>
          <a:lstStyle/>
          <a:p>
            <a:pPr algn="ctr"/>
            <a:r>
              <a:rPr sz="1500" b="1" i="0">
                <a:solidFill>
                  <a:srgbClr val="E7ECF3"/>
                </a:solidFill>
                <a:latin typeface="Arial"/>
              </a:rPr>
              <a:t>C</a:t>
            </a:r>
          </a:p>
        </p:txBody>
      </p:sp>
      <p:sp>
        <p:nvSpPr>
          <p:cNvPr id="26" name="TextBox 25"/>
          <p:cNvSpPr txBox="1"/>
          <p:nvPr/>
        </p:nvSpPr>
        <p:spPr>
          <a:xfrm>
            <a:off x="7118604" y="8092440"/>
            <a:ext cx="3794760" cy="914400"/>
          </a:xfrm>
          <a:prstGeom prst="rect">
            <a:avLst/>
          </a:prstGeom>
          <a:noFill/>
        </p:spPr>
        <p:txBody>
          <a:bodyPr wrap="square" lIns="0" rIns="0" tIns="0" bIns="0" anchor="t">
            <a:spAutoFit/>
          </a:bodyPr>
          <a:lstStyle/>
          <a:p>
            <a:pPr algn="l">
              <a:lnSpc>
                <a:spcPct val="105000"/>
              </a:lnSpc>
            </a:pPr>
            <a:r>
              <a:rPr sz="1500" b="0" i="0">
                <a:solidFill>
                  <a:srgbClr val="E7ECF3"/>
                </a:solidFill>
                <a:latin typeface="Arial"/>
              </a:rPr>
              <a:t>Excellent proximity to tourist landmarks and a high number of them in the zone.</a:t>
            </a:r>
          </a:p>
        </p:txBody>
      </p:sp>
      <p:sp>
        <p:nvSpPr>
          <p:cNvPr id="27" name="TextBox 26"/>
          <p:cNvSpPr txBox="1"/>
          <p:nvPr/>
        </p:nvSpPr>
        <p:spPr>
          <a:xfrm>
            <a:off x="10959084" y="8074152"/>
            <a:ext cx="804672" cy="457200"/>
          </a:xfrm>
          <a:prstGeom prst="rect">
            <a:avLst/>
          </a:prstGeom>
          <a:noFill/>
        </p:spPr>
        <p:txBody>
          <a:bodyPr wrap="square" lIns="0" rIns="0" tIns="0" bIns="0" anchor="t">
            <a:spAutoFit/>
          </a:bodyPr>
          <a:lstStyle/>
          <a:p>
            <a:pPr algn="r"/>
            <a:r>
              <a:rPr sz="2200" b="1" i="0">
                <a:solidFill>
                  <a:srgbClr val="7EE2B8"/>
                </a:solidFill>
                <a:latin typeface="Arial"/>
              </a:rPr>
              <a:t>85</a:t>
            </a:r>
          </a:p>
        </p:txBody>
      </p:sp>
      <p:sp>
        <p:nvSpPr>
          <p:cNvPr id="28" name="TextBox 27"/>
          <p:cNvSpPr txBox="1"/>
          <p:nvPr/>
        </p:nvSpPr>
        <p:spPr>
          <a:xfrm>
            <a:off x="12134088" y="2377440"/>
            <a:ext cx="5239512" cy="411480"/>
          </a:xfrm>
          <a:prstGeom prst="rect">
            <a:avLst/>
          </a:prstGeom>
          <a:noFill/>
        </p:spPr>
        <p:txBody>
          <a:bodyPr wrap="square" lIns="0" rIns="0" tIns="0" bIns="0" anchor="t">
            <a:spAutoFit/>
          </a:bodyPr>
          <a:lstStyle/>
          <a:p>
            <a:pPr algn="l"/>
            <a:r>
              <a:rPr sz="2200" b="1" i="0">
                <a:solidFill>
                  <a:srgbClr val="7EE2B8"/>
                </a:solidFill>
                <a:latin typeface="Arial"/>
              </a:rPr>
              <a:t>Public transport</a:t>
            </a:r>
          </a:p>
        </p:txBody>
      </p:sp>
      <p:sp>
        <p:nvSpPr>
          <p:cNvPr id="29" name="TextBox 28"/>
          <p:cNvSpPr txBox="1"/>
          <p:nvPr/>
        </p:nvSpPr>
        <p:spPr>
          <a:xfrm>
            <a:off x="12134088" y="2788920"/>
            <a:ext cx="5239512" cy="365760"/>
          </a:xfrm>
          <a:prstGeom prst="rect">
            <a:avLst/>
          </a:prstGeom>
          <a:noFill/>
        </p:spPr>
        <p:txBody>
          <a:bodyPr wrap="square" lIns="0" rIns="0" tIns="0" bIns="0" anchor="t">
            <a:spAutoFit/>
          </a:bodyPr>
          <a:lstStyle/>
          <a:p>
            <a:pPr algn="l"/>
            <a:r>
              <a:rPr sz="1500" b="0" i="0">
                <a:solidFill>
                  <a:srgbClr val="9AA4B5"/>
                </a:solidFill>
                <a:latin typeface="Arial"/>
              </a:rPr>
              <a:t>“accessibility for public transport users”</a:t>
            </a:r>
          </a:p>
        </p:txBody>
      </p:sp>
      <p:pic>
        <p:nvPicPr>
          <p:cNvPr id="30" name="Public transport map" descr="Zones ranked by Public transport"/>
          <p:cNvPicPr>
            <a:picLocks noChangeAspect="1"/>
          </p:cNvPicPr>
          <p:nvPr/>
        </p:nvPicPr>
        <p:blipFill>
          <a:blip r:embed="rId4"/>
          <a:stretch>
            <a:fillRect/>
          </a:stretch>
        </p:blipFill>
        <p:spPr>
          <a:xfrm>
            <a:off x="12134088" y="3246120"/>
            <a:ext cx="5239512" cy="2697480"/>
          </a:xfrm>
          <a:prstGeom prst="roundRect">
            <a:avLst>
              <a:gd name="adj" fmla="val 2200"/>
            </a:avLst>
          </a:prstGeom>
          <a:ln w="12700">
            <a:solidFill>
              <a:srgbClr val="2A3342"/>
            </a:solidFill>
          </a:ln>
        </p:spPr>
      </p:pic>
      <p:sp>
        <p:nvSpPr>
          <p:cNvPr id="31" name="Rounded Rectangle 30"/>
          <p:cNvSpPr/>
          <p:nvPr/>
        </p:nvSpPr>
        <p:spPr>
          <a:xfrm>
            <a:off x="12134088" y="6190488"/>
            <a:ext cx="457200" cy="384048"/>
          </a:xfrm>
          <a:prstGeom prst="roundRect">
            <a:avLst>
              <a:gd name="adj" fmla="val 25000"/>
            </a:avLst>
          </a:prstGeom>
          <a:solidFill>
            <a:srgbClr val="121823"/>
          </a:solidFill>
          <a:ln w="15875">
            <a:solidFill>
              <a:srgbClr val="2A334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4630" bIns="14630" wrap="square"/>
          <a:lstStyle/>
          <a:p>
            <a:pPr algn="ctr"/>
            <a:r>
              <a:rPr sz="1500" b="1" i="0">
                <a:solidFill>
                  <a:srgbClr val="E7ECF3"/>
                </a:solidFill>
                <a:latin typeface="Arial"/>
              </a:rPr>
              <a:t>B</a:t>
            </a:r>
          </a:p>
        </p:txBody>
      </p:sp>
      <p:sp>
        <p:nvSpPr>
          <p:cNvPr id="32" name="TextBox 31"/>
          <p:cNvSpPr txBox="1"/>
          <p:nvPr/>
        </p:nvSpPr>
        <p:spPr>
          <a:xfrm>
            <a:off x="12728448" y="6172200"/>
            <a:ext cx="3794760" cy="914400"/>
          </a:xfrm>
          <a:prstGeom prst="rect">
            <a:avLst/>
          </a:prstGeom>
          <a:noFill/>
        </p:spPr>
        <p:txBody>
          <a:bodyPr wrap="square" lIns="0" rIns="0" tIns="0" bIns="0" anchor="t">
            <a:spAutoFit/>
          </a:bodyPr>
          <a:lstStyle/>
          <a:p>
            <a:pPr algn="l">
              <a:lnSpc>
                <a:spcPct val="105000"/>
              </a:lnSpc>
            </a:pPr>
            <a:r>
              <a:rPr sz="1500" b="0" i="0">
                <a:solidFill>
                  <a:srgbClr val="E7ECF3"/>
                </a:solidFill>
                <a:latin typeface="Arial"/>
              </a:rPr>
              <a:t>Close to a bus station with multiple bus stops and routes.</a:t>
            </a:r>
          </a:p>
        </p:txBody>
      </p:sp>
      <p:sp>
        <p:nvSpPr>
          <p:cNvPr id="33" name="TextBox 32"/>
          <p:cNvSpPr txBox="1"/>
          <p:nvPr/>
        </p:nvSpPr>
        <p:spPr>
          <a:xfrm>
            <a:off x="16568927" y="6153912"/>
            <a:ext cx="804672" cy="457200"/>
          </a:xfrm>
          <a:prstGeom prst="rect">
            <a:avLst/>
          </a:prstGeom>
          <a:noFill/>
        </p:spPr>
        <p:txBody>
          <a:bodyPr wrap="square" lIns="0" rIns="0" tIns="0" bIns="0" anchor="t">
            <a:spAutoFit/>
          </a:bodyPr>
          <a:lstStyle/>
          <a:p>
            <a:pPr algn="r"/>
            <a:r>
              <a:rPr sz="2200" b="1" i="0">
                <a:solidFill>
                  <a:srgbClr val="7EE2B8"/>
                </a:solidFill>
                <a:latin typeface="Arial"/>
              </a:rPr>
              <a:t>90</a:t>
            </a:r>
          </a:p>
        </p:txBody>
      </p:sp>
      <p:sp>
        <p:nvSpPr>
          <p:cNvPr id="34" name="Rounded Rectangle 33"/>
          <p:cNvSpPr/>
          <p:nvPr/>
        </p:nvSpPr>
        <p:spPr>
          <a:xfrm>
            <a:off x="12134088" y="7150607"/>
            <a:ext cx="457200" cy="384048"/>
          </a:xfrm>
          <a:prstGeom prst="roundRect">
            <a:avLst>
              <a:gd name="adj" fmla="val 25000"/>
            </a:avLst>
          </a:prstGeom>
          <a:solidFill>
            <a:srgbClr val="121823"/>
          </a:solidFill>
          <a:ln w="15875">
            <a:solidFill>
              <a:srgbClr val="2A334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4630" bIns="14630" wrap="square"/>
          <a:lstStyle/>
          <a:p>
            <a:pPr algn="ctr"/>
            <a:r>
              <a:rPr sz="1500" b="1" i="0">
                <a:solidFill>
                  <a:srgbClr val="E7ECF3"/>
                </a:solidFill>
                <a:latin typeface="Arial"/>
              </a:rPr>
              <a:t>F</a:t>
            </a:r>
          </a:p>
        </p:txBody>
      </p:sp>
      <p:sp>
        <p:nvSpPr>
          <p:cNvPr id="35" name="TextBox 34"/>
          <p:cNvSpPr txBox="1"/>
          <p:nvPr/>
        </p:nvSpPr>
        <p:spPr>
          <a:xfrm>
            <a:off x="12728448" y="7132320"/>
            <a:ext cx="3794760" cy="914400"/>
          </a:xfrm>
          <a:prstGeom prst="rect">
            <a:avLst/>
          </a:prstGeom>
          <a:noFill/>
        </p:spPr>
        <p:txBody>
          <a:bodyPr wrap="square" lIns="0" rIns="0" tIns="0" bIns="0" anchor="t">
            <a:spAutoFit/>
          </a:bodyPr>
          <a:lstStyle/>
          <a:p>
            <a:pPr algn="l">
              <a:lnSpc>
                <a:spcPct val="105000"/>
              </a:lnSpc>
            </a:pPr>
            <a:r>
              <a:rPr sz="1500" b="0" i="0">
                <a:solidFill>
                  <a:srgbClr val="E7ECF3"/>
                </a:solidFill>
                <a:latin typeface="Arial"/>
              </a:rPr>
              <a:t>Numerous bus stops and close proximity to a mall.</a:t>
            </a:r>
          </a:p>
        </p:txBody>
      </p:sp>
      <p:sp>
        <p:nvSpPr>
          <p:cNvPr id="36" name="TextBox 35"/>
          <p:cNvSpPr txBox="1"/>
          <p:nvPr/>
        </p:nvSpPr>
        <p:spPr>
          <a:xfrm>
            <a:off x="16568927" y="7114032"/>
            <a:ext cx="804672" cy="457200"/>
          </a:xfrm>
          <a:prstGeom prst="rect">
            <a:avLst/>
          </a:prstGeom>
          <a:noFill/>
        </p:spPr>
        <p:txBody>
          <a:bodyPr wrap="square" lIns="0" rIns="0" tIns="0" bIns="0" anchor="t">
            <a:spAutoFit/>
          </a:bodyPr>
          <a:lstStyle/>
          <a:p>
            <a:pPr algn="r"/>
            <a:r>
              <a:rPr sz="2200" b="1" i="0">
                <a:solidFill>
                  <a:srgbClr val="7EE2B8"/>
                </a:solidFill>
                <a:latin typeface="Arial"/>
              </a:rPr>
              <a:t>88</a:t>
            </a:r>
          </a:p>
        </p:txBody>
      </p:sp>
      <p:sp>
        <p:nvSpPr>
          <p:cNvPr id="37" name="Rounded Rectangle 36"/>
          <p:cNvSpPr/>
          <p:nvPr/>
        </p:nvSpPr>
        <p:spPr>
          <a:xfrm>
            <a:off x="12134088" y="8110727"/>
            <a:ext cx="457200" cy="384048"/>
          </a:xfrm>
          <a:prstGeom prst="roundRect">
            <a:avLst>
              <a:gd name="adj" fmla="val 25000"/>
            </a:avLst>
          </a:prstGeom>
          <a:solidFill>
            <a:srgbClr val="121823"/>
          </a:solidFill>
          <a:ln w="15875">
            <a:solidFill>
              <a:srgbClr val="2A3342"/>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4630" bIns="14630" wrap="square"/>
          <a:lstStyle/>
          <a:p>
            <a:pPr algn="ctr"/>
            <a:r>
              <a:rPr sz="1500" b="1" i="0">
                <a:solidFill>
                  <a:srgbClr val="E7ECF3"/>
                </a:solidFill>
                <a:latin typeface="Arial"/>
              </a:rPr>
              <a:t>E</a:t>
            </a:r>
          </a:p>
        </p:txBody>
      </p:sp>
      <p:sp>
        <p:nvSpPr>
          <p:cNvPr id="38" name="TextBox 37"/>
          <p:cNvSpPr txBox="1"/>
          <p:nvPr/>
        </p:nvSpPr>
        <p:spPr>
          <a:xfrm>
            <a:off x="12728448" y="8092440"/>
            <a:ext cx="3794760" cy="914400"/>
          </a:xfrm>
          <a:prstGeom prst="rect">
            <a:avLst/>
          </a:prstGeom>
          <a:noFill/>
        </p:spPr>
        <p:txBody>
          <a:bodyPr wrap="square" lIns="0" rIns="0" tIns="0" bIns="0" anchor="t">
            <a:spAutoFit/>
          </a:bodyPr>
          <a:lstStyle/>
          <a:p>
            <a:pPr algn="l">
              <a:lnSpc>
                <a:spcPct val="105000"/>
              </a:lnSpc>
            </a:pPr>
            <a:r>
              <a:rPr sz="1500" b="0" i="0">
                <a:solidFill>
                  <a:srgbClr val="E7ECF3"/>
                </a:solidFill>
                <a:latin typeface="Arial"/>
              </a:rPr>
              <a:t>Close to both a mall and a bus station with many bus stops.</a:t>
            </a:r>
          </a:p>
        </p:txBody>
      </p:sp>
      <p:sp>
        <p:nvSpPr>
          <p:cNvPr id="39" name="TextBox 38"/>
          <p:cNvSpPr txBox="1"/>
          <p:nvPr/>
        </p:nvSpPr>
        <p:spPr>
          <a:xfrm>
            <a:off x="16568927" y="8074152"/>
            <a:ext cx="804672" cy="457200"/>
          </a:xfrm>
          <a:prstGeom prst="rect">
            <a:avLst/>
          </a:prstGeom>
          <a:noFill/>
        </p:spPr>
        <p:txBody>
          <a:bodyPr wrap="square" lIns="0" rIns="0" tIns="0" bIns="0" anchor="t">
            <a:spAutoFit/>
          </a:bodyPr>
          <a:lstStyle/>
          <a:p>
            <a:pPr algn="r"/>
            <a:r>
              <a:rPr sz="2200" b="1" i="0">
                <a:solidFill>
                  <a:srgbClr val="7EE2B8"/>
                </a:solidFill>
                <a:latin typeface="Arial"/>
              </a:rPr>
              <a:t>87</a:t>
            </a:r>
          </a:p>
        </p:txBody>
      </p:sp>
      <p:sp>
        <p:nvSpPr>
          <p:cNvPr id="40" name="TextBox 39"/>
          <p:cNvSpPr txBox="1"/>
          <p:nvPr/>
        </p:nvSpPr>
        <p:spPr>
          <a:xfrm>
            <a:off x="914400" y="9098280"/>
            <a:ext cx="16002000" cy="365760"/>
          </a:xfrm>
          <a:prstGeom prst="rect">
            <a:avLst/>
          </a:prstGeom>
          <a:noFill/>
        </p:spPr>
        <p:txBody>
          <a:bodyPr wrap="square" lIns="0" rIns="0" tIns="0" bIns="0" anchor="t">
            <a:spAutoFit/>
          </a:bodyPr>
          <a:lstStyle/>
          <a:p>
            <a:pPr algn="l"/>
            <a:r>
              <a:rPr sz="1500" b="0" i="0">
                <a:solidFill>
                  <a:srgbClr val="9AA4B5"/>
                </a:solidFill>
                <a:latin typeface="Arial"/>
              </a:rPr>
              <a:t>Letters mark the same zone across columns. The #1 zone is different for every priority.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14400" y="685800"/>
            <a:ext cx="16459200" cy="822960"/>
          </a:xfrm>
        </p:spPr>
        <p:txBody>
          <a:bodyPr lIns="0" rIns="0" tIns="0" bIns="0" anchor="t" wrap="square"/>
          <a:lstStyle/>
          <a:p>
            <a:pPr marL="0" indent="0">
              <a:buNone/>
            </a:pPr>
            <a:r>
              <a:rPr sz="3600" b="1" i="0">
                <a:solidFill>
                  <a:srgbClr val="E7ECF3"/>
                </a:solidFill>
                <a:latin typeface="Arial"/>
              </a:rPr>
              <a:t>Click any zone: one card, five sources</a:t>
            </a:r>
          </a:p>
        </p:txBody>
      </p:sp>
      <p:pic>
        <p:nvPicPr>
          <p:cNvPr id="3" name="Zone card screenshot" descr="Zone info card in Boston: Audubon Circle, weather, constraint check, reasoning, amenities"/>
          <p:cNvPicPr>
            <a:picLocks noChangeAspect="1"/>
          </p:cNvPicPr>
          <p:nvPr/>
        </p:nvPicPr>
        <p:blipFill>
          <a:blip r:embed="rId2"/>
          <a:stretch>
            <a:fillRect/>
          </a:stretch>
        </p:blipFill>
        <p:spPr>
          <a:xfrm>
            <a:off x="914400" y="1828800"/>
            <a:ext cx="11887200" cy="6684264"/>
          </a:xfrm>
          <a:prstGeom prst="roundRect">
            <a:avLst>
              <a:gd name="adj" fmla="val 2200"/>
            </a:avLst>
          </a:prstGeom>
          <a:ln w="12700">
            <a:solidFill>
              <a:srgbClr val="2A3342"/>
            </a:solidFill>
          </a:ln>
        </p:spPr>
      </p:pic>
      <p:sp>
        <p:nvSpPr>
          <p:cNvPr id="4" name="Oval 3"/>
          <p:cNvSpPr/>
          <p:nvPr/>
        </p:nvSpPr>
        <p:spPr>
          <a:xfrm>
            <a:off x="13304520" y="2103120"/>
            <a:ext cx="256032" cy="256032"/>
          </a:xfrm>
          <a:prstGeom prst="ellipse">
            <a:avLst/>
          </a:prstGeom>
          <a:solidFill>
            <a:srgbClr val="2B6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761720" y="2011680"/>
            <a:ext cx="3657600" cy="411480"/>
          </a:xfrm>
          <a:prstGeom prst="rect">
            <a:avLst/>
          </a:prstGeom>
          <a:noFill/>
        </p:spPr>
        <p:txBody>
          <a:bodyPr wrap="square" lIns="0" rIns="0" tIns="0" bIns="0" anchor="t">
            <a:spAutoFit/>
          </a:bodyPr>
          <a:lstStyle/>
          <a:p>
            <a:pPr algn="l"/>
            <a:r>
              <a:rPr sz="1900" b="1" i="0">
                <a:solidFill>
                  <a:srgbClr val="E7ECF3"/>
                </a:solidFill>
                <a:latin typeface="Arial"/>
              </a:rPr>
              <a:t>Address</a:t>
            </a:r>
          </a:p>
        </p:txBody>
      </p:sp>
      <p:sp>
        <p:nvSpPr>
          <p:cNvPr id="6" name="TextBox 5"/>
          <p:cNvSpPr txBox="1"/>
          <p:nvPr/>
        </p:nvSpPr>
        <p:spPr>
          <a:xfrm>
            <a:off x="13761720" y="2423160"/>
            <a:ext cx="3657600" cy="731520"/>
          </a:xfrm>
          <a:prstGeom prst="rect">
            <a:avLst/>
          </a:prstGeom>
          <a:noFill/>
        </p:spPr>
        <p:txBody>
          <a:bodyPr wrap="square" lIns="0" rIns="0" tIns="0" bIns="0" anchor="t">
            <a:spAutoFit/>
          </a:bodyPr>
          <a:lstStyle/>
          <a:p>
            <a:pPr algn="l"/>
            <a:r>
              <a:rPr sz="1500" b="0" i="0">
                <a:solidFill>
                  <a:srgbClr val="9AA4B5"/>
                </a:solidFill>
                <a:latin typeface="Arial"/>
              </a:rPr>
              <a:t>OpenStreetMap Nominatim (reverse geocoding)</a:t>
            </a:r>
          </a:p>
        </p:txBody>
      </p:sp>
      <p:sp>
        <p:nvSpPr>
          <p:cNvPr id="7" name="Oval 6"/>
          <p:cNvSpPr/>
          <p:nvPr/>
        </p:nvSpPr>
        <p:spPr>
          <a:xfrm>
            <a:off x="13304520" y="3429000"/>
            <a:ext cx="256032" cy="256032"/>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761720" y="3337560"/>
            <a:ext cx="3657600" cy="411480"/>
          </a:xfrm>
          <a:prstGeom prst="rect">
            <a:avLst/>
          </a:prstGeom>
          <a:noFill/>
        </p:spPr>
        <p:txBody>
          <a:bodyPr wrap="square" lIns="0" rIns="0" tIns="0" bIns="0" anchor="t">
            <a:spAutoFit/>
          </a:bodyPr>
          <a:lstStyle/>
          <a:p>
            <a:pPr algn="l"/>
            <a:r>
              <a:rPr sz="1900" b="1" i="0">
                <a:solidFill>
                  <a:srgbClr val="E7ECF3"/>
                </a:solidFill>
                <a:latin typeface="Arial"/>
              </a:rPr>
              <a:t>Live weather</a:t>
            </a:r>
          </a:p>
        </p:txBody>
      </p:sp>
      <p:sp>
        <p:nvSpPr>
          <p:cNvPr id="9" name="TextBox 8"/>
          <p:cNvSpPr txBox="1"/>
          <p:nvPr/>
        </p:nvSpPr>
        <p:spPr>
          <a:xfrm>
            <a:off x="13761720" y="3749040"/>
            <a:ext cx="3657600" cy="731520"/>
          </a:xfrm>
          <a:prstGeom prst="rect">
            <a:avLst/>
          </a:prstGeom>
          <a:noFill/>
        </p:spPr>
        <p:txBody>
          <a:bodyPr wrap="square" lIns="0" rIns="0" tIns="0" bIns="0" anchor="t">
            <a:spAutoFit/>
          </a:bodyPr>
          <a:lstStyle/>
          <a:p>
            <a:pPr algn="l"/>
            <a:r>
              <a:rPr sz="1500" b="0" i="0">
                <a:solidFill>
                  <a:srgbClr val="9AA4B5"/>
                </a:solidFill>
                <a:latin typeface="Arial"/>
              </a:rPr>
              <a:t>Open-Meteo, fetched on click</a:t>
            </a:r>
          </a:p>
        </p:txBody>
      </p:sp>
      <p:sp>
        <p:nvSpPr>
          <p:cNvPr id="10" name="Oval 9"/>
          <p:cNvSpPr/>
          <p:nvPr/>
        </p:nvSpPr>
        <p:spPr>
          <a:xfrm>
            <a:off x="13304520" y="4754879"/>
            <a:ext cx="256032" cy="256032"/>
          </a:xfrm>
          <a:prstGeom prst="ellipse">
            <a:avLst/>
          </a:prstGeom>
          <a:solidFill>
            <a:srgbClr val="1D9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761720" y="4663440"/>
            <a:ext cx="3657600" cy="411480"/>
          </a:xfrm>
          <a:prstGeom prst="rect">
            <a:avLst/>
          </a:prstGeom>
          <a:noFill/>
        </p:spPr>
        <p:txBody>
          <a:bodyPr wrap="square" lIns="0" rIns="0" tIns="0" bIns="0" anchor="t">
            <a:spAutoFit/>
          </a:bodyPr>
          <a:lstStyle/>
          <a:p>
            <a:pPr algn="l"/>
            <a:r>
              <a:rPr sz="1900" b="1" i="0">
                <a:solidFill>
                  <a:srgbClr val="E7ECF3"/>
                </a:solidFill>
                <a:latin typeface="Arial"/>
              </a:rPr>
              <a:t>Constraint check</a:t>
            </a:r>
          </a:p>
        </p:txBody>
      </p:sp>
      <p:sp>
        <p:nvSpPr>
          <p:cNvPr id="12" name="TextBox 11"/>
          <p:cNvSpPr txBox="1"/>
          <p:nvPr/>
        </p:nvSpPr>
        <p:spPr>
          <a:xfrm>
            <a:off x="13761720" y="5074920"/>
            <a:ext cx="3657600" cy="731520"/>
          </a:xfrm>
          <a:prstGeom prst="rect">
            <a:avLst/>
          </a:prstGeom>
          <a:noFill/>
        </p:spPr>
        <p:txBody>
          <a:bodyPr wrap="square" lIns="0" rIns="0" tIns="0" bIns="0" anchor="t">
            <a:spAutoFit/>
          </a:bodyPr>
          <a:lstStyle/>
          <a:p>
            <a:pPr algn="l"/>
            <a:r>
              <a:rPr sz="1500" b="0" i="0">
                <a:solidFill>
                  <a:srgbClr val="9AA4B5"/>
                </a:solidFill>
                <a:latin typeface="Arial"/>
              </a:rPr>
              <a:t>Rules engine: ✓ / ✗ for each clause</a:t>
            </a:r>
          </a:p>
        </p:txBody>
      </p:sp>
      <p:sp>
        <p:nvSpPr>
          <p:cNvPr id="13" name="Oval 12"/>
          <p:cNvSpPr/>
          <p:nvPr/>
        </p:nvSpPr>
        <p:spPr>
          <a:xfrm>
            <a:off x="13304520" y="6080759"/>
            <a:ext cx="256032" cy="256032"/>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761720" y="5989320"/>
            <a:ext cx="3657600" cy="411480"/>
          </a:xfrm>
          <a:prstGeom prst="rect">
            <a:avLst/>
          </a:prstGeom>
          <a:noFill/>
        </p:spPr>
        <p:txBody>
          <a:bodyPr wrap="square" lIns="0" rIns="0" tIns="0" bIns="0" anchor="t">
            <a:spAutoFit/>
          </a:bodyPr>
          <a:lstStyle/>
          <a:p>
            <a:pPr algn="l"/>
            <a:r>
              <a:rPr sz="1900" b="1" i="0">
                <a:solidFill>
                  <a:srgbClr val="E7ECF3"/>
                </a:solidFill>
                <a:latin typeface="Arial"/>
              </a:rPr>
              <a:t>Why this score</a:t>
            </a:r>
          </a:p>
        </p:txBody>
      </p:sp>
      <p:sp>
        <p:nvSpPr>
          <p:cNvPr id="15" name="TextBox 14"/>
          <p:cNvSpPr txBox="1"/>
          <p:nvPr/>
        </p:nvSpPr>
        <p:spPr>
          <a:xfrm>
            <a:off x="13761720" y="6400800"/>
            <a:ext cx="3657600" cy="731520"/>
          </a:xfrm>
          <a:prstGeom prst="rect">
            <a:avLst/>
          </a:prstGeom>
          <a:noFill/>
        </p:spPr>
        <p:txBody>
          <a:bodyPr wrap="square" lIns="0" rIns="0" tIns="0" bIns="0" anchor="t">
            <a:spAutoFit/>
          </a:bodyPr>
          <a:lstStyle/>
          <a:p>
            <a:pPr algn="l"/>
            <a:r>
              <a:rPr sz="1500" b="0" i="0">
                <a:solidFill>
                  <a:srgbClr val="9AA4B5"/>
                </a:solidFill>
                <a:latin typeface="Arial"/>
              </a:rPr>
              <a:t>LLM reasoning grounded in the zone’s data</a:t>
            </a:r>
          </a:p>
        </p:txBody>
      </p:sp>
      <p:sp>
        <p:nvSpPr>
          <p:cNvPr id="16" name="Oval 15"/>
          <p:cNvSpPr/>
          <p:nvPr/>
        </p:nvSpPr>
        <p:spPr>
          <a:xfrm>
            <a:off x="13304520" y="7406640"/>
            <a:ext cx="256032" cy="256032"/>
          </a:xfrm>
          <a:prstGeom prst="ellipse">
            <a:avLst/>
          </a:prstGeom>
          <a:solidFill>
            <a:srgbClr val="F4A2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761720" y="7315200"/>
            <a:ext cx="3657600" cy="411480"/>
          </a:xfrm>
          <a:prstGeom prst="rect">
            <a:avLst/>
          </a:prstGeom>
          <a:noFill/>
        </p:spPr>
        <p:txBody>
          <a:bodyPr wrap="square" lIns="0" rIns="0" tIns="0" bIns="0" anchor="t">
            <a:spAutoFit/>
          </a:bodyPr>
          <a:lstStyle/>
          <a:p>
            <a:pPr algn="l"/>
            <a:r>
              <a:rPr sz="1900" b="1" i="0">
                <a:solidFill>
                  <a:srgbClr val="E7ECF3"/>
                </a:solidFill>
                <a:latin typeface="Arial"/>
              </a:rPr>
              <a:t>Notable amenities</a:t>
            </a:r>
          </a:p>
        </p:txBody>
      </p:sp>
      <p:sp>
        <p:nvSpPr>
          <p:cNvPr id="18" name="TextBox 17"/>
          <p:cNvSpPr txBox="1"/>
          <p:nvPr/>
        </p:nvSpPr>
        <p:spPr>
          <a:xfrm>
            <a:off x="13761720" y="7726679"/>
            <a:ext cx="3657600" cy="731520"/>
          </a:xfrm>
          <a:prstGeom prst="rect">
            <a:avLst/>
          </a:prstGeom>
          <a:noFill/>
        </p:spPr>
        <p:txBody>
          <a:bodyPr wrap="square" lIns="0" rIns="0" tIns="0" bIns="0" anchor="t">
            <a:spAutoFit/>
          </a:bodyPr>
          <a:lstStyle/>
          <a:p>
            <a:pPr algn="l"/>
            <a:r>
              <a:rPr sz="1500" b="0" i="0">
                <a:solidFill>
                  <a:srgbClr val="9AA4B5"/>
                </a:solidFill>
                <a:latin typeface="Arial"/>
              </a:rPr>
              <a:t>The zone’s feature table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14400" y="685800"/>
            <a:ext cx="16459200" cy="822960"/>
          </a:xfrm>
        </p:spPr>
        <p:txBody>
          <a:bodyPr lIns="0" rIns="0" tIns="0" bIns="0" anchor="t" wrap="square"/>
          <a:lstStyle/>
          <a:p>
            <a:pPr marL="0" indent="0">
              <a:buNone/>
            </a:pPr>
            <a:r>
              <a:rPr sz="3600" b="1" i="0">
                <a:solidFill>
                  <a:srgbClr val="E7ECF3"/>
                </a:solidFill>
                <a:latin typeface="Arial"/>
              </a:rPr>
              <a:t>No exact match? Rank the near-misses and explain the trade-offs</a:t>
            </a:r>
          </a:p>
        </p:txBody>
      </p:sp>
      <p:pic>
        <p:nvPicPr>
          <p:cNvPr id="3" name="No-match screenshot" descr="No exact match: zones ranked by partial constraint satisfaction with an LLM explanation"/>
          <p:cNvPicPr>
            <a:picLocks noChangeAspect="1"/>
          </p:cNvPicPr>
          <p:nvPr/>
        </p:nvPicPr>
        <p:blipFill>
          <a:blip r:embed="rId2"/>
          <a:stretch>
            <a:fillRect/>
          </a:stretch>
        </p:blipFill>
        <p:spPr>
          <a:xfrm>
            <a:off x="914400" y="1828800"/>
            <a:ext cx="11521440" cy="6483096"/>
          </a:xfrm>
          <a:prstGeom prst="roundRect">
            <a:avLst>
              <a:gd name="adj" fmla="val 2200"/>
            </a:avLst>
          </a:prstGeom>
          <a:ln w="12700">
            <a:solidFill>
              <a:srgbClr val="2A3342"/>
            </a:solidFill>
          </a:ln>
        </p:spPr>
      </p:pic>
      <p:sp>
        <p:nvSpPr>
          <p:cNvPr id="4" name="TextBox 3"/>
          <p:cNvSpPr txBox="1"/>
          <p:nvPr/>
        </p:nvSpPr>
        <p:spPr>
          <a:xfrm>
            <a:off x="12893040" y="1874519"/>
            <a:ext cx="4480560" cy="457200"/>
          </a:xfrm>
          <a:prstGeom prst="rect">
            <a:avLst/>
          </a:prstGeom>
          <a:noFill/>
        </p:spPr>
        <p:txBody>
          <a:bodyPr wrap="square" lIns="0" rIns="0" tIns="0" bIns="0" anchor="t">
            <a:spAutoFit/>
          </a:bodyPr>
          <a:lstStyle/>
          <a:p>
            <a:pPr algn="l"/>
            <a:r>
              <a:rPr sz="2000" b="1" i="0">
                <a:solidFill>
                  <a:srgbClr val="E7ECF3"/>
                </a:solidFill>
                <a:latin typeface="Arial"/>
              </a:rPr>
              <a:t>How near-misses are scored</a:t>
            </a:r>
          </a:p>
        </p:txBody>
      </p:sp>
      <p:sp>
        <p:nvSpPr>
          <p:cNvPr id="5" name="TextBox 4"/>
          <p:cNvSpPr txBox="1"/>
          <p:nvPr/>
        </p:nvSpPr>
        <p:spPr>
          <a:xfrm>
            <a:off x="12893040" y="2514600"/>
            <a:ext cx="1005840" cy="457200"/>
          </a:xfrm>
          <a:prstGeom prst="rect">
            <a:avLst/>
          </a:prstGeom>
          <a:noFill/>
        </p:spPr>
        <p:txBody>
          <a:bodyPr wrap="square" lIns="0" rIns="0" tIns="0" bIns="0" anchor="t">
            <a:spAutoFit/>
          </a:bodyPr>
          <a:lstStyle/>
          <a:p>
            <a:pPr algn="l"/>
            <a:r>
              <a:rPr sz="1800" b="1" i="0">
                <a:solidFill>
                  <a:srgbClr val="7EE2B8"/>
                </a:solidFill>
                <a:latin typeface="Courier New"/>
              </a:rPr>
              <a:t>≥ x</a:t>
            </a:r>
          </a:p>
        </p:txBody>
      </p:sp>
      <p:sp>
        <p:nvSpPr>
          <p:cNvPr id="6" name="TextBox 5"/>
          <p:cNvSpPr txBox="1"/>
          <p:nvPr/>
        </p:nvSpPr>
        <p:spPr>
          <a:xfrm>
            <a:off x="13944600" y="2532888"/>
            <a:ext cx="3474720" cy="457200"/>
          </a:xfrm>
          <a:prstGeom prst="rect">
            <a:avLst/>
          </a:prstGeom>
          <a:noFill/>
        </p:spPr>
        <p:txBody>
          <a:bodyPr wrap="square" lIns="0" rIns="0" tIns="0" bIns="0" anchor="t">
            <a:spAutoFit/>
          </a:bodyPr>
          <a:lstStyle/>
          <a:p>
            <a:pPr algn="l"/>
            <a:r>
              <a:rPr sz="1700" b="0" i="0">
                <a:solidFill>
                  <a:srgbClr val="E7ECF3"/>
                </a:solidFill>
                <a:latin typeface="Arial"/>
              </a:rPr>
              <a:t>actual ÷ x, capped at 100%</a:t>
            </a:r>
          </a:p>
        </p:txBody>
      </p:sp>
      <p:sp>
        <p:nvSpPr>
          <p:cNvPr id="7" name="TextBox 6"/>
          <p:cNvSpPr txBox="1"/>
          <p:nvPr/>
        </p:nvSpPr>
        <p:spPr>
          <a:xfrm>
            <a:off x="12893040" y="3044952"/>
            <a:ext cx="1005840" cy="457200"/>
          </a:xfrm>
          <a:prstGeom prst="rect">
            <a:avLst/>
          </a:prstGeom>
          <a:noFill/>
        </p:spPr>
        <p:txBody>
          <a:bodyPr wrap="square" lIns="0" rIns="0" tIns="0" bIns="0" anchor="t">
            <a:spAutoFit/>
          </a:bodyPr>
          <a:lstStyle/>
          <a:p>
            <a:pPr algn="l"/>
            <a:r>
              <a:rPr sz="1800" b="1" i="0">
                <a:solidFill>
                  <a:srgbClr val="7EE2B8"/>
                </a:solidFill>
                <a:latin typeface="Courier New"/>
              </a:rPr>
              <a:t>≤ x</a:t>
            </a:r>
          </a:p>
        </p:txBody>
      </p:sp>
      <p:sp>
        <p:nvSpPr>
          <p:cNvPr id="8" name="TextBox 7"/>
          <p:cNvSpPr txBox="1"/>
          <p:nvPr/>
        </p:nvSpPr>
        <p:spPr>
          <a:xfrm>
            <a:off x="13944600" y="3063240"/>
            <a:ext cx="3474720" cy="457200"/>
          </a:xfrm>
          <a:prstGeom prst="rect">
            <a:avLst/>
          </a:prstGeom>
          <a:noFill/>
        </p:spPr>
        <p:txBody>
          <a:bodyPr wrap="square" lIns="0" rIns="0" tIns="0" bIns="0" anchor="t">
            <a:spAutoFit/>
          </a:bodyPr>
          <a:lstStyle/>
          <a:p>
            <a:pPr algn="l"/>
            <a:r>
              <a:rPr sz="1700" b="0" i="0">
                <a:solidFill>
                  <a:srgbClr val="E7ECF3"/>
                </a:solidFill>
                <a:latin typeface="Arial"/>
              </a:rPr>
              <a:t>x ÷ actual</a:t>
            </a:r>
          </a:p>
        </p:txBody>
      </p:sp>
      <p:sp>
        <p:nvSpPr>
          <p:cNvPr id="9" name="TextBox 8"/>
          <p:cNvSpPr txBox="1"/>
          <p:nvPr/>
        </p:nvSpPr>
        <p:spPr>
          <a:xfrm>
            <a:off x="12893040" y="3575304"/>
            <a:ext cx="1005840" cy="457200"/>
          </a:xfrm>
          <a:prstGeom prst="rect">
            <a:avLst/>
          </a:prstGeom>
          <a:noFill/>
        </p:spPr>
        <p:txBody>
          <a:bodyPr wrap="square" lIns="0" rIns="0" tIns="0" bIns="0" anchor="t">
            <a:spAutoFit/>
          </a:bodyPr>
          <a:lstStyle/>
          <a:p>
            <a:pPr algn="l"/>
            <a:r>
              <a:rPr sz="1800" b="1" i="0">
                <a:solidFill>
                  <a:srgbClr val="7EE2B8"/>
                </a:solidFill>
                <a:latin typeface="Courier New"/>
              </a:rPr>
              <a:t>AND</a:t>
            </a:r>
          </a:p>
        </p:txBody>
      </p:sp>
      <p:sp>
        <p:nvSpPr>
          <p:cNvPr id="10" name="TextBox 9"/>
          <p:cNvSpPr txBox="1"/>
          <p:nvPr/>
        </p:nvSpPr>
        <p:spPr>
          <a:xfrm>
            <a:off x="13944600" y="3593592"/>
            <a:ext cx="3474720" cy="457200"/>
          </a:xfrm>
          <a:prstGeom prst="rect">
            <a:avLst/>
          </a:prstGeom>
          <a:noFill/>
        </p:spPr>
        <p:txBody>
          <a:bodyPr wrap="square" lIns="0" rIns="0" tIns="0" bIns="0" anchor="t">
            <a:spAutoFit/>
          </a:bodyPr>
          <a:lstStyle/>
          <a:p>
            <a:pPr algn="l"/>
            <a:r>
              <a:rPr sz="1700" b="0" i="0">
                <a:solidFill>
                  <a:srgbClr val="E7ECF3"/>
                </a:solidFill>
                <a:latin typeface="Arial"/>
              </a:rPr>
              <a:t>average of its parts</a:t>
            </a:r>
          </a:p>
        </p:txBody>
      </p:sp>
      <p:sp>
        <p:nvSpPr>
          <p:cNvPr id="11" name="TextBox 10"/>
          <p:cNvSpPr txBox="1"/>
          <p:nvPr/>
        </p:nvSpPr>
        <p:spPr>
          <a:xfrm>
            <a:off x="12893040" y="4105656"/>
            <a:ext cx="1005840" cy="457200"/>
          </a:xfrm>
          <a:prstGeom prst="rect">
            <a:avLst/>
          </a:prstGeom>
          <a:noFill/>
        </p:spPr>
        <p:txBody>
          <a:bodyPr wrap="square" lIns="0" rIns="0" tIns="0" bIns="0" anchor="t">
            <a:spAutoFit/>
          </a:bodyPr>
          <a:lstStyle/>
          <a:p>
            <a:pPr algn="l"/>
            <a:r>
              <a:rPr sz="1800" b="1" i="0">
                <a:solidFill>
                  <a:srgbClr val="7EE2B8"/>
                </a:solidFill>
                <a:latin typeface="Courier New"/>
              </a:rPr>
              <a:t>OR</a:t>
            </a:r>
          </a:p>
        </p:txBody>
      </p:sp>
      <p:sp>
        <p:nvSpPr>
          <p:cNvPr id="12" name="TextBox 11"/>
          <p:cNvSpPr txBox="1"/>
          <p:nvPr/>
        </p:nvSpPr>
        <p:spPr>
          <a:xfrm>
            <a:off x="13944600" y="4123944"/>
            <a:ext cx="3474720" cy="457200"/>
          </a:xfrm>
          <a:prstGeom prst="rect">
            <a:avLst/>
          </a:prstGeom>
          <a:noFill/>
        </p:spPr>
        <p:txBody>
          <a:bodyPr wrap="square" lIns="0" rIns="0" tIns="0" bIns="0" anchor="t">
            <a:spAutoFit/>
          </a:bodyPr>
          <a:lstStyle/>
          <a:p>
            <a:pPr algn="l"/>
            <a:r>
              <a:rPr sz="1700" b="0" i="0">
                <a:solidFill>
                  <a:srgbClr val="E7ECF3"/>
                </a:solidFill>
                <a:latin typeface="Arial"/>
              </a:rPr>
              <a:t>best of its parts</a:t>
            </a:r>
          </a:p>
        </p:txBody>
      </p:sp>
      <p:sp>
        <p:nvSpPr>
          <p:cNvPr id="13" name="TextBox 12"/>
          <p:cNvSpPr txBox="1"/>
          <p:nvPr/>
        </p:nvSpPr>
        <p:spPr>
          <a:xfrm>
            <a:off x="12893040" y="4636008"/>
            <a:ext cx="1005840" cy="457200"/>
          </a:xfrm>
          <a:prstGeom prst="rect">
            <a:avLst/>
          </a:prstGeom>
          <a:noFill/>
        </p:spPr>
        <p:txBody>
          <a:bodyPr wrap="square" lIns="0" rIns="0" tIns="0" bIns="0" anchor="t">
            <a:spAutoFit/>
          </a:bodyPr>
          <a:lstStyle/>
          <a:p>
            <a:pPr algn="l"/>
            <a:r>
              <a:rPr sz="1800" b="1" i="0">
                <a:solidFill>
                  <a:srgbClr val="7EE2B8"/>
                </a:solidFill>
                <a:latin typeface="Courier New"/>
              </a:rPr>
              <a:t>NOT</a:t>
            </a:r>
          </a:p>
        </p:txBody>
      </p:sp>
      <p:sp>
        <p:nvSpPr>
          <p:cNvPr id="14" name="TextBox 13"/>
          <p:cNvSpPr txBox="1"/>
          <p:nvPr/>
        </p:nvSpPr>
        <p:spPr>
          <a:xfrm>
            <a:off x="13944600" y="4654296"/>
            <a:ext cx="3474720" cy="457200"/>
          </a:xfrm>
          <a:prstGeom prst="rect">
            <a:avLst/>
          </a:prstGeom>
          <a:noFill/>
        </p:spPr>
        <p:txBody>
          <a:bodyPr wrap="square" lIns="0" rIns="0" tIns="0" bIns="0" anchor="t">
            <a:spAutoFit/>
          </a:bodyPr>
          <a:lstStyle/>
          <a:p>
            <a:pPr algn="l"/>
            <a:r>
              <a:rPr sz="1700" b="0" i="0">
                <a:solidFill>
                  <a:srgbClr val="E7ECF3"/>
                </a:solidFill>
                <a:latin typeface="Arial"/>
              </a:rPr>
              <a:t>1 − score</a:t>
            </a:r>
          </a:p>
        </p:txBody>
      </p:sp>
      <p:sp>
        <p:nvSpPr>
          <p:cNvPr id="15" name="TextBox 14"/>
          <p:cNvSpPr txBox="1"/>
          <p:nvPr/>
        </p:nvSpPr>
        <p:spPr>
          <a:xfrm>
            <a:off x="12893040" y="5349240"/>
            <a:ext cx="4480560" cy="1463040"/>
          </a:xfrm>
          <a:prstGeom prst="rect">
            <a:avLst/>
          </a:prstGeom>
          <a:noFill/>
        </p:spPr>
        <p:txBody>
          <a:bodyPr wrap="square" lIns="0" rIns="0" tIns="0" bIns="0" anchor="t">
            <a:spAutoFit/>
          </a:bodyPr>
          <a:lstStyle/>
          <a:p>
            <a:pPr algn="l">
              <a:lnSpc>
                <a:spcPct val="108000"/>
              </a:lnSpc>
            </a:pPr>
            <a:r>
              <a:rPr sz="1700" b="0" i="0">
                <a:solidFill>
                  <a:srgbClr val="9AA4B5"/>
                </a:solidFill>
                <a:latin typeface="Arial"/>
              </a:rPr>
              <a:t>This query: no zone meets all 4 constraints. The best zone scores 59% (2 of 4 met).</a:t>
            </a:r>
          </a:p>
        </p:txBody>
      </p:sp>
      <p:sp>
        <p:nvSpPr>
          <p:cNvPr id="16" name="TextBox 15"/>
          <p:cNvSpPr txBox="1"/>
          <p:nvPr/>
        </p:nvSpPr>
        <p:spPr>
          <a:xfrm>
            <a:off x="12893040" y="6720840"/>
            <a:ext cx="4480560" cy="1828800"/>
          </a:xfrm>
          <a:prstGeom prst="rect">
            <a:avLst/>
          </a:prstGeom>
          <a:noFill/>
        </p:spPr>
        <p:txBody>
          <a:bodyPr wrap="square" lIns="0" rIns="0" tIns="0" bIns="0" anchor="t">
            <a:spAutoFit/>
          </a:bodyPr>
          <a:lstStyle/>
          <a:p>
            <a:pPr algn="l">
              <a:lnSpc>
                <a:spcPct val="108000"/>
              </a:lnSpc>
            </a:pPr>
            <a:r>
              <a:rPr sz="1700" b="0" i="0">
                <a:solidFill>
                  <a:srgbClr val="9AA4B5"/>
                </a:solidFill>
                <a:latin typeface="Arial"/>
              </a:rPr>
              <a:t>An LLM explains each ranking in plain English. The ML view compares its order with the formula's (Spearman ρ).</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14400" y="685800"/>
            <a:ext cx="16459200" cy="822960"/>
          </a:xfrm>
        </p:spPr>
        <p:txBody>
          <a:bodyPr lIns="0" rIns="0" tIns="0" bIns="0" anchor="t" wrap="square"/>
          <a:lstStyle/>
          <a:p>
            <a:pPr marL="0" indent="0">
              <a:buNone/>
            </a:pPr>
            <a:r>
              <a:rPr sz="3600" b="1" i="0">
                <a:solidFill>
                  <a:srgbClr val="E7ECF3"/>
                </a:solidFill>
                <a:latin typeface="Arial"/>
              </a:rPr>
              <a:t>Every answer can be audited</a:t>
            </a:r>
          </a:p>
        </p:txBody>
      </p:sp>
      <p:pic>
        <p:nvPicPr>
          <p:cNvPr id="3" name="ML view screenshot" descr="ML view: spec preview, ground truth vs LLM output, precision recall F1"/>
          <p:cNvPicPr>
            <a:picLocks noChangeAspect="1"/>
          </p:cNvPicPr>
          <p:nvPr/>
        </p:nvPicPr>
        <p:blipFill>
          <a:blip r:embed="rId2"/>
          <a:stretch>
            <a:fillRect/>
          </a:stretch>
        </p:blipFill>
        <p:spPr>
          <a:xfrm>
            <a:off x="914400" y="1828800"/>
            <a:ext cx="11521440" cy="6483096"/>
          </a:xfrm>
          <a:prstGeom prst="roundRect">
            <a:avLst>
              <a:gd name="adj" fmla="val 2200"/>
            </a:avLst>
          </a:prstGeom>
          <a:ln w="12700">
            <a:solidFill>
              <a:srgbClr val="2A3342"/>
            </a:solidFill>
          </a:ln>
        </p:spPr>
      </p:pic>
      <p:sp>
        <p:nvSpPr>
          <p:cNvPr id="4" name="TextBox 3"/>
          <p:cNvSpPr txBox="1"/>
          <p:nvPr/>
        </p:nvSpPr>
        <p:spPr>
          <a:xfrm>
            <a:off x="12893040" y="1920240"/>
            <a:ext cx="4480560" cy="457200"/>
          </a:xfrm>
          <a:prstGeom prst="rect">
            <a:avLst/>
          </a:prstGeom>
          <a:noFill/>
        </p:spPr>
        <p:txBody>
          <a:bodyPr wrap="square" lIns="0" rIns="0" tIns="0" bIns="0" anchor="t">
            <a:spAutoFit/>
          </a:bodyPr>
          <a:lstStyle/>
          <a:p>
            <a:pPr algn="l"/>
            <a:r>
              <a:rPr sz="2000" b="1" i="0">
                <a:solidFill>
                  <a:srgbClr val="E7ECF3"/>
                </a:solidFill>
                <a:latin typeface="Arial"/>
              </a:rPr>
              <a:t>Check before running</a:t>
            </a:r>
          </a:p>
        </p:txBody>
      </p:sp>
      <p:sp>
        <p:nvSpPr>
          <p:cNvPr id="5" name="TextBox 4"/>
          <p:cNvSpPr txBox="1"/>
          <p:nvPr/>
        </p:nvSpPr>
        <p:spPr>
          <a:xfrm>
            <a:off x="12893040" y="2423160"/>
            <a:ext cx="4480560" cy="1554480"/>
          </a:xfrm>
          <a:prstGeom prst="rect">
            <a:avLst/>
          </a:prstGeom>
          <a:noFill/>
        </p:spPr>
        <p:txBody>
          <a:bodyPr wrap="square" lIns="0" rIns="0" tIns="0" bIns="0" anchor="t">
            <a:spAutoFit/>
          </a:bodyPr>
          <a:lstStyle/>
          <a:p>
            <a:pPr algn="l">
              <a:lnSpc>
                <a:spcPct val="108000"/>
              </a:lnSpc>
            </a:pPr>
            <a:r>
              <a:rPr sz="1700" b="0" i="0">
                <a:solidFill>
                  <a:srgbClr val="9AA4B5"/>
                </a:solidFill>
                <a:latin typeface="Arial"/>
              </a:rPr>
              <a:t>The spec is validated against the city’s data. Unknown metrics stop the run with a message instead of a guess.</a:t>
            </a:r>
          </a:p>
        </p:txBody>
      </p:sp>
      <p:sp>
        <p:nvSpPr>
          <p:cNvPr id="6" name="TextBox 5"/>
          <p:cNvSpPr txBox="1"/>
          <p:nvPr/>
        </p:nvSpPr>
        <p:spPr>
          <a:xfrm>
            <a:off x="12893040" y="4160520"/>
            <a:ext cx="4480560" cy="457200"/>
          </a:xfrm>
          <a:prstGeom prst="rect">
            <a:avLst/>
          </a:prstGeom>
          <a:noFill/>
        </p:spPr>
        <p:txBody>
          <a:bodyPr wrap="square" lIns="0" rIns="0" tIns="0" bIns="0" anchor="t">
            <a:spAutoFit/>
          </a:bodyPr>
          <a:lstStyle/>
          <a:p>
            <a:pPr algn="l"/>
            <a:r>
              <a:rPr sz="2000" b="1" i="0">
                <a:solidFill>
                  <a:srgbClr val="E7ECF3"/>
                </a:solidFill>
                <a:latin typeface="Arial"/>
              </a:rPr>
              <a:t>Ground truth on every query</a:t>
            </a:r>
          </a:p>
        </p:txBody>
      </p:sp>
      <p:sp>
        <p:nvSpPr>
          <p:cNvPr id="7" name="TextBox 6"/>
          <p:cNvSpPr txBox="1"/>
          <p:nvPr/>
        </p:nvSpPr>
        <p:spPr>
          <a:xfrm>
            <a:off x="12893040" y="4663440"/>
            <a:ext cx="4480560" cy="1554480"/>
          </a:xfrm>
          <a:prstGeom prst="rect">
            <a:avLst/>
          </a:prstGeom>
          <a:noFill/>
        </p:spPr>
        <p:txBody>
          <a:bodyPr wrap="square" lIns="0" rIns="0" tIns="0" bIns="0" anchor="t">
            <a:spAutoFit/>
          </a:bodyPr>
          <a:lstStyle/>
          <a:p>
            <a:pPr algn="l">
              <a:lnSpc>
                <a:spcPct val="108000"/>
              </a:lnSpc>
            </a:pPr>
            <a:r>
              <a:rPr sz="1700" b="0" i="0">
                <a:solidFill>
                  <a:srgbClr val="9AA4B5"/>
                </a:solidFill>
                <a:latin typeface="Arial"/>
              </a:rPr>
              <a:t>The LLM’s zones are compared with the rules engine: precision, recall and F1 (all 100% here).</a:t>
            </a:r>
          </a:p>
        </p:txBody>
      </p:sp>
      <p:sp>
        <p:nvSpPr>
          <p:cNvPr id="8" name="TextBox 7"/>
          <p:cNvSpPr txBox="1"/>
          <p:nvPr/>
        </p:nvSpPr>
        <p:spPr>
          <a:xfrm>
            <a:off x="12893040" y="6400800"/>
            <a:ext cx="4480560" cy="457200"/>
          </a:xfrm>
          <a:prstGeom prst="rect">
            <a:avLst/>
          </a:prstGeom>
          <a:noFill/>
        </p:spPr>
        <p:txBody>
          <a:bodyPr wrap="square" lIns="0" rIns="0" tIns="0" bIns="0" anchor="t">
            <a:spAutoFit/>
          </a:bodyPr>
          <a:lstStyle/>
          <a:p>
            <a:pPr algn="l"/>
            <a:r>
              <a:rPr sz="2000" b="1" i="0">
                <a:solidFill>
                  <a:srgbClr val="E7ECF3"/>
                </a:solidFill>
                <a:latin typeface="Arial"/>
              </a:rPr>
              <a:t>Transparency on demand</a:t>
            </a:r>
          </a:p>
        </p:txBody>
      </p:sp>
      <p:sp>
        <p:nvSpPr>
          <p:cNvPr id="9" name="TextBox 8"/>
          <p:cNvSpPr txBox="1"/>
          <p:nvPr/>
        </p:nvSpPr>
        <p:spPr>
          <a:xfrm>
            <a:off x="12893040" y="6903720"/>
            <a:ext cx="4480560" cy="1554480"/>
          </a:xfrm>
          <a:prstGeom prst="rect">
            <a:avLst/>
          </a:prstGeom>
          <a:noFill/>
        </p:spPr>
        <p:txBody>
          <a:bodyPr wrap="square" lIns="0" rIns="0" tIns="0" bIns="0" anchor="t">
            <a:spAutoFit/>
          </a:bodyPr>
          <a:lstStyle/>
          <a:p>
            <a:pPr algn="l">
              <a:lnSpc>
                <a:spcPct val="108000"/>
              </a:lnSpc>
            </a:pPr>
            <a:r>
              <a:rPr sz="1700" b="0" i="0">
                <a:solidFill>
                  <a:srgbClr val="9AA4B5"/>
                </a:solidFill>
                <a:latin typeface="Arial"/>
              </a:rPr>
              <a:t>Parsed spec, generated code and agent traces sit behind one toggle.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14400" y="685800"/>
            <a:ext cx="16459200" cy="822960"/>
          </a:xfrm>
        </p:spPr>
        <p:txBody>
          <a:bodyPr lIns="0" rIns="0" tIns="0" bIns="0" anchor="t" wrap="square"/>
          <a:lstStyle/>
          <a:p>
            <a:pPr marL="0" indent="0">
              <a:buNone/>
            </a:pPr>
            <a:r>
              <a:rPr sz="3600" b="1" i="0">
                <a:solidFill>
                  <a:srgbClr val="0D1117"/>
                </a:solidFill>
                <a:latin typeface="Arial"/>
              </a:rPr>
              <a:t>One reasoning system, different levels of detail</a:t>
            </a:r>
          </a:p>
        </p:txBody>
      </p:sp>
      <p:sp>
        <p:nvSpPr>
          <p:cNvPr id="3" name="TextBox 2"/>
          <p:cNvSpPr txBox="1"/>
          <p:nvPr/>
        </p:nvSpPr>
        <p:spPr>
          <a:xfrm>
            <a:off x="914400" y="1536192"/>
            <a:ext cx="16459200" cy="685800"/>
          </a:xfrm>
          <a:prstGeom prst="rect">
            <a:avLst/>
          </a:prstGeom>
          <a:noFill/>
        </p:spPr>
        <p:txBody>
          <a:bodyPr wrap="square" lIns="0" rIns="0" tIns="0" bIns="0" anchor="t">
            <a:spAutoFit/>
          </a:bodyPr>
          <a:lstStyle/>
          <a:p>
            <a:pPr algn="l"/>
            <a:r>
              <a:rPr sz="2000" b="0" i="0">
                <a:solidFill>
                  <a:srgbClr val="5B6470"/>
                </a:solidFill>
                <a:latin typeface="Arial"/>
              </a:rPr>
              <a:t>The same engine serves different people. What changes is how much of it they see.</a:t>
            </a:r>
          </a:p>
        </p:txBody>
      </p:sp>
      <p:sp>
        <p:nvSpPr>
          <p:cNvPr id="4" name="Everyday Urban Explorer"/>
          <p:cNvSpPr/>
          <p:nvPr/>
        </p:nvSpPr>
        <p:spPr>
          <a:xfrm>
            <a:off x="914400" y="2331720"/>
            <a:ext cx="5239512" cy="16002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88720" y="2487168"/>
            <a:ext cx="4663440" cy="411480"/>
          </a:xfrm>
          <a:prstGeom prst="rect">
            <a:avLst/>
          </a:prstGeom>
          <a:noFill/>
        </p:spPr>
        <p:txBody>
          <a:bodyPr wrap="square" lIns="0" rIns="0" tIns="0" bIns="0" anchor="t">
            <a:spAutoFit/>
          </a:bodyPr>
          <a:lstStyle/>
          <a:p>
            <a:pPr algn="l"/>
            <a:r>
              <a:rPr sz="1900" b="1" i="0">
                <a:solidFill>
                  <a:srgbClr val="0D1117"/>
                </a:solidFill>
                <a:latin typeface="Arial"/>
              </a:rPr>
              <a:t>Everyday Urban Explorer</a:t>
            </a:r>
          </a:p>
        </p:txBody>
      </p:sp>
      <p:sp>
        <p:nvSpPr>
          <p:cNvPr id="6" name="TextBox 5"/>
          <p:cNvSpPr txBox="1"/>
          <p:nvPr/>
        </p:nvSpPr>
        <p:spPr>
          <a:xfrm>
            <a:off x="1188720" y="2926080"/>
            <a:ext cx="4663440" cy="365760"/>
          </a:xfrm>
          <a:prstGeom prst="rect">
            <a:avLst/>
          </a:prstGeom>
          <a:noFill/>
        </p:spPr>
        <p:txBody>
          <a:bodyPr wrap="square" lIns="0" rIns="0" tIns="0" bIns="0" anchor="t">
            <a:spAutoFit/>
          </a:bodyPr>
          <a:lstStyle/>
          <a:p>
            <a:pPr algn="l"/>
            <a:r>
              <a:rPr sz="1500" b="0" i="0">
                <a:solidFill>
                  <a:srgbClr val="5B6470"/>
                </a:solidFill>
                <a:latin typeface="Arial"/>
              </a:rPr>
              <a:t>Guided, plain-language results</a:t>
            </a:r>
          </a:p>
        </p:txBody>
      </p:sp>
      <p:sp>
        <p:nvSpPr>
          <p:cNvPr id="7" name="Rounded Rectangle 6"/>
          <p:cNvSpPr/>
          <p:nvPr/>
        </p:nvSpPr>
        <p:spPr>
          <a:xfrm>
            <a:off x="1188720" y="3364992"/>
            <a:ext cx="1920240" cy="384048"/>
          </a:xfrm>
          <a:prstGeom prst="roundRect">
            <a:avLst>
              <a:gd name="adj" fmla="val 50000"/>
            </a:avLst>
          </a:prstGeom>
          <a:solidFill>
            <a:srgbClr val="FFFFFF"/>
          </a:solidFill>
          <a:ln w="15875">
            <a:solidFill>
              <a:srgbClr val="1D9A6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29260" bIns="29260" wrap="square"/>
          <a:lstStyle/>
          <a:p>
            <a:pPr algn="ctr"/>
            <a:r>
              <a:rPr sz="1300" b="1" i="0">
                <a:solidFill>
                  <a:srgbClr val="0F7A55"/>
                </a:solidFill>
                <a:latin typeface="Arial"/>
              </a:rPr>
              <a:t>Live: Consumer view</a:t>
            </a:r>
          </a:p>
        </p:txBody>
      </p:sp>
      <p:sp>
        <p:nvSpPr>
          <p:cNvPr id="8" name="Urban Professional"/>
          <p:cNvSpPr/>
          <p:nvPr/>
        </p:nvSpPr>
        <p:spPr>
          <a:xfrm>
            <a:off x="6524244" y="2331720"/>
            <a:ext cx="5239512" cy="16002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798564" y="2487168"/>
            <a:ext cx="4663440" cy="411480"/>
          </a:xfrm>
          <a:prstGeom prst="rect">
            <a:avLst/>
          </a:prstGeom>
          <a:noFill/>
        </p:spPr>
        <p:txBody>
          <a:bodyPr wrap="square" lIns="0" rIns="0" tIns="0" bIns="0" anchor="t">
            <a:spAutoFit/>
          </a:bodyPr>
          <a:lstStyle/>
          <a:p>
            <a:pPr algn="l"/>
            <a:r>
              <a:rPr sz="1900" b="1" i="0">
                <a:solidFill>
                  <a:srgbClr val="0D1117"/>
                </a:solidFill>
                <a:latin typeface="Arial"/>
              </a:rPr>
              <a:t>Urban Professional</a:t>
            </a:r>
          </a:p>
        </p:txBody>
      </p:sp>
      <p:sp>
        <p:nvSpPr>
          <p:cNvPr id="10" name="TextBox 9"/>
          <p:cNvSpPr txBox="1"/>
          <p:nvPr/>
        </p:nvSpPr>
        <p:spPr>
          <a:xfrm>
            <a:off x="6798564" y="2926080"/>
            <a:ext cx="4663440" cy="365760"/>
          </a:xfrm>
          <a:prstGeom prst="rect">
            <a:avLst/>
          </a:prstGeom>
          <a:noFill/>
        </p:spPr>
        <p:txBody>
          <a:bodyPr wrap="square" lIns="0" rIns="0" tIns="0" bIns="0" anchor="t">
            <a:spAutoFit/>
          </a:bodyPr>
          <a:lstStyle/>
          <a:p>
            <a:pPr algn="l"/>
            <a:r>
              <a:rPr sz="1500" b="0" i="0">
                <a:solidFill>
                  <a:srgbClr val="5B6470"/>
                </a:solidFill>
                <a:latin typeface="Arial"/>
              </a:rPr>
              <a:t>Editable criteria, data layers, export</a:t>
            </a:r>
          </a:p>
        </p:txBody>
      </p:sp>
      <p:sp>
        <p:nvSpPr>
          <p:cNvPr id="11" name="Rounded Rectangle 10"/>
          <p:cNvSpPr/>
          <p:nvPr/>
        </p:nvSpPr>
        <p:spPr>
          <a:xfrm>
            <a:off x="6798564" y="3364992"/>
            <a:ext cx="1920240" cy="384048"/>
          </a:xfrm>
          <a:prstGeom prst="roundRect">
            <a:avLst>
              <a:gd name="adj" fmla="val 50000"/>
            </a:avLst>
          </a:prstGeom>
          <a:solidFill>
            <a:srgbClr val="FFFFFF"/>
          </a:solidFill>
          <a:ln w="15875">
            <a:solidFill>
              <a:srgbClr val="F4A259"/>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29260" bIns="29260" wrap="square"/>
          <a:lstStyle/>
          <a:p>
            <a:pPr algn="ctr"/>
            <a:r>
              <a:rPr sz="1300" b="1" i="0">
                <a:solidFill>
                  <a:srgbClr val="B8661C"/>
                </a:solidFill>
                <a:latin typeface="Arial"/>
              </a:rPr>
              <a:t>Designed</a:t>
            </a:r>
          </a:p>
        </p:txBody>
      </p:sp>
      <p:sp>
        <p:nvSpPr>
          <p:cNvPr id="12" name="Technical Specialist"/>
          <p:cNvSpPr/>
          <p:nvPr/>
        </p:nvSpPr>
        <p:spPr>
          <a:xfrm>
            <a:off x="12134088" y="2331720"/>
            <a:ext cx="5239512" cy="16002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408408" y="2487168"/>
            <a:ext cx="4663440" cy="411480"/>
          </a:xfrm>
          <a:prstGeom prst="rect">
            <a:avLst/>
          </a:prstGeom>
          <a:noFill/>
        </p:spPr>
        <p:txBody>
          <a:bodyPr wrap="square" lIns="0" rIns="0" tIns="0" bIns="0" anchor="t">
            <a:spAutoFit/>
          </a:bodyPr>
          <a:lstStyle/>
          <a:p>
            <a:pPr algn="l"/>
            <a:r>
              <a:rPr sz="1900" b="1" i="0">
                <a:solidFill>
                  <a:srgbClr val="0D1117"/>
                </a:solidFill>
                <a:latin typeface="Arial"/>
              </a:rPr>
              <a:t>Technical Specialist</a:t>
            </a:r>
          </a:p>
        </p:txBody>
      </p:sp>
      <p:sp>
        <p:nvSpPr>
          <p:cNvPr id="14" name="TextBox 13"/>
          <p:cNvSpPr txBox="1"/>
          <p:nvPr/>
        </p:nvSpPr>
        <p:spPr>
          <a:xfrm>
            <a:off x="12408408" y="2926080"/>
            <a:ext cx="4663440" cy="365760"/>
          </a:xfrm>
          <a:prstGeom prst="rect">
            <a:avLst/>
          </a:prstGeom>
          <a:noFill/>
        </p:spPr>
        <p:txBody>
          <a:bodyPr wrap="square" lIns="0" rIns="0" tIns="0" bIns="0" anchor="t">
            <a:spAutoFit/>
          </a:bodyPr>
          <a:lstStyle/>
          <a:p>
            <a:pPr algn="l"/>
            <a:r>
              <a:rPr sz="1500" b="0" i="0">
                <a:solidFill>
                  <a:srgbClr val="5B6470"/>
                </a:solidFill>
                <a:latin typeface="Arial"/>
              </a:rPr>
              <a:t>Spec, code, traces and metrics</a:t>
            </a:r>
          </a:p>
        </p:txBody>
      </p:sp>
      <p:sp>
        <p:nvSpPr>
          <p:cNvPr id="15" name="Rounded Rectangle 14"/>
          <p:cNvSpPr/>
          <p:nvPr/>
        </p:nvSpPr>
        <p:spPr>
          <a:xfrm>
            <a:off x="12408408" y="3364992"/>
            <a:ext cx="1920240" cy="384048"/>
          </a:xfrm>
          <a:prstGeom prst="roundRect">
            <a:avLst>
              <a:gd name="adj" fmla="val 50000"/>
            </a:avLst>
          </a:prstGeom>
          <a:solidFill>
            <a:srgbClr val="FFFFFF"/>
          </a:solidFill>
          <a:ln w="15875">
            <a:solidFill>
              <a:srgbClr val="1D9A6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29260" bIns="29260" wrap="square"/>
          <a:lstStyle/>
          <a:p>
            <a:pPr algn="ctr"/>
            <a:r>
              <a:rPr sz="1300" b="1" i="0">
                <a:solidFill>
                  <a:srgbClr val="0F7A55"/>
                </a:solidFill>
                <a:latin typeface="Arial"/>
              </a:rPr>
              <a:t>Live: ML view</a:t>
            </a:r>
          </a:p>
        </p:txBody>
      </p:sp>
      <p:cxnSp>
        <p:nvCxnSpPr>
          <p:cNvPr id="16" name="Connector 15"/>
          <p:cNvCxnSpPr/>
          <p:nvPr/>
        </p:nvCxnSpPr>
        <p:spPr>
          <a:xfrm>
            <a:off x="914400" y="4224528"/>
            <a:ext cx="16459200" cy="0"/>
          </a:xfrm>
          <a:prstGeom prst="line">
            <a:avLst/>
          </a:prstGeom>
          <a:ln w="19050">
            <a:solidFill>
              <a:srgbClr val="A3ACB9"/>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680960" y="4041648"/>
            <a:ext cx="2926080" cy="38404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29260" bIns="29260" wrap="square"/>
          <a:lstStyle/>
          <a:p>
            <a:pPr algn="ctr"/>
            <a:r>
              <a:rPr sz="1400" b="1" i="0">
                <a:solidFill>
                  <a:srgbClr val="5B6470"/>
                </a:solidFill>
                <a:latin typeface="Arial"/>
              </a:rPr>
              <a:t>Progressive disclosure</a:t>
            </a:r>
          </a:p>
        </p:txBody>
      </p:sp>
      <p:pic>
        <p:nvPicPr>
          <p:cNvPr id="18" name="Urban Explorer design" descr="Urban Explorer: needs in everyday words, recognisable places, simple reasons"/>
          <p:cNvPicPr>
            <a:picLocks noChangeAspect="1"/>
          </p:cNvPicPr>
          <p:nvPr/>
        </p:nvPicPr>
        <p:blipFill>
          <a:blip r:embed="rId2"/>
          <a:stretch>
            <a:fillRect/>
          </a:stretch>
        </p:blipFill>
        <p:spPr>
          <a:xfrm>
            <a:off x="2176272" y="4572000"/>
            <a:ext cx="6693408" cy="4251960"/>
          </a:xfrm>
          <a:prstGeom prst="roundRect">
            <a:avLst>
              <a:gd name="adj" fmla="val 2200"/>
            </a:avLst>
          </a:prstGeom>
          <a:ln w="12700">
            <a:solidFill>
              <a:srgbClr val="D9DEE7"/>
            </a:solidFill>
          </a:ln>
        </p:spPr>
      </p:pic>
      <p:sp>
        <p:nvSpPr>
          <p:cNvPr id="19" name="TextBox 18"/>
          <p:cNvSpPr txBox="1"/>
          <p:nvPr/>
        </p:nvSpPr>
        <p:spPr>
          <a:xfrm>
            <a:off x="2176272" y="8915400"/>
            <a:ext cx="6693408" cy="411480"/>
          </a:xfrm>
          <a:prstGeom prst="rect">
            <a:avLst/>
          </a:prstGeom>
          <a:noFill/>
        </p:spPr>
        <p:txBody>
          <a:bodyPr wrap="square" lIns="0" rIns="0" tIns="0" bIns="0" anchor="t">
            <a:spAutoFit/>
          </a:bodyPr>
          <a:lstStyle/>
          <a:p>
            <a:pPr algn="l"/>
            <a:r>
              <a:rPr sz="1500" b="0" i="0">
                <a:solidFill>
                  <a:srgbClr val="5B6470"/>
                </a:solidFill>
                <a:latin typeface="Arial"/>
              </a:rPr>
              <a:t>Urban Explorer: needs in everyday words, recognisable places, simple reasons</a:t>
            </a:r>
          </a:p>
        </p:txBody>
      </p:sp>
      <p:pic>
        <p:nvPicPr>
          <p:cNvPr id="20" name="Urban Professional design" descr="Urban Professional: interpreted criteria, data used, ranked results"/>
          <p:cNvPicPr>
            <a:picLocks noChangeAspect="1"/>
          </p:cNvPicPr>
          <p:nvPr/>
        </p:nvPicPr>
        <p:blipFill>
          <a:blip r:embed="rId3"/>
          <a:stretch>
            <a:fillRect/>
          </a:stretch>
        </p:blipFill>
        <p:spPr>
          <a:xfrm>
            <a:off x="9418320" y="4572000"/>
            <a:ext cx="6693408" cy="4251960"/>
          </a:xfrm>
          <a:prstGeom prst="roundRect">
            <a:avLst>
              <a:gd name="adj" fmla="val 2200"/>
            </a:avLst>
          </a:prstGeom>
          <a:ln w="12700">
            <a:solidFill>
              <a:srgbClr val="D9DEE7"/>
            </a:solidFill>
          </a:ln>
        </p:spPr>
      </p:pic>
      <p:sp>
        <p:nvSpPr>
          <p:cNvPr id="21" name="TextBox 20"/>
          <p:cNvSpPr txBox="1"/>
          <p:nvPr/>
        </p:nvSpPr>
        <p:spPr>
          <a:xfrm>
            <a:off x="9418320" y="8915400"/>
            <a:ext cx="6693408" cy="411480"/>
          </a:xfrm>
          <a:prstGeom prst="rect">
            <a:avLst/>
          </a:prstGeom>
          <a:noFill/>
        </p:spPr>
        <p:txBody>
          <a:bodyPr wrap="square" lIns="0" rIns="0" tIns="0" bIns="0" anchor="t">
            <a:spAutoFit/>
          </a:bodyPr>
          <a:lstStyle/>
          <a:p>
            <a:pPr algn="l"/>
            <a:r>
              <a:rPr sz="1500" b="0" i="0">
                <a:solidFill>
                  <a:srgbClr val="5B6470"/>
                </a:solidFill>
                <a:latin typeface="Arial"/>
              </a:rPr>
              <a:t>Urban Professional: interpreted criteria, data used, ranked results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14400" y="685800"/>
            <a:ext cx="16459200" cy="822960"/>
          </a:xfrm>
        </p:spPr>
        <p:txBody>
          <a:bodyPr lIns="0" rIns="0" tIns="0" bIns="0" anchor="t" wrap="square"/>
          <a:lstStyle/>
          <a:p>
            <a:pPr marL="0" indent="0">
              <a:buNone/>
            </a:pPr>
            <a:r>
              <a:rPr sz="3600" b="1" i="0">
                <a:solidFill>
                  <a:srgbClr val="0D1117"/>
                </a:solidFill>
                <a:latin typeface="Arial"/>
              </a:rPr>
              <a:t>What's next</a:t>
            </a:r>
          </a:p>
        </p:txBody>
      </p:sp>
      <p:sp>
        <p:nvSpPr>
          <p:cNvPr id="3" name="TextBox 2"/>
          <p:cNvSpPr txBox="1"/>
          <p:nvPr/>
        </p:nvSpPr>
        <p:spPr>
          <a:xfrm>
            <a:off x="914400" y="1536192"/>
            <a:ext cx="16459200" cy="685800"/>
          </a:xfrm>
          <a:prstGeom prst="rect">
            <a:avLst/>
          </a:prstGeom>
          <a:noFill/>
        </p:spPr>
        <p:txBody>
          <a:bodyPr wrap="square" lIns="0" rIns="0" tIns="0" bIns="0" anchor="t">
            <a:spAutoFit/>
          </a:bodyPr>
          <a:lstStyle/>
          <a:p>
            <a:pPr algn="l"/>
            <a:r>
              <a:rPr sz="2000" b="0" i="0">
                <a:solidFill>
                  <a:srgbClr val="5B6470"/>
                </a:solidFill>
                <a:latin typeface="Arial"/>
              </a:rPr>
              <a:t>Built on what works today; focused on richer context and trust.</a:t>
            </a:r>
          </a:p>
        </p:txBody>
      </p:sp>
      <p:sp>
        <p:nvSpPr>
          <p:cNvPr id="4" name="Shipped"/>
          <p:cNvSpPr/>
          <p:nvPr/>
        </p:nvSpPr>
        <p:spPr>
          <a:xfrm>
            <a:off x="914400" y="2423160"/>
            <a:ext cx="5239512" cy="576072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234440" y="2715768"/>
            <a:ext cx="310896" cy="310896"/>
          </a:xfrm>
          <a:prstGeom prst="ellipse">
            <a:avLst/>
          </a:prstGeom>
          <a:solidFill>
            <a:srgbClr val="1D9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691640" y="2633472"/>
            <a:ext cx="4114800" cy="457200"/>
          </a:xfrm>
          <a:prstGeom prst="rect">
            <a:avLst/>
          </a:prstGeom>
          <a:noFill/>
        </p:spPr>
        <p:txBody>
          <a:bodyPr wrap="square" lIns="0" rIns="0" tIns="0" bIns="0" anchor="t">
            <a:spAutoFit/>
          </a:bodyPr>
          <a:lstStyle/>
          <a:p>
            <a:pPr algn="l"/>
            <a:r>
              <a:rPr sz="2400" b="1" i="0">
                <a:solidFill>
                  <a:srgbClr val="0D1117"/>
                </a:solidFill>
                <a:latin typeface="Arial"/>
              </a:rPr>
              <a:t>Shipped</a:t>
            </a:r>
          </a:p>
        </p:txBody>
      </p:sp>
      <p:sp>
        <p:nvSpPr>
          <p:cNvPr id="7" name="TextBox 6"/>
          <p:cNvSpPr txBox="1"/>
          <p:nvPr/>
        </p:nvSpPr>
        <p:spPr>
          <a:xfrm>
            <a:off x="1234440" y="3429000"/>
            <a:ext cx="4617720" cy="4572000"/>
          </a:xfrm>
          <a:prstGeom prst="rect">
            <a:avLst/>
          </a:prstGeom>
          <a:noFill/>
        </p:spPr>
        <p:txBody>
          <a:bodyPr wrap="square" lIns="0" rIns="0" tIns="0" bIns="0" anchor="t">
            <a:spAutoFit/>
          </a:bodyPr>
          <a:lstStyle/>
          <a:p>
            <a:pPr algn="l" marL="292608" indent="-292608">
              <a:lnSpc>
                <a:spcPct val="105000"/>
              </a:lnSpc>
              <a:spcAft>
                <a:spcPts val="1200"/>
              </a:spcAft>
              <a:buClr>
                <a:srgbClr val="1D9A6C"/>
              </a:buClr>
              <a:buFont typeface="Arial"/>
              <a:buChar char="•"/>
            </a:pPr>
            <a:r>
              <a:rPr sz="1900" b="0" i="0">
                <a:solidFill>
                  <a:srgbClr val="0D1117"/>
                </a:solidFill>
                <a:latin typeface="Arial"/>
              </a:rPr>
              <a:t>Two-city benchmark: 382 queries, three difficulty tiers</a:t>
            </a:r>
          </a:p>
          <a:p>
            <a:pPr algn="l" marL="292608" indent="-292608">
              <a:lnSpc>
                <a:spcPct val="105000"/>
              </a:lnSpc>
              <a:spcAft>
                <a:spcPts val="1200"/>
              </a:spcAft>
              <a:buClr>
                <a:srgbClr val="1D9A6C"/>
              </a:buClr>
              <a:buFont typeface="Arial"/>
              <a:buChar char="•"/>
            </a:pPr>
            <a:r>
              <a:rPr sz="1900" b="0" i="0">
                <a:solidFill>
                  <a:srgbClr val="0D1117"/>
                </a:solidFill>
                <a:latin typeface="Arial"/>
              </a:rPr>
              <a:t>Plain English to validated spec to exact zones, with safeguards</a:t>
            </a:r>
          </a:p>
          <a:p>
            <a:pPr algn="l" marL="292608" indent="-292608">
              <a:lnSpc>
                <a:spcPct val="105000"/>
              </a:lnSpc>
              <a:spcAft>
                <a:spcPts val="1200"/>
              </a:spcAft>
              <a:buClr>
                <a:srgbClr val="1D9A6C"/>
              </a:buClr>
              <a:buFont typeface="Arial"/>
              <a:buChar char="•"/>
            </a:pPr>
            <a:r>
              <a:rPr sz="1900" b="0" i="0">
                <a:solidFill>
                  <a:srgbClr val="0D1117"/>
                </a:solidFill>
                <a:latin typeface="Arial"/>
              </a:rPr>
              <a:t>Near-miss scoring and persona-aware ranking with reasons</a:t>
            </a:r>
          </a:p>
          <a:p>
            <a:pPr algn="l" marL="292608" indent="-292608">
              <a:lnSpc>
                <a:spcPct val="105000"/>
              </a:lnSpc>
              <a:spcAft>
                <a:spcPts val="1200"/>
              </a:spcAft>
              <a:buClr>
                <a:srgbClr val="1D9A6C"/>
              </a:buClr>
              <a:buFont typeface="Arial"/>
              <a:buChar char="•"/>
            </a:pPr>
            <a:r>
              <a:rPr sz="1900" b="0" i="0">
                <a:solidFill>
                  <a:srgbClr val="0D1117"/>
                </a:solidFill>
                <a:latin typeface="Arial"/>
              </a:rPr>
              <a:t>3D map, zone card with live context, Consumer / ML views</a:t>
            </a:r>
          </a:p>
          <a:p>
            <a:pPr algn="l" marL="292608" indent="-292608">
              <a:lnSpc>
                <a:spcPct val="105000"/>
              </a:lnSpc>
              <a:spcAft>
                <a:spcPts val="1200"/>
              </a:spcAft>
              <a:buClr>
                <a:srgbClr val="1D9A6C"/>
              </a:buClr>
              <a:buFont typeface="Arial"/>
              <a:buChar char="•"/>
            </a:pPr>
            <a:r>
              <a:rPr sz="1900" b="0" i="0">
                <a:solidFill>
                  <a:srgbClr val="0D1117"/>
                </a:solidFill>
                <a:latin typeface="Arial"/>
              </a:rPr>
              <a:t>Deployment-ready web apps for both cities</a:t>
            </a:r>
          </a:p>
        </p:txBody>
      </p:sp>
      <p:sp>
        <p:nvSpPr>
          <p:cNvPr id="8" name="Next"/>
          <p:cNvSpPr/>
          <p:nvPr/>
        </p:nvSpPr>
        <p:spPr>
          <a:xfrm>
            <a:off x="6524244" y="2423160"/>
            <a:ext cx="5239512" cy="576072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844283" y="2715768"/>
            <a:ext cx="310896" cy="310896"/>
          </a:xfrm>
          <a:prstGeom prst="ellipse">
            <a:avLst/>
          </a:prstGeom>
          <a:solidFill>
            <a:srgbClr val="2B6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01483" y="2633472"/>
            <a:ext cx="4114800" cy="457200"/>
          </a:xfrm>
          <a:prstGeom prst="rect">
            <a:avLst/>
          </a:prstGeom>
          <a:noFill/>
        </p:spPr>
        <p:txBody>
          <a:bodyPr wrap="square" lIns="0" rIns="0" tIns="0" bIns="0" anchor="t">
            <a:spAutoFit/>
          </a:bodyPr>
          <a:lstStyle/>
          <a:p>
            <a:pPr algn="l"/>
            <a:r>
              <a:rPr sz="2400" b="1" i="0">
                <a:solidFill>
                  <a:srgbClr val="0D1117"/>
                </a:solidFill>
                <a:latin typeface="Arial"/>
              </a:rPr>
              <a:t>Next</a:t>
            </a:r>
          </a:p>
        </p:txBody>
      </p:sp>
      <p:sp>
        <p:nvSpPr>
          <p:cNvPr id="11" name="TextBox 10"/>
          <p:cNvSpPr txBox="1"/>
          <p:nvPr/>
        </p:nvSpPr>
        <p:spPr>
          <a:xfrm>
            <a:off x="6844283" y="3429000"/>
            <a:ext cx="4617720" cy="4572000"/>
          </a:xfrm>
          <a:prstGeom prst="rect">
            <a:avLst/>
          </a:prstGeom>
          <a:noFill/>
        </p:spPr>
        <p:txBody>
          <a:bodyPr wrap="square" lIns="0" rIns="0" tIns="0" bIns="0" anchor="t">
            <a:spAutoFit/>
          </a:bodyPr>
          <a:lstStyle/>
          <a:p>
            <a:pPr algn="l" marL="292608" indent="-292608">
              <a:lnSpc>
                <a:spcPct val="105000"/>
              </a:lnSpc>
              <a:spcAft>
                <a:spcPts val="1200"/>
              </a:spcAft>
              <a:buClr>
                <a:srgbClr val="2B6DF3"/>
              </a:buClr>
              <a:buFont typeface="Arial"/>
              <a:buChar char="•"/>
            </a:pPr>
            <a:r>
              <a:rPr sz="1900" b="0" i="0">
                <a:solidFill>
                  <a:srgbClr val="0D1117"/>
                </a:solidFill>
                <a:latin typeface="Arial"/>
              </a:rPr>
              <a:t>Progressive relaxation: soften thresholds automatically (e.g. 200 m → 500 m) when nothing matches</a:t>
            </a:r>
          </a:p>
          <a:p>
            <a:pPr algn="l" marL="292608" indent="-292608">
              <a:lnSpc>
                <a:spcPct val="105000"/>
              </a:lnSpc>
              <a:spcAft>
                <a:spcPts val="1200"/>
              </a:spcAft>
              <a:buClr>
                <a:srgbClr val="2B6DF3"/>
              </a:buClr>
              <a:buFont typeface="Arial"/>
              <a:buChar char="•"/>
            </a:pPr>
            <a:r>
              <a:rPr sz="1900" b="0" i="0">
                <a:solidFill>
                  <a:srgbClr val="0D1117"/>
                </a:solidFill>
                <a:latin typeface="Arial"/>
              </a:rPr>
              <a:t>Benchmark the ranking layer against the formula (Spearman ρ, NDCG)</a:t>
            </a:r>
          </a:p>
          <a:p>
            <a:pPr algn="l" marL="292608" indent="-292608">
              <a:lnSpc>
                <a:spcPct val="105000"/>
              </a:lnSpc>
              <a:spcAft>
                <a:spcPts val="1200"/>
              </a:spcAft>
              <a:buClr>
                <a:srgbClr val="2B6DF3"/>
              </a:buClr>
              <a:buFont typeface="Arial"/>
              <a:buChar char="•"/>
            </a:pPr>
            <a:r>
              <a:rPr sz="1900" b="0" i="0">
                <a:solidFill>
                  <a:srgbClr val="0D1117"/>
                </a:solidFill>
                <a:latin typeface="Arial"/>
              </a:rPr>
              <a:t>Environmental layers: heat, greenery, air quality</a:t>
            </a:r>
          </a:p>
          <a:p>
            <a:pPr algn="l" marL="292608" indent="-292608">
              <a:lnSpc>
                <a:spcPct val="105000"/>
              </a:lnSpc>
              <a:spcAft>
                <a:spcPts val="1200"/>
              </a:spcAft>
              <a:buClr>
                <a:srgbClr val="2B6DF3"/>
              </a:buClr>
              <a:buFont typeface="Arial"/>
              <a:buChar char="•"/>
            </a:pPr>
            <a:r>
              <a:rPr sz="1900" b="0" i="0">
                <a:solidFill>
                  <a:srgbClr val="0D1117"/>
                </a:solidFill>
                <a:latin typeface="Arial"/>
              </a:rPr>
              <a:t>Build the adaptive interface from the design study</a:t>
            </a:r>
          </a:p>
        </p:txBody>
      </p:sp>
      <p:sp>
        <p:nvSpPr>
          <p:cNvPr id="12" name="Exploring"/>
          <p:cNvSpPr/>
          <p:nvPr/>
        </p:nvSpPr>
        <p:spPr>
          <a:xfrm>
            <a:off x="12134088" y="2423160"/>
            <a:ext cx="5239512" cy="576072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2454128" y="2715768"/>
            <a:ext cx="310896" cy="310896"/>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11328" y="2633472"/>
            <a:ext cx="4114800" cy="457200"/>
          </a:xfrm>
          <a:prstGeom prst="rect">
            <a:avLst/>
          </a:prstGeom>
          <a:noFill/>
        </p:spPr>
        <p:txBody>
          <a:bodyPr wrap="square" lIns="0" rIns="0" tIns="0" bIns="0" anchor="t">
            <a:spAutoFit/>
          </a:bodyPr>
          <a:lstStyle/>
          <a:p>
            <a:pPr algn="l"/>
            <a:r>
              <a:rPr sz="2400" b="1" i="0">
                <a:solidFill>
                  <a:srgbClr val="0D1117"/>
                </a:solidFill>
                <a:latin typeface="Arial"/>
              </a:rPr>
              <a:t>Exploring</a:t>
            </a:r>
          </a:p>
        </p:txBody>
      </p:sp>
      <p:sp>
        <p:nvSpPr>
          <p:cNvPr id="15" name="TextBox 14"/>
          <p:cNvSpPr txBox="1"/>
          <p:nvPr/>
        </p:nvSpPr>
        <p:spPr>
          <a:xfrm>
            <a:off x="12454128" y="3429000"/>
            <a:ext cx="4617720" cy="4572000"/>
          </a:xfrm>
          <a:prstGeom prst="rect">
            <a:avLst/>
          </a:prstGeom>
          <a:noFill/>
        </p:spPr>
        <p:txBody>
          <a:bodyPr wrap="square" lIns="0" rIns="0" tIns="0" bIns="0" anchor="t">
            <a:spAutoFit/>
          </a:bodyPr>
          <a:lstStyle/>
          <a:p>
            <a:pPr algn="l" marL="292608" indent="-292608">
              <a:lnSpc>
                <a:spcPct val="105000"/>
              </a:lnSpc>
              <a:spcAft>
                <a:spcPts val="1200"/>
              </a:spcAft>
              <a:buClr>
                <a:srgbClr val="7C5CFF"/>
              </a:buClr>
              <a:buFont typeface="Arial"/>
              <a:buChar char="•"/>
            </a:pPr>
            <a:r>
              <a:rPr sz="1900" b="0" i="0">
                <a:solidFill>
                  <a:srgbClr val="0D1117"/>
                </a:solidFill>
                <a:latin typeface="Arial"/>
              </a:rPr>
              <a:t>Regulations as constraints, e.g. Abu Dhabi F&amp;B zoning, buffers and parking ratios</a:t>
            </a:r>
          </a:p>
          <a:p>
            <a:pPr algn="l" marL="292608" indent="-292608">
              <a:lnSpc>
                <a:spcPct val="105000"/>
              </a:lnSpc>
              <a:spcAft>
                <a:spcPts val="1200"/>
              </a:spcAft>
              <a:buClr>
                <a:srgbClr val="7C5CFF"/>
              </a:buClr>
              <a:buFont typeface="Arial"/>
              <a:buChar char="•"/>
            </a:pPr>
            <a:r>
              <a:rPr sz="1900" b="0" i="0">
                <a:solidFill>
                  <a:srgbClr val="0D1117"/>
                </a:solidFill>
                <a:latin typeface="Arial"/>
              </a:rPr>
              <a:t>More cities (Dubai) and user-supplied data</a:t>
            </a:r>
          </a:p>
          <a:p>
            <a:pPr algn="l" marL="292608" indent="-292608">
              <a:lnSpc>
                <a:spcPct val="105000"/>
              </a:lnSpc>
              <a:spcAft>
                <a:spcPts val="1200"/>
              </a:spcAft>
              <a:buClr>
                <a:srgbClr val="7C5CFF"/>
              </a:buClr>
              <a:buFont typeface="Arial"/>
              <a:buChar char="•"/>
            </a:pPr>
            <a:r>
              <a:rPr sz="1900" b="0" i="0">
                <a:solidFill>
                  <a:srgbClr val="0D1117"/>
                </a:solidFill>
                <a:latin typeface="Arial"/>
              </a:rPr>
              <a:t>Saved analyses and exportable reports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rPr sz="1800" b="0" i="0">
                <a:solidFill>
                  <a:srgbClr val="9AA4B5"/>
                </a:solidFill>
                <a:latin typeface="Arial"/>
              </a:rPr>
              <a:t>Live demo</a:t>
            </a:r>
          </a:p>
        </p:txBody>
      </p:sp>
      <p:sp>
        <p:nvSpPr>
          <p:cNvPr id="3" name="Text Placeholder 2"/>
          <p:cNvSpPr>
            <a:spLocks noGrp="1"/>
          </p:cNvSpPr>
          <p:nvPr>
            <p:ph type="body" idx="1"/>
          </p:nvPr>
        </p:nvSpPr>
        <p:spPr/>
        <p:txBody>
          <a:bodyPr wrap="square"/>
          <a:lstStyle/>
          <a:p>
            <a:pPr marL="0" indent="0">
              <a:buNone/>
            </a:pPr>
            <a:r>
              <a:rPr sz="4800" b="0" i="0">
                <a:solidFill>
                  <a:srgbClr val="FFFFFF"/>
                </a:solidFill>
                <a:latin typeface="Arial"/>
              </a:rPr>
              <a:t>Abu Dhabi and Boston, running live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Contact</a:t>
            </a:r>
          </a:p>
        </p:txBody>
      </p:sp>
      <p:sp>
        <p:nvSpPr>
          <p:cNvPr id="3" name="Text Placeholder 2"/>
          <p:cNvSpPr>
            <a:spLocks noGrp="1"/>
          </p:cNvSpPr>
          <p:nvPr>
            <p:ph type="body" idx="1"/>
          </p:nvPr>
        </p:nvSpPr>
        <p:spPr/>
        <p:txBody>
          <a:bodyPr/>
          <a:lstStyle/>
          <a:p>
            <a:pPr marL="0" indent="0">
              <a:buNone/>
            </a:pPr>
            <a:r>
              <a:rPr b="1"/>
              <a:t>Miho Koda</a:t>
            </a:r>
          </a:p>
          <a:p>
            <a:pPr marL="0" indent="0">
              <a:buNone/>
            </a:pPr>
            <a:r>
              <a:rPr b="0"/>
              <a:t>mihok485@mit.edu</a:t>
            </a:r>
          </a:p>
          <a:p>
            <a:pPr marL="0" indent="0">
              <a:buNone/>
            </a:pPr>
            <a:r>
              <a:rPr b="0"/>
              <a:t/>
            </a:r>
          </a:p>
          <a:p>
            <a:pPr marL="0" indent="0">
              <a:buNone/>
            </a:pPr>
            <a:r>
              <a:rPr b="1"/>
              <a:t>Stefano Patiti</a:t>
            </a:r>
          </a:p>
          <a:p>
            <a:pPr marL="0" indent="0">
              <a:buNone/>
            </a:pPr>
            <a:r>
              <a:rPr b="0"/>
              <a:t>spatiti@mit.edu</a:t>
            </a:r>
          </a:p>
        </p:txBody>
      </p:sp>
      <p:sp>
        <p:nvSpPr>
          <p:cNvPr id="4" name="Text Placeholder 3"/>
          <p:cNvSpPr>
            <a:spLocks noGrp="1"/>
          </p:cNvSpPr>
          <p:nvPr>
            <p:ph type="body" idx="2"/>
          </p:nvPr>
        </p:nvSpPr>
        <p:spPr/>
        <p:txBody>
          <a:bodyPr/>
          <a:lstStyle/>
          <a:p>
            <a:pPr marL="0" indent="0">
              <a:buNone/>
            </a:pPr>
            <a:r>
              <a:rPr b="1"/>
              <a:t>Dara Varam</a:t>
            </a:r>
          </a:p>
          <a:p>
            <a:pPr marL="0" indent="0">
              <a:buNone/>
            </a:pPr>
            <a:r>
              <a:rPr b="0"/>
              <a:t>varam@mit.edu</a:t>
            </a:r>
          </a:p>
        </p:txBody>
      </p:sp>
      <p:sp>
        <p:nvSpPr>
          <p:cNvPr id="5" name="Text Placeholder 4"/>
          <p:cNvSpPr>
            <a:spLocks noGrp="1"/>
          </p:cNvSpPr>
          <p:nvPr>
            <p:ph type="body" idx="3"/>
          </p:nvPr>
        </p:nvSpPr>
        <p:spPr/>
        <p:txBody>
          <a:bodyPr/>
          <a:lstStyle/>
          <a:p>
            <a:pPr marL="0" indent="0">
              <a:buNone/>
            </a:pPr>
            <a:r>
              <a:rPr b="1"/>
              <a:t>Instagram</a:t>
            </a:r>
          </a:p>
          <a:p>
            <a:pPr marL="0" indent="0">
              <a:buNone/>
            </a:pPr>
            <a:r>
              <a:rPr b="0"/>
              <a:t>@senseable City Lab</a:t>
            </a:r>
          </a:p>
          <a:p>
            <a:pPr marL="0" indent="0">
              <a:buNone/>
            </a:pPr>
            <a:r>
              <a:rPr b="0"/>
              <a:t/>
            </a:r>
          </a:p>
          <a:p>
            <a:pPr marL="0" indent="0">
              <a:buNone/>
            </a:pPr>
            <a:r>
              <a:rPr b="1"/>
              <a:t>X</a:t>
            </a:r>
          </a:p>
          <a:p>
            <a:pPr marL="0" indent="0">
              <a:buNone/>
            </a:pPr>
            <a:r>
              <a:rPr b="0"/>
              <a:t>@SenseableCity</a:t>
            </a:r>
          </a:p>
        </p:txBody>
      </p:sp>
      <p:sp>
        <p:nvSpPr>
          <p:cNvPr id="6" name="Text Placeholder 5"/>
          <p:cNvSpPr>
            <a:spLocks noGrp="1"/>
          </p:cNvSpPr>
          <p:nvPr>
            <p:ph type="body" idx="4"/>
          </p:nvPr>
        </p:nvSpPr>
        <p:spPr/>
        <p:txBody>
          <a:bodyPr/>
          <a:lstStyle/>
          <a:p>
            <a:pPr marL="0" indent="0">
              <a:buNone/>
            </a:pPr>
            <a:r>
              <a:rPr b="1"/>
              <a:t>MIT Senseable City Lab</a:t>
            </a:r>
          </a:p>
          <a:p>
            <a:pPr marL="0" indent="0">
              <a:buNone/>
            </a:pPr>
            <a:r>
              <a:rPr b="0"/>
              <a:t>77 Massachusetts Avenue</a:t>
            </a:r>
          </a:p>
          <a:p>
            <a:pPr marL="0" indent="0">
              <a:buNone/>
            </a:pPr>
            <a:r>
              <a:rPr b="0"/>
              <a:t>Cambridge, MA</a:t>
            </a:r>
          </a:p>
          <a:p>
            <a:pPr marL="0" indent="0">
              <a:buNone/>
            </a:pPr>
            <a:r>
              <a:rPr b="0"/>
              <a:t>02139 USA</a:t>
            </a:r>
          </a:p>
          <a:p>
            <a:pPr marL="0" indent="0">
              <a:buNone/>
            </a:pPr>
            <a:r>
              <a:rPr b="0"/>
              <a:t>1-617-324-4474</a:t>
            </a:r>
          </a:p>
          <a:p>
            <a:pPr marL="0" indent="0">
              <a:buNone/>
            </a:pPr>
            <a:r>
              <a:rPr b="0"/>
              <a:t>1-617-258-8081</a:t>
            </a:r>
          </a:p>
          <a:p>
            <a:pPr marL="0" indent="0">
              <a:buNone/>
            </a:pPr>
            <a:r>
              <a:rPr b="0"/>
              <a:t>https://senseable.mit.edu/</a:t>
            </a:r>
          </a:p>
        </p:txBody>
      </p:sp>
    </p:spTree>
  </p:cSld>
  <p:clrMapOvr>
    <a:masterClrMapping/>
  </p:clrMapOvr>
</p:sld>
</file>

<file path=ppt/theme/theme1.xml><?xml version="1.0" encoding="utf-8"?>
<a:theme xmlns:a="http://schemas.openxmlformats.org/drawingml/2006/main" name="SC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583</TotalTime>
  <Words>2036</Words>
  <Application>Microsoft Office PowerPoint</Application>
  <PresentationFormat>Custom</PresentationFormat>
  <Paragraphs>225</Paragraphs>
  <Slides>31</Slides>
  <Notes>24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31</vt:i4>
      </vt:variant>
    </vt:vector>
  </HeadingPairs>
  <TitlesOfParts>
    <vt:vector size="37" baseType="lpstr">
      <vt:lpstr>Instrument Sans</vt:lpstr>
      <vt:lpstr>Arial</vt:lpstr>
      <vt:lpstr>Instrument Sans SemiBold</vt:lpstr>
      <vt:lpstr>Instrument Sans Medium</vt:lpstr>
      <vt:lpstr>SCL</vt:lpstr>
      <vt:lpstr>Simple Dark</vt:lpstr>
      <vt:lpstr>LocationReasoner</vt:lpstr>
      <vt:lpstr>PowerPoint Presentation</vt:lpstr>
      <vt:lpstr>Spectrum of Interpretability</vt:lpstr>
      <vt:lpstr>PowerPoint Presentation</vt:lpstr>
      <vt:lpstr>PowerPoint Presentation</vt:lpstr>
      <vt:lpstr>Prompt: I am an urban designer that cares for areas with greenery. Find me zones within 800 meters of a mall, with at least 2 pharmacies.</vt:lpstr>
      <vt:lpstr>Prompt: Find zones with at least 5 malls within 200 meters, at least 5 parks, and no coffee shops. (This gives us no exact matches)</vt:lpstr>
      <vt:lpstr>PowerPoint Presentation</vt:lpstr>
      <vt:lpstr>PowerPoint Presentation</vt:lpstr>
      <vt:lpstr>Abu Dhabi F&amp;B Regulatory Matrix (As an example) </vt:lpstr>
      <vt:lpstr>Who can use Location Reasoner ?</vt:lpstr>
      <vt:lpstr>What can Location Reasoner reason about ?</vt:lpstr>
      <vt:lpstr>Conceptual map</vt:lpstr>
      <vt:lpstr>Form one user journey to an adaptive experience </vt:lpstr>
      <vt:lpstr>Same system, two experiences</vt:lpstr>
      <vt:lpstr>Adaptive onboarding </vt:lpstr>
      <vt:lpstr>Adaptive onboarding </vt:lpstr>
      <vt:lpstr>Urban professional: Analytical experience</vt:lpstr>
      <vt:lpstr>Urban professional: Analytical experience</vt:lpstr>
      <vt:lpstr>PowerPoint Presentation</vt:lpstr>
      <vt:lpstr>PowerPoint Presentation</vt:lpstr>
      <vt:lpstr>PowerPoint Presentation</vt:lpstr>
      <vt:lpstr>PowerPoint Presentation</vt:lpstr>
      <vt:lpstr>Urban professional: Analytical experience</vt:lpstr>
      <vt:lpstr>Urban professional: Analytical experience</vt:lpstr>
      <vt:lpstr>Urban professional: Analytical experience</vt:lpstr>
      <vt:lpstr>Urban professional: Analytical experience</vt:lpstr>
      <vt:lpstr>Urban professional: Analytical experience</vt:lpstr>
      <vt:lpstr>Urban professional: Analytical experience</vt:lpstr>
      <vt:lpstr>Urban professional: Analytical experience</vt:lpstr>
      <vt:lpstr>Contact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Dara Varam</cp:lastModifiedBy>
  <cp:revision>46</cp:revision>
  <dcterms:modified xsi:type="dcterms:W3CDTF">2026-09-02T12:12:48Z</dcterms:modified>
  <dc:title>LocationReasoner — Stakeholder Update</dc:title>
  <dc:creator>Dara Varam</dc:creator>
</cp:coreProperties>
</file>